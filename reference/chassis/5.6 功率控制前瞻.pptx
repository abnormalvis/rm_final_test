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648" r:id="rId1"/>
  </p:sldMasterIdLst>
  <p:notesMasterIdLst>
    <p:notesMasterId r:id="rId12"/>
  </p:notesMasterIdLst>
  <p:handoutMasterIdLst>
    <p:handoutMasterId r:id="rId13"/>
  </p:handoutMasterIdLst>
  <p:sldIdLst>
    <p:sldId id="256" r:id="rId2"/>
    <p:sldId id="372" r:id="rId3"/>
    <p:sldId id="380" r:id="rId4"/>
    <p:sldId id="373" r:id="rId5"/>
    <p:sldId id="374" r:id="rId6"/>
    <p:sldId id="375" r:id="rId7"/>
    <p:sldId id="376" r:id="rId8"/>
    <p:sldId id="377" r:id="rId9"/>
    <p:sldId id="379" r:id="rId10"/>
    <p:sldId id="260" r:id="rId11"/>
  </p:sldIdLst>
  <p:sldSz cx="12192000" cy="6858000"/>
  <p:notesSz cx="6858000" cy="9144000"/>
  <p:custDataLst>
    <p:tags r:id="rId14"/>
  </p:custDataLst>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12E"/>
    <a:srgbClr val="444E56"/>
    <a:srgbClr val="117186"/>
    <a:srgbClr val="004C75"/>
    <a:srgbClr val="808080"/>
    <a:srgbClr val="4590B8"/>
    <a:srgbClr val="4876CD"/>
    <a:srgbClr val="99FF66"/>
    <a:srgbClr val="99CC00"/>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8" autoAdjust="0"/>
    <p:restoredTop sz="95244" autoAdjust="0"/>
  </p:normalViewPr>
  <p:slideViewPr>
    <p:cSldViewPr snapToGrid="0">
      <p:cViewPr varScale="1">
        <p:scale>
          <a:sx n="105" d="100"/>
          <a:sy n="105" d="100"/>
        </p:scale>
        <p:origin x="60" y="124"/>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099690-A1B4-4631-A843-BC33AAFEB53A}" type="datetimeFigureOut">
              <a:rPr lang="zh-CN" altLang="en-US" smtClean="0">
                <a:latin typeface="Microsoft YaHei UI" panose="020B0503020204020204" pitchFamily="34" charset="-122"/>
                <a:ea typeface="Microsoft YaHei UI" panose="020B0503020204020204" pitchFamily="34" charset="-122"/>
              </a:rPr>
              <a:t>2025/1/25</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C93706-78A1-4E82-BB60-80A7D602F484}" type="slidenum">
              <a:rPr lang="zh-CN" altLang="en-US"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5CBC27D5-E943-4688-A3E4-00C0F3344C8A}" type="datetimeFigureOut">
              <a:rPr lang="zh-CN" altLang="en-US" smtClean="0"/>
              <a:t>2025/1/25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39B6F5C-370E-43A9-8FB2-7FE12A59E2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0216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503374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61775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562940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85910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6115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533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89882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10</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446534" y="4264429"/>
            <a:ext cx="11262866" cy="2126136"/>
          </a:xfrm>
          <a:prstGeom prst="rect">
            <a:avLst/>
          </a:prstGeom>
          <a:solidFill>
            <a:srgbClr val="1A326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dirty="0"/>
          </a:p>
        </p:txBody>
      </p:sp>
      <p:sp>
        <p:nvSpPr>
          <p:cNvPr id="2" name="标题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latin typeface="Microsoft YaHei UI" panose="020B0503020204020204" pitchFamily="34" charset="-122"/>
                <a:ea typeface="Microsoft YaHei UI" panose="020B0503020204020204" pitchFamily="34" charset="-122"/>
              </a:defRPr>
            </a:lvl1pPr>
          </a:lstStyle>
          <a:p>
            <a:pPr rtl="0"/>
            <a:r>
              <a:rPr lang="zh-CN" altLang="en-US"/>
              <a:t>单击此处编辑母版标题样式</a:t>
            </a:r>
            <a:endParaRPr lang="en-US" dirty="0"/>
          </a:p>
        </p:txBody>
      </p:sp>
      <p:sp>
        <p:nvSpPr>
          <p:cNvPr id="3" name="副标题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a:t>单击此处编辑母版副标题样式</a:t>
            </a:r>
            <a:endParaRPr lang="en-US" dirty="0"/>
          </a:p>
        </p:txBody>
      </p:sp>
      <p:sp>
        <p:nvSpPr>
          <p:cNvPr id="4" name="日期占位符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fld id="{3E7F0539-EDB5-495D-89F2-C833D4240245}" type="datetime1">
              <a:rPr lang="zh-CN" altLang="en-US" smtClean="0"/>
              <a:t>2025/1/25</a:t>
            </a:fld>
            <a:endParaRPr lang="en-US" dirty="0"/>
          </a:p>
        </p:txBody>
      </p:sp>
      <p:sp>
        <p:nvSpPr>
          <p:cNvPr id="5" name="页脚占位符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a:spLocks noChangeAspect="1"/>
          </p:cNvSpPr>
          <p:nvPr/>
        </p:nvSpPr>
        <p:spPr>
          <a:xfrm>
            <a:off x="440286" y="49802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85776"/>
            <a:ext cx="11029616" cy="1013800"/>
          </a:xfrm>
        </p:spPr>
        <p:txBody>
          <a:bodyPr rtlCol="0"/>
          <a:lstStyle/>
          <a:p>
            <a:pPr rtl="0"/>
            <a:r>
              <a:rPr lang="zh-CN" altLang="en-US"/>
              <a:t>单击此处编辑母版标题样式</a:t>
            </a:r>
            <a:endParaRPr lang="en-US" dirty="0"/>
          </a:p>
        </p:txBody>
      </p:sp>
      <p:sp>
        <p:nvSpPr>
          <p:cNvPr id="3" name="内容占位符 2"/>
          <p:cNvSpPr>
            <a:spLocks noGrp="1"/>
          </p:cNvSpPr>
          <p:nvPr>
            <p:ph idx="1"/>
          </p:nvPr>
        </p:nvSpPr>
        <p:spPr>
          <a:xfrm>
            <a:off x="581192" y="2180496"/>
            <a:ext cx="11029615" cy="3678303"/>
          </a:xfrm>
        </p:spPr>
        <p:txBody>
          <a:bodyPr rtlCol="0"/>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DB8ABD03-1D09-4FDF-B7F3-BC40D9AA2B4B}" type="datetime1">
              <a:rPr lang="zh-CN" altLang="en-US" smtClean="0"/>
              <a:t>2025/1/25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幻灯片编号占位符 5"/>
          <p:cNvSpPr>
            <a:spLocks noGrp="1"/>
          </p:cNvSpPr>
          <p:nvPr>
            <p:ph type="sldNum" sz="quarter" idx="12"/>
          </p:nvPr>
        </p:nvSpPr>
        <p:spPr>
          <a:xfrm>
            <a:off x="10558300" y="5956137"/>
            <a:ext cx="1052508" cy="365125"/>
          </a:xfrm>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29575" y="794463"/>
            <a:ext cx="3592168" cy="6261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zh-CN" altLang="en-US"/>
              <a:t>单击此处编辑母版标题样式</a:t>
            </a:r>
            <a:endParaRPr lang="en-US" dirty="0"/>
          </a:p>
        </p:txBody>
      </p:sp>
      <p:sp>
        <p:nvSpPr>
          <p:cNvPr id="3" name="文本占位符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a:t>单击此处编辑母版文本样式</a:t>
            </a:r>
          </a:p>
        </p:txBody>
      </p:sp>
      <p:sp>
        <p:nvSpPr>
          <p:cNvPr id="4" name="日期占位符 3"/>
          <p:cNvSpPr>
            <a:spLocks noGrp="1"/>
          </p:cNvSpPr>
          <p:nvPr>
            <p:ph type="dt" sz="half" idx="10"/>
          </p:nvPr>
        </p:nvSpPr>
        <p:spPr/>
        <p:txBody>
          <a:bodyPr rtlCol="0"/>
          <a:lstStyle>
            <a:lvl1pPr>
              <a:defRPr>
                <a:solidFill>
                  <a:schemeClr val="accent1">
                    <a:lumMod val="75000"/>
                    <a:lumOff val="25000"/>
                  </a:schemeClr>
                </a:solidFill>
              </a:defRPr>
            </a:lvl1pPr>
          </a:lstStyle>
          <a:p>
            <a:pPr rtl="0"/>
            <a:fld id="{C946AA11-7391-430C-8DDA-B49E90C09240}" type="datetime1">
              <a:rPr lang="zh-CN" altLang="en-US" smtClean="0"/>
              <a:t>2025/1/25</a:t>
            </a:fld>
            <a:endParaRPr lang="en-US" dirty="0"/>
          </a:p>
        </p:txBody>
      </p:sp>
      <p:sp>
        <p:nvSpPr>
          <p:cNvPr id="5" name="页脚占位符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a:spLocks noChangeAspect="1"/>
          </p:cNvSpPr>
          <p:nvPr/>
        </p:nvSpPr>
        <p:spPr>
          <a:xfrm>
            <a:off x="445982" y="606554"/>
            <a:ext cx="11300036" cy="88973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606554"/>
            <a:ext cx="11029616" cy="878681"/>
          </a:xfrm>
        </p:spPr>
        <p:txBody>
          <a:bodyPr rtlCol="0"/>
          <a:lstStyle/>
          <a:p>
            <a:pPr rtl="0"/>
            <a:r>
              <a:rPr lang="zh-CN" altLang="en-US" dirty="0"/>
              <a:t>单击此处编辑母版标题样式</a:t>
            </a:r>
            <a:endParaRPr lang="en-US" dirty="0"/>
          </a:p>
        </p:txBody>
      </p:sp>
      <p:sp>
        <p:nvSpPr>
          <p:cNvPr id="3" name="内容占位符 2"/>
          <p:cNvSpPr>
            <a:spLocks noGrp="1"/>
          </p:cNvSpPr>
          <p:nvPr>
            <p:ph sz="half" idx="1"/>
          </p:nvPr>
        </p:nvSpPr>
        <p:spPr>
          <a:xfrm>
            <a:off x="581193" y="2228003"/>
            <a:ext cx="5422390"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内容占位符 3"/>
          <p:cNvSpPr>
            <a:spLocks noGrp="1"/>
          </p:cNvSpPr>
          <p:nvPr>
            <p:ph sz="half" idx="2"/>
          </p:nvPr>
        </p:nvSpPr>
        <p:spPr>
          <a:xfrm>
            <a:off x="6188417" y="2228003"/>
            <a:ext cx="5422392"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日期占位符 4"/>
          <p:cNvSpPr>
            <a:spLocks noGrp="1"/>
          </p:cNvSpPr>
          <p:nvPr>
            <p:ph type="dt" sz="half" idx="10"/>
          </p:nvPr>
        </p:nvSpPr>
        <p:spPr/>
        <p:txBody>
          <a:bodyPr rtlCol="0"/>
          <a:lstStyle/>
          <a:p>
            <a:pPr rtl="0"/>
            <a:fld id="{44B4526D-7BDC-448E-8C9D-BB317B965AC2}" type="datetime1">
              <a:rPr lang="zh-CN" altLang="en-US" smtClean="0"/>
              <a:t>2025/1/25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86246" y="717139"/>
            <a:ext cx="3592168" cy="626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长方形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标题 1"/>
          <p:cNvSpPr>
            <a:spLocks noGrp="1"/>
          </p:cNvSpPr>
          <p:nvPr>
            <p:ph type="title"/>
          </p:nvPr>
        </p:nvSpPr>
        <p:spPr>
          <a:xfrm>
            <a:off x="581193" y="729658"/>
            <a:ext cx="11029616" cy="988332"/>
          </a:xfrm>
        </p:spPr>
        <p:txBody>
          <a:bodyPr rtlCol="0"/>
          <a:lstStyle/>
          <a:p>
            <a:pPr rtl="0"/>
            <a:r>
              <a:rPr lang="zh-CN" altLang="en-US"/>
              <a:t>单击此处编辑母版标题样式</a:t>
            </a:r>
            <a:endParaRPr lang="en-US" dirty="0"/>
          </a:p>
        </p:txBody>
      </p:sp>
      <p:sp>
        <p:nvSpPr>
          <p:cNvPr id="3" name="文本占位符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4" name="内容占位符 3"/>
          <p:cNvSpPr>
            <a:spLocks noGrp="1"/>
          </p:cNvSpPr>
          <p:nvPr>
            <p:ph sz="half" idx="2"/>
          </p:nvPr>
        </p:nvSpPr>
        <p:spPr>
          <a:xfrm>
            <a:off x="581194"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文本占位符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6" name="内容占位符 5"/>
          <p:cNvSpPr>
            <a:spLocks noGrp="1"/>
          </p:cNvSpPr>
          <p:nvPr>
            <p:ph sz="quarter" idx="4"/>
          </p:nvPr>
        </p:nvSpPr>
        <p:spPr>
          <a:xfrm>
            <a:off x="6217709"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F20E3E17-F14F-4B33-BB9A-F35E533AB708}" type="datetime1">
              <a:rPr lang="zh-CN" altLang="en-US" smtClean="0"/>
              <a:t>2025/1/25</a:t>
            </a:fld>
            <a:endParaRPr lang="en-US" dirty="0"/>
          </a:p>
        </p:txBody>
      </p:sp>
      <p:sp>
        <p:nvSpPr>
          <p:cNvPr id="8" name="页脚占位符 7"/>
          <p:cNvSpPr>
            <a:spLocks noGrp="1"/>
          </p:cNvSpPr>
          <p:nvPr>
            <p:ph type="ftr" sz="quarter" idx="11"/>
          </p:nvPr>
        </p:nvSpPr>
        <p:spPr/>
        <p:txBody>
          <a:bodyPr rtlCol="0"/>
          <a:lstStyle/>
          <a:p>
            <a:pPr rtl="0"/>
            <a:endParaRPr lang="zh-CN" altLang="en-US" noProof="0" dirty="0"/>
          </a:p>
        </p:txBody>
      </p:sp>
      <p:sp>
        <p:nvSpPr>
          <p:cNvPr id="9" name="灯片编号占位符 8"/>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5" name="图片 14"/>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rtlCol="0"/>
          <a:lstStyle/>
          <a:p>
            <a:pPr rtl="0"/>
            <a:fld id="{DEF29E20-40CA-4076-A63E-629668579597}" type="datetime1">
              <a:rPr lang="zh-CN" altLang="en-US" smtClean="0"/>
              <a:t>2025/1/25</a:t>
            </a:fld>
            <a:endParaRPr 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p>
            <a:pPr rtl="0"/>
            <a:fld id="{D57F1E4F-1CFF-5643-939E-217C01CDF565}" type="slidenum">
              <a:rPr lang="en-US" smtClean="0"/>
              <a:t>‹#›</a:t>
            </a:fld>
            <a:endParaRPr lang="en-US" dirty="0"/>
          </a:p>
        </p:txBody>
      </p:sp>
      <p:sp>
        <p:nvSpPr>
          <p:cNvPr id="7" name="长方形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标题 1"/>
          <p:cNvSpPr>
            <a:spLocks noGrp="1"/>
          </p:cNvSpPr>
          <p:nvPr>
            <p:ph type="title"/>
          </p:nvPr>
        </p:nvSpPr>
        <p:spPr>
          <a:xfrm>
            <a:off x="575894" y="729658"/>
            <a:ext cx="11029616" cy="988332"/>
          </a:xfrm>
        </p:spPr>
        <p:txBody>
          <a:bodyPr rtlCol="0"/>
          <a:lstStyle/>
          <a:p>
            <a:pPr rtl="0"/>
            <a:r>
              <a:rPr lang="zh-CN" altLang="en-US"/>
              <a:t>单击此处编辑母版标题样式</a:t>
            </a:r>
            <a:endParaRPr lang="en-US" dirty="0"/>
          </a:p>
        </p:txBody>
      </p:sp>
      <p:pic>
        <p:nvPicPr>
          <p:cNvPr id="14" name="图片 13"/>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681666FA-6BE5-48DD-9D44-2221F5CF0654}" type="datetime1">
              <a:rPr lang="zh-CN" altLang="en-US" smtClean="0"/>
              <a:t>2025/1/25</a:t>
            </a:fld>
            <a:endParaRPr 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sp>
        <p:nvSpPr>
          <p:cNvPr id="9" name="矩形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zh-CN" altLang="en-US"/>
              <a:t>单击此处编辑母版标题样式</a:t>
            </a:r>
            <a:endParaRPr lang="en-US" dirty="0"/>
          </a:p>
        </p:txBody>
      </p:sp>
      <p:sp>
        <p:nvSpPr>
          <p:cNvPr id="3" name="内容占位符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文本占位符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lvl1pPr>
              <a:defRPr>
                <a:solidFill>
                  <a:schemeClr val="accent1">
                    <a:lumMod val="75000"/>
                    <a:lumOff val="25000"/>
                  </a:schemeClr>
                </a:solidFill>
              </a:defRPr>
            </a:lvl1pPr>
          </a:lstStyle>
          <a:p>
            <a:pPr rtl="0"/>
            <a:fld id="{A88D6F37-DAF3-4711-B0CF-E517C0EBEE12}" type="datetime1">
              <a:rPr lang="zh-CN" altLang="en-US" smtClean="0"/>
              <a:t>2025/1/25</a:t>
            </a:fld>
            <a:endParaRPr lang="en-US" dirty="0"/>
          </a:p>
        </p:txBody>
      </p:sp>
      <p:sp>
        <p:nvSpPr>
          <p:cNvPr id="6" name="页脚占位符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sp>
        <p:nvSpPr>
          <p:cNvPr id="2" name="标题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zh-CN" altLang="en-US"/>
              <a:t>单击此处编辑母版标题样式</a:t>
            </a:r>
            <a:endParaRPr lang="en-US" dirty="0"/>
          </a:p>
        </p:txBody>
      </p:sp>
      <p:sp>
        <p:nvSpPr>
          <p:cNvPr id="3" name="图片占位符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a:t>单击图标添加图片</a:t>
            </a:r>
            <a:endParaRPr lang="en-US"/>
          </a:p>
        </p:txBody>
      </p:sp>
      <p:sp>
        <p:nvSpPr>
          <p:cNvPr id="4" name="文本占位符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p>
            <a:pPr rtl="0"/>
            <a:fld id="{EAEF714D-CDEC-4A62-B928-1473E0C461ED}" type="datetime1">
              <a:rPr lang="zh-CN" altLang="en-US" smtClean="0"/>
              <a:t>2025/1/25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8" name="矩形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标题 1"/>
          <p:cNvSpPr>
            <a:spLocks noGrp="1"/>
          </p:cNvSpPr>
          <p:nvPr>
            <p:ph type="title"/>
          </p:nvPr>
        </p:nvSpPr>
        <p:spPr>
          <a:xfrm>
            <a:off x="581192" y="702156"/>
            <a:ext cx="11029616" cy="1013800"/>
          </a:xfrm>
        </p:spPr>
        <p:txBody>
          <a:bodyPr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ED9B87A8-1EAB-458E-AEB0-B95362887253}" type="datetime1">
              <a:rPr lang="zh-CN" altLang="en-US" smtClean="0"/>
              <a:t>2025/1/25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1" name="图片 10"/>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7" name="矩形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垂直标题 1"/>
          <p:cNvSpPr>
            <a:spLocks noGrp="1"/>
          </p:cNvSpPr>
          <p:nvPr>
            <p:ph type="title" orient="vert"/>
          </p:nvPr>
        </p:nvSpPr>
        <p:spPr>
          <a:xfrm>
            <a:off x="8839201" y="675726"/>
            <a:ext cx="2004164" cy="5183073"/>
          </a:xfrm>
        </p:spPr>
        <p:txBody>
          <a:bodyPr vert="eaVert"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a:xfrm>
            <a:off x="774923" y="675726"/>
            <a:ext cx="7896279" cy="5183073"/>
          </a:xfrm>
        </p:spPr>
        <p:txBody>
          <a:bodyPr vert="eaVert" rtlCol="0" anchor="t"/>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D6389FF3-696C-40BE-8139-C6DC043C8C6C}" type="datetime1">
              <a:rPr lang="zh-CN" altLang="en-US" smtClean="0"/>
              <a:t>2025/1/25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6" name="幻灯片编号占位符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垂直标题与文本">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10000" contrast="30000"/>
                    </a14:imgEffect>
                    <a14:imgEffect>
                      <a14:colorTemperature colorTemp="8800"/>
                    </a14:imgEffect>
                    <a14:imgEffect>
                      <a14:saturation sat="33000"/>
                    </a14:imgEffect>
                  </a14:imgLayer>
                </a14:imgProps>
              </a:ext>
            </a:extLst>
          </a:blip>
          <a:srcRect l="1" r="230"/>
          <a:stretch>
            <a:fillRect/>
          </a:stretch>
        </p:blipFill>
        <p:spPr>
          <a:xfrm>
            <a:off x="446533" y="734134"/>
            <a:ext cx="10050914" cy="5666666"/>
          </a:xfrm>
          <a:prstGeom prst="rect">
            <a:avLst/>
          </a:prstGeom>
          <a:noFill/>
        </p:spPr>
      </p:pic>
      <p:sp>
        <p:nvSpPr>
          <p:cNvPr id="7" name="矩形 6"/>
          <p:cNvSpPr>
            <a:spLocks noChangeAspect="1"/>
          </p:cNvSpPr>
          <p:nvPr/>
        </p:nvSpPr>
        <p:spPr>
          <a:xfrm>
            <a:off x="8838650" y="734133"/>
            <a:ext cx="2906817" cy="5679949"/>
          </a:xfrm>
          <a:prstGeom prst="rect">
            <a:avLst/>
          </a:prstGeom>
          <a:gradFill>
            <a:gsLst>
              <a:gs pos="50000">
                <a:srgbClr val="1A3260"/>
              </a:gs>
              <a:gs pos="0">
                <a:schemeClr val="accent1">
                  <a:alpha val="0"/>
                </a:schemeClr>
              </a:gs>
              <a:gs pos="100000">
                <a:schemeClr val="accent1"/>
              </a:gs>
            </a:gsLst>
            <a:lin ang="0" scaled="1"/>
          </a:gradFill>
          <a:ln>
            <a:noFill/>
          </a:ln>
          <a:effectLst/>
        </p:spPr>
        <p:style>
          <a:lnRef idx="1">
            <a:schemeClr val="accent1"/>
          </a:lnRef>
          <a:fillRef idx="3">
            <a:schemeClr val="accent1"/>
          </a:fillRef>
          <a:effectRef idx="2">
            <a:schemeClr val="accent1"/>
          </a:effectRef>
          <a:fontRef idx="minor">
            <a:schemeClr val="lt1"/>
          </a:fontRef>
        </p:style>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A964671-51AB-4679-97BB-A5767C65AB0C}" type="datetime1">
              <a:rPr lang="zh-CN" altLang="en-US" smtClean="0"/>
              <a:t>2025/1/25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9" name="标题 1"/>
          <p:cNvSpPr txBox="1"/>
          <p:nvPr userDrawn="1"/>
        </p:nvSpPr>
        <p:spPr>
          <a:xfrm>
            <a:off x="8353019" y="2416478"/>
            <a:ext cx="3081576" cy="935915"/>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sz="4800" dirty="0">
                <a:solidFill>
                  <a:srgbClr val="FFFFFF"/>
                </a:solidFill>
              </a:rPr>
              <a:t>感谢观看</a:t>
            </a:r>
            <a:endParaRPr lang="en-US" sz="4800" dirty="0">
              <a:solidFill>
                <a:srgbClr val="FFFFFF"/>
              </a:solidFill>
            </a:endParaRPr>
          </a:p>
        </p:txBody>
      </p:sp>
      <p:pic>
        <p:nvPicPr>
          <p:cNvPr id="10" name="图片 9"/>
          <p:cNvPicPr>
            <a:picLocks noChangeAspect="1"/>
          </p:cNvPicPr>
          <p:nvPr userDrawn="1"/>
        </p:nvPicPr>
        <p:blipFill>
          <a:blip r:embed="rId4"/>
          <a:stretch>
            <a:fillRect/>
          </a:stretch>
        </p:blipFill>
        <p:spPr>
          <a:xfrm>
            <a:off x="8097723" y="3695796"/>
            <a:ext cx="3592168" cy="62612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a:t>单击此处编辑母版标题样式</a:t>
            </a:r>
            <a:endParaRPr lang="en-US" dirty="0"/>
          </a:p>
        </p:txBody>
      </p:sp>
      <p:sp>
        <p:nvSpPr>
          <p:cNvPr id="3" name="文本占位符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a:t>编辑母版文本样式</a:t>
            </a:r>
          </a:p>
          <a:p>
            <a:pPr lvl="1" rtl="0"/>
            <a:r>
              <a:rPr lang="en-US"/>
              <a:t>第二级</a:t>
            </a:r>
          </a:p>
          <a:p>
            <a:pPr lvl="2" rtl="0"/>
            <a:r>
              <a:rPr lang="en-US"/>
              <a:t>第三级</a:t>
            </a:r>
          </a:p>
          <a:p>
            <a:pPr lvl="3" rtl="0"/>
            <a:r>
              <a:rPr lang="en-US"/>
              <a:t>第四级</a:t>
            </a:r>
          </a:p>
          <a:p>
            <a:pPr lvl="4" rtl="0"/>
            <a:r>
              <a:rPr lang="en-US"/>
              <a:t>第五级</a:t>
            </a:r>
            <a:endParaRPr lang="en-US" dirty="0"/>
          </a:p>
        </p:txBody>
      </p:sp>
      <p:sp>
        <p:nvSpPr>
          <p:cNvPr id="4" name="日期占位符 3"/>
          <p:cNvSpPr>
            <a:spLocks noGrp="1"/>
          </p:cNvSpPr>
          <p:nvPr>
            <p:ph type="dt" sz="half" idx="2"/>
          </p:nvPr>
        </p:nvSpPr>
        <p:spPr>
          <a:xfrm>
            <a:off x="7605951" y="6296959"/>
            <a:ext cx="2844799"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E6919CB4-F61F-4504-B693-1C4E320BF5D6}" type="datetime1">
              <a:rPr lang="zh-CN" altLang="en-US" smtClean="0"/>
              <a:t>2025/1/25</a:t>
            </a:fld>
            <a:endParaRPr lang="en-US" dirty="0"/>
          </a:p>
        </p:txBody>
      </p:sp>
      <p:sp>
        <p:nvSpPr>
          <p:cNvPr id="5" name="页脚占位符 4"/>
          <p:cNvSpPr>
            <a:spLocks noGrp="1"/>
          </p:cNvSpPr>
          <p:nvPr>
            <p:ph type="ftr" sz="quarter" idx="3"/>
          </p:nvPr>
        </p:nvSpPr>
        <p:spPr>
          <a:xfrm>
            <a:off x="581192" y="6292633"/>
            <a:ext cx="6917210" cy="365125"/>
          </a:xfrm>
          <a:prstGeom prst="rect">
            <a:avLst/>
          </a:prstGeom>
        </p:spPr>
        <p:txBody>
          <a:bodyPr vert="horz" lIns="91440" tIns="45720" rIns="91440" bIns="45720" rtlCol="0" anchor="ctr"/>
          <a:lstStyle>
            <a:lvl1pPr algn="l">
              <a:defRPr sz="900" cap="all">
                <a:solidFill>
                  <a:schemeClr val="accent2"/>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558300" y="6296959"/>
            <a:ext cx="1052510"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D57F1E4F-1CFF-5643-939E-217C01CDF565}" type="slidenum">
              <a:rPr lang="en-US" smtClean="0"/>
              <a:t>‹#›</a:t>
            </a:fld>
            <a:endParaRPr lang="en-US" dirty="0"/>
          </a:p>
        </p:txBody>
      </p:sp>
      <p:sp>
        <p:nvSpPr>
          <p:cNvPr id="9" name="矩形 8"/>
          <p:cNvSpPr/>
          <p:nvPr/>
        </p:nvSpPr>
        <p:spPr>
          <a:xfrm>
            <a:off x="446534" y="249384"/>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矩形 9"/>
          <p:cNvSpPr/>
          <p:nvPr/>
        </p:nvSpPr>
        <p:spPr>
          <a:xfrm>
            <a:off x="8042147" y="245827"/>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矩形 10"/>
          <p:cNvSpPr/>
          <p:nvPr/>
        </p:nvSpPr>
        <p:spPr>
          <a:xfrm>
            <a:off x="4241830" y="249384"/>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icrosoft YaHei UI" panose="020B0503020204020204" pitchFamily="34" charset="-122"/>
          <a:ea typeface="Microsoft YaHei UI"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icrosoft YaHei UI" panose="020B0503020204020204" pitchFamily="34" charset="-122"/>
          <a:ea typeface="Microsoft YaHei UI"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icrosoft YaHei UI" panose="020B0503020204020204" pitchFamily="34" charset="-122"/>
          <a:ea typeface="Microsoft YaHei UI" panose="020B0503020204020204" pitchFamily="34" charset="-122"/>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数字连接"/>
          <p:cNvPicPr>
            <a:picLocks noChangeAspect="1"/>
          </p:cNvPicPr>
          <p:nvPr/>
        </p:nvPicPr>
        <p:blipFill rotWithShape="1">
          <a:blip r:embed="rId3" cstate="screen"/>
          <a:srcRect l="13265" t="9091" r="3502" b="-1"/>
          <a:stretch>
            <a:fillRect/>
          </a:stretch>
        </p:blipFill>
        <p:spPr>
          <a:xfrm>
            <a:off x="20" y="10"/>
            <a:ext cx="12191980" cy="6857990"/>
          </a:xfrm>
          <a:prstGeom prst="rect">
            <a:avLst/>
          </a:prstGeom>
        </p:spPr>
      </p:pic>
      <p:sp>
        <p:nvSpPr>
          <p:cNvPr id="22" name="矩形 21"/>
          <p:cNvSpPr>
            <a:spLocks noGrp="1" noRot="1" noChangeAspect="1" noMove="1" noResize="1" noEditPoints="1" noAdjustHandles="1" noChangeArrowheads="1" noChangeShapeType="1" noTextEdit="1"/>
          </p:cNvSpPr>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标题 1"/>
          <p:cNvSpPr>
            <a:spLocks noGrp="1"/>
          </p:cNvSpPr>
          <p:nvPr>
            <p:ph type="ctrTitle"/>
          </p:nvPr>
        </p:nvSpPr>
        <p:spPr>
          <a:xfrm>
            <a:off x="482601" y="4461097"/>
            <a:ext cx="10993549" cy="1851026"/>
          </a:xfrm>
        </p:spPr>
        <p:txBody>
          <a:bodyPr rtlCol="0" anchor="t">
            <a:noAutofit/>
          </a:bodyPr>
          <a:lstStyle/>
          <a:p>
            <a:pPr rtl="0">
              <a:lnSpc>
                <a:spcPct val="120000"/>
              </a:lnSpc>
            </a:pPr>
            <a:r>
              <a:rPr lang="en-US" altLang="zh-CN" sz="6000" cap="none" dirty="0">
                <a:solidFill>
                  <a:schemeClr val="bg1"/>
                </a:solidFill>
                <a:latin typeface="Microsoft YaHei UI" panose="020B0503020204020204" pitchFamily="34" charset="-122"/>
                <a:ea typeface="Microsoft YaHei UI" panose="020B0503020204020204" pitchFamily="34" charset="-122"/>
              </a:rPr>
              <a:t>5.6 </a:t>
            </a:r>
            <a:r>
              <a:rPr lang="zh-CN" altLang="en-US" sz="6000" cap="none" dirty="0">
                <a:solidFill>
                  <a:schemeClr val="bg1"/>
                </a:solidFill>
                <a:latin typeface="Microsoft YaHei UI" panose="020B0503020204020204" pitchFamily="34" charset="-122"/>
                <a:ea typeface="Microsoft YaHei UI" panose="020B0503020204020204" pitchFamily="34" charset="-122"/>
              </a:rPr>
              <a:t>功率控制前瞻</a:t>
            </a:r>
          </a:p>
        </p:txBody>
      </p:sp>
      <p:pic>
        <p:nvPicPr>
          <p:cNvPr id="16" name="图片 15"/>
          <p:cNvPicPr>
            <a:picLocks noChangeAspect="1"/>
          </p:cNvPicPr>
          <p:nvPr/>
        </p:nvPicPr>
        <p:blipFill>
          <a:blip r:embed="rId4"/>
          <a:stretch>
            <a:fillRect/>
          </a:stretch>
        </p:blipFill>
        <p:spPr>
          <a:xfrm>
            <a:off x="6950679" y="300388"/>
            <a:ext cx="4974997" cy="867156"/>
          </a:xfrm>
          <a:prstGeom prst="rect">
            <a:avLst/>
          </a:prstGeom>
        </p:spPr>
      </p:pic>
      <p:sp>
        <p:nvSpPr>
          <p:cNvPr id="12" name="副标题 2"/>
          <p:cNvSpPr txBox="1"/>
          <p:nvPr/>
        </p:nvSpPr>
        <p:spPr>
          <a:xfrm>
            <a:off x="6950679" y="5592632"/>
            <a:ext cx="4642095" cy="635473"/>
          </a:xfrm>
          <a:prstGeom prst="rect">
            <a:avLst/>
          </a:prstGeom>
        </p:spPr>
        <p:txBody>
          <a:bodyPr vert="horz" lIns="91440" tIns="45720" rIns="91440" bIns="45720" rtlCol="0" anchor="t">
            <a:normAutofit fontScale="925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icrosoft YaHei UI" panose="020B0503020204020204" pitchFamily="34" charset="-122"/>
                <a:ea typeface="Microsoft YaHei UI" panose="020B0503020204020204" pitchFamily="34" charset="-122"/>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icrosoft YaHei UI" panose="020B0503020204020204" pitchFamily="34" charset="-122"/>
                <a:ea typeface="Microsoft YaHei UI" panose="020B0503020204020204" pitchFamily="34" charset="-122"/>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icrosoft YaHei UI" panose="020B0503020204020204" pitchFamily="34" charset="-122"/>
                <a:ea typeface="Microsoft YaHei UI" panose="020B0503020204020204" pitchFamily="34" charset="-122"/>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r"/>
            <a:r>
              <a:rPr lang="en-US" altLang="zh-CN" sz="3200" cap="none" dirty="0" err="1">
                <a:solidFill>
                  <a:schemeClr val="bg1"/>
                </a:solidFill>
              </a:rPr>
              <a:t>RoboWalker</a:t>
            </a:r>
            <a:r>
              <a:rPr lang="en-US" altLang="zh-CN" sz="3200" cap="none" dirty="0">
                <a:solidFill>
                  <a:schemeClr val="bg1"/>
                </a:solidFill>
              </a:rPr>
              <a:t> | </a:t>
            </a:r>
            <a:r>
              <a:rPr lang="en-US" altLang="zh-CN" sz="3200" cap="none" dirty="0" err="1">
                <a:solidFill>
                  <a:schemeClr val="bg1"/>
                </a:solidFill>
              </a:rPr>
              <a:t>Yssickjgd</a:t>
            </a:r>
            <a:endParaRPr lang="en-US" sz="4000" cap="none"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目录</a:t>
            </a:r>
          </a:p>
        </p:txBody>
      </p:sp>
      <p:sp>
        <p:nvSpPr>
          <p:cNvPr id="5" name="文本框 4"/>
          <p:cNvSpPr txBox="1"/>
          <p:nvPr/>
        </p:nvSpPr>
        <p:spPr>
          <a:xfrm>
            <a:off x="581192" y="1550046"/>
            <a:ext cx="11029616" cy="1966820"/>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为什么功率控制</a:t>
            </a:r>
            <a:endParaRPr lang="en-US" altLang="zh-CN" sz="24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限制功率的方法</a:t>
            </a:r>
            <a:endParaRPr lang="en-US" altLang="zh-CN" sz="24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重新审视线性系统与前馈</a:t>
            </a:r>
          </a:p>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功率控制算法的设计</a:t>
            </a:r>
            <a:endParaRPr lang="en-US" altLang="zh-CN" sz="24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582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a:t>
            </a:r>
            <a:r>
              <a:rPr lang="zh-CN" altLang="en-US" sz="4000" cap="none" dirty="0"/>
              <a:t> 为什么功率控制</a:t>
            </a:r>
          </a:p>
        </p:txBody>
      </p:sp>
      <p:sp>
        <p:nvSpPr>
          <p:cNvPr id="5" name="文本框 4"/>
          <p:cNvSpPr txBox="1"/>
          <p:nvPr/>
        </p:nvSpPr>
        <p:spPr>
          <a:xfrm>
            <a:off x="581192" y="1550046"/>
            <a:ext cx="11029614" cy="2622321"/>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比赛中，对底盘的功率有限制</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在以前，超过限制会扣血</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en-US" altLang="zh-CN" sz="1600" dirty="0">
                <a:latin typeface="Microsoft YaHei UI" panose="020B0503020204020204" pitchFamily="34" charset="-122"/>
                <a:ea typeface="Microsoft YaHei UI" panose="020B0503020204020204" pitchFamily="34" charset="-122"/>
              </a:rPr>
              <a:t>25</a:t>
            </a:r>
            <a:r>
              <a:rPr lang="zh-CN" altLang="en-US" sz="1600" dirty="0">
                <a:latin typeface="Microsoft YaHei UI" panose="020B0503020204020204" pitchFamily="34" charset="-122"/>
                <a:ea typeface="Microsoft YaHei UI" panose="020B0503020204020204" pitchFamily="34" charset="-122"/>
              </a:rPr>
              <a:t>赛季，现如今，超过功率限制会强制断电</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底盘的使用能量上限也有限制，超过能量限制会进入虚弱状态</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一个优秀的功率控制起到了两个作用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防止底盘超过限制的功率上限，进而防止扣血或底盘断电</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最优化底盘的功率分配与效果，延缓沦为虚弱状态的时间</a:t>
            </a:r>
            <a:endParaRPr lang="en-US" altLang="zh-CN" sz="1600" dirty="0">
              <a:latin typeface="Microsoft YaHei UI" panose="020B0503020204020204" pitchFamily="34" charset="-122"/>
              <a:ea typeface="Microsoft YaHei UI" panose="020B0503020204020204" pitchFamily="34" charset="-122"/>
            </a:endParaRPr>
          </a:p>
        </p:txBody>
      </p:sp>
      <p:pic>
        <p:nvPicPr>
          <p:cNvPr id="4" name="图片 3">
            <a:extLst>
              <a:ext uri="{FF2B5EF4-FFF2-40B4-BE49-F238E27FC236}">
                <a16:creationId xmlns:a16="http://schemas.microsoft.com/office/drawing/2014/main" id="{37304422-13C4-430E-B65A-6172D8D39932}"/>
              </a:ext>
            </a:extLst>
          </p:cNvPr>
          <p:cNvPicPr>
            <a:picLocks noChangeAspect="1"/>
          </p:cNvPicPr>
          <p:nvPr/>
        </p:nvPicPr>
        <p:blipFill>
          <a:blip r:embed="rId3"/>
          <a:stretch>
            <a:fillRect/>
          </a:stretch>
        </p:blipFill>
        <p:spPr>
          <a:xfrm>
            <a:off x="5282626" y="5444011"/>
            <a:ext cx="6328180" cy="1413989"/>
          </a:xfrm>
          <a:prstGeom prst="rect">
            <a:avLst/>
          </a:prstGeom>
        </p:spPr>
      </p:pic>
      <p:pic>
        <p:nvPicPr>
          <p:cNvPr id="7" name="图片 6">
            <a:extLst>
              <a:ext uri="{FF2B5EF4-FFF2-40B4-BE49-F238E27FC236}">
                <a16:creationId xmlns:a16="http://schemas.microsoft.com/office/drawing/2014/main" id="{B70A92A3-6DED-440A-91D1-CDEC2502F1FA}"/>
              </a:ext>
            </a:extLst>
          </p:cNvPr>
          <p:cNvPicPr>
            <a:picLocks noChangeAspect="1"/>
          </p:cNvPicPr>
          <p:nvPr/>
        </p:nvPicPr>
        <p:blipFill>
          <a:blip r:embed="rId4"/>
          <a:stretch>
            <a:fillRect/>
          </a:stretch>
        </p:blipFill>
        <p:spPr>
          <a:xfrm>
            <a:off x="581188" y="4172367"/>
            <a:ext cx="6649119" cy="1271644"/>
          </a:xfrm>
          <a:prstGeom prst="rect">
            <a:avLst/>
          </a:prstGeom>
        </p:spPr>
      </p:pic>
    </p:spTree>
    <p:extLst>
      <p:ext uri="{BB962C8B-B14F-4D97-AF65-F5344CB8AC3E}">
        <p14:creationId xmlns:p14="http://schemas.microsoft.com/office/powerpoint/2010/main" val="63541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a:t>
            </a:r>
            <a:r>
              <a:rPr lang="zh-CN" altLang="en-US" sz="4000" cap="none" dirty="0"/>
              <a:t> 限制功率的方法</a:t>
            </a:r>
          </a:p>
        </p:txBody>
      </p:sp>
      <p:sp>
        <p:nvSpPr>
          <p:cNvPr id="5" name="文本框 4"/>
          <p:cNvSpPr txBox="1"/>
          <p:nvPr/>
        </p:nvSpPr>
        <p:spPr>
          <a:xfrm>
            <a:off x="581192" y="1550046"/>
            <a:ext cx="11029616" cy="5183022"/>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直觉上，我们有</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底盘越快，功率越大</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底盘输出的牵引力越大，功率越大</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说白了，就是高中物理的一个公式的具象化</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en-US" altLang="zh-CN" sz="1600" dirty="0">
                <a:latin typeface="Microsoft YaHei UI" panose="020B0503020204020204" pitchFamily="34" charset="-122"/>
                <a:ea typeface="Microsoft YaHei UI" panose="020B0503020204020204" pitchFamily="34" charset="-122"/>
              </a:rPr>
              <a:t>P=</a:t>
            </a:r>
            <a:r>
              <a:rPr lang="en-US" altLang="zh-CN" sz="1600" dirty="0" err="1">
                <a:latin typeface="Microsoft YaHei UI" panose="020B0503020204020204" pitchFamily="34" charset="-122"/>
                <a:ea typeface="Microsoft YaHei UI" panose="020B0503020204020204" pitchFamily="34" charset="-122"/>
              </a:rPr>
              <a:t>Fv</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对于底盘电机而言</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solidFill>
                  <a:srgbClr val="FF0000"/>
                </a:solidFill>
                <a:latin typeface="Microsoft YaHei UI" panose="020B0503020204020204" pitchFamily="34" charset="-122"/>
                <a:ea typeface="Microsoft YaHei UI" panose="020B0503020204020204" pitchFamily="34" charset="-122"/>
              </a:rPr>
              <a:t>牵引力</a:t>
            </a:r>
            <a:r>
              <a:rPr lang="en-US" altLang="zh-CN" sz="1600" dirty="0">
                <a:solidFill>
                  <a:srgbClr val="FF0000"/>
                </a:solidFill>
                <a:latin typeface="Microsoft YaHei UI" panose="020B0503020204020204" pitchFamily="34" charset="-122"/>
                <a:ea typeface="Microsoft YaHei UI" panose="020B0503020204020204" pitchFamily="34" charset="-122"/>
              </a:rPr>
              <a:t>F</a:t>
            </a:r>
            <a:r>
              <a:rPr lang="zh-CN" altLang="en-US" sz="1600" dirty="0">
                <a:latin typeface="Microsoft YaHei UI" panose="020B0503020204020204" pitchFamily="34" charset="-122"/>
                <a:ea typeface="Microsoft YaHei UI" panose="020B0503020204020204" pitchFamily="34" charset="-122"/>
              </a:rPr>
              <a:t>就是安培力</a:t>
            </a:r>
            <a:r>
              <a:rPr lang="en-US" altLang="zh-CN" sz="1600" dirty="0">
                <a:latin typeface="Microsoft YaHei UI" panose="020B0503020204020204" pitchFamily="34" charset="-122"/>
                <a:ea typeface="Microsoft YaHei UI" panose="020B0503020204020204" pitchFamily="34" charset="-122"/>
              </a:rPr>
              <a:t>BIL</a:t>
            </a:r>
            <a:r>
              <a:rPr lang="zh-CN" altLang="en-US" sz="1600" dirty="0">
                <a:latin typeface="Microsoft YaHei UI" panose="020B0503020204020204" pitchFamily="34" charset="-122"/>
                <a:ea typeface="Microsoft YaHei UI" panose="020B0503020204020204" pitchFamily="34" charset="-122"/>
              </a:rPr>
              <a:t>，其中</a:t>
            </a:r>
            <a:r>
              <a:rPr lang="en-US" altLang="zh-CN" sz="1600" dirty="0">
                <a:latin typeface="Microsoft YaHei UI" panose="020B0503020204020204" pitchFamily="34" charset="-122"/>
                <a:ea typeface="Microsoft YaHei UI" panose="020B0503020204020204" pitchFamily="34" charset="-122"/>
              </a:rPr>
              <a:t>B</a:t>
            </a:r>
            <a:r>
              <a:rPr lang="zh-CN" altLang="en-US" sz="1600" dirty="0">
                <a:latin typeface="Microsoft YaHei UI" panose="020B0503020204020204" pitchFamily="34" charset="-122"/>
                <a:ea typeface="Microsoft YaHei UI" panose="020B0503020204020204" pitchFamily="34" charset="-122"/>
              </a:rPr>
              <a:t>和</a:t>
            </a:r>
            <a:r>
              <a:rPr lang="en-US" altLang="zh-CN" sz="1600" dirty="0">
                <a:latin typeface="Microsoft YaHei UI" panose="020B0503020204020204" pitchFamily="34" charset="-122"/>
                <a:ea typeface="Microsoft YaHei UI" panose="020B0503020204020204" pitchFamily="34" charset="-122"/>
              </a:rPr>
              <a:t>L</a:t>
            </a:r>
            <a:r>
              <a:rPr lang="zh-CN" altLang="en-US" sz="1600" dirty="0">
                <a:latin typeface="Microsoft YaHei UI" panose="020B0503020204020204" pitchFamily="34" charset="-122"/>
                <a:ea typeface="Microsoft YaHei UI" panose="020B0503020204020204" pitchFamily="34" charset="-122"/>
              </a:rPr>
              <a:t>由电机本身的磁场强度和绕组线长确定，因此影响牵引力</a:t>
            </a:r>
            <a:r>
              <a:rPr lang="en-US" altLang="zh-CN" sz="1600" dirty="0">
                <a:latin typeface="Microsoft YaHei UI" panose="020B0503020204020204" pitchFamily="34" charset="-122"/>
                <a:ea typeface="Microsoft YaHei UI" panose="020B0503020204020204" pitchFamily="34" charset="-122"/>
              </a:rPr>
              <a:t>F</a:t>
            </a:r>
            <a:r>
              <a:rPr lang="zh-CN" altLang="en-US" sz="1600" dirty="0">
                <a:latin typeface="Microsoft YaHei UI" panose="020B0503020204020204" pitchFamily="34" charset="-122"/>
                <a:ea typeface="Microsoft YaHei UI" panose="020B0503020204020204" pitchFamily="34" charset="-122"/>
              </a:rPr>
              <a:t>的就是</a:t>
            </a:r>
            <a:r>
              <a:rPr lang="zh-CN" altLang="en-US" sz="1600" dirty="0">
                <a:solidFill>
                  <a:srgbClr val="FF0000"/>
                </a:solidFill>
                <a:latin typeface="Microsoft YaHei UI" panose="020B0503020204020204" pitchFamily="34" charset="-122"/>
                <a:ea typeface="Microsoft YaHei UI" panose="020B0503020204020204" pitchFamily="34" charset="-122"/>
              </a:rPr>
              <a:t>电流</a:t>
            </a:r>
            <a:r>
              <a:rPr lang="en-US" altLang="zh-CN" sz="1600" dirty="0">
                <a:solidFill>
                  <a:srgbClr val="FF0000"/>
                </a:solidFill>
                <a:latin typeface="Microsoft YaHei UI" panose="020B0503020204020204" pitchFamily="34" charset="-122"/>
                <a:ea typeface="Microsoft YaHei UI" panose="020B0503020204020204" pitchFamily="34" charset="-122"/>
              </a:rPr>
              <a:t>I</a:t>
            </a:r>
            <a:r>
              <a:rPr lang="zh-CN" altLang="en-US" sz="1600" dirty="0">
                <a:solidFill>
                  <a:srgbClr val="FF0000"/>
                </a:solidFill>
                <a:latin typeface="Microsoft YaHei UI" panose="020B0503020204020204" pitchFamily="34" charset="-122"/>
                <a:ea typeface="Microsoft YaHei UI" panose="020B0503020204020204" pitchFamily="34" charset="-122"/>
              </a:rPr>
              <a:t>，或者说扭矩</a:t>
            </a:r>
            <a:r>
              <a:rPr lang="en-US" altLang="zh-CN" sz="1600" dirty="0">
                <a:solidFill>
                  <a:srgbClr val="FF0000"/>
                </a:solidFill>
                <a:latin typeface="Microsoft YaHei UI" panose="020B0503020204020204" pitchFamily="34" charset="-122"/>
                <a:ea typeface="Microsoft YaHei UI" panose="020B0503020204020204" pitchFamily="34" charset="-122"/>
              </a:rPr>
              <a:t>T</a:t>
            </a:r>
            <a:r>
              <a:rPr lang="zh-CN" altLang="en-US" sz="1600" dirty="0">
                <a:latin typeface="Microsoft YaHei UI" panose="020B0503020204020204" pitchFamily="34" charset="-122"/>
                <a:ea typeface="Microsoft YaHei UI" panose="020B0503020204020204" pitchFamily="34" charset="-122"/>
              </a:rPr>
              <a:t>，而且近似为正比例关系</a:t>
            </a:r>
            <a:endParaRPr lang="en-US" altLang="zh-CN" sz="1600"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本章节依旧不对电机的电流与扭矩进行区分，认为二者是正比例关系</a:t>
            </a:r>
            <a:endParaRPr lang="en-US" altLang="zh-CN" sz="1600" dirty="0">
              <a:latin typeface="Microsoft YaHei UI" panose="020B0503020204020204" pitchFamily="34" charset="-122"/>
              <a:ea typeface="Microsoft YaHei UI" panose="020B0503020204020204" pitchFamily="34" charset="-122"/>
            </a:endParaRPr>
          </a:p>
          <a:p>
            <a:pPr marL="1714500" lvl="3"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对于底盘电机而言，更多称谓扭矩</a:t>
            </a:r>
            <a:r>
              <a:rPr lang="en-US" altLang="zh-CN" sz="1600" dirty="0">
                <a:latin typeface="Microsoft YaHei UI" panose="020B0503020204020204" pitchFamily="34" charset="-122"/>
                <a:ea typeface="Microsoft YaHei UI" panose="020B0503020204020204" pitchFamily="34" charset="-122"/>
              </a:rPr>
              <a:t>T</a:t>
            </a:r>
          </a:p>
          <a:p>
            <a:pPr marL="1714500" lvl="3"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对于电机本身控制而言，更多称谓电流</a:t>
            </a:r>
            <a:r>
              <a:rPr lang="en-US" altLang="zh-CN" sz="1600" dirty="0">
                <a:latin typeface="Microsoft YaHei UI" panose="020B0503020204020204" pitchFamily="34" charset="-122"/>
                <a:ea typeface="Microsoft YaHei UI" panose="020B0503020204020204" pitchFamily="34" charset="-122"/>
              </a:rPr>
              <a:t>I</a:t>
            </a:r>
          </a:p>
          <a:p>
            <a:pPr marL="800100" lvl="1" indent="-342900">
              <a:lnSpc>
                <a:spcPct val="130000"/>
              </a:lnSpc>
              <a:buFont typeface="Arial" panose="020B0604020202020204" pitchFamily="34" charset="0"/>
              <a:buChar char="•"/>
            </a:pPr>
            <a:r>
              <a:rPr lang="zh-CN" altLang="en-US" sz="1600" dirty="0">
                <a:solidFill>
                  <a:srgbClr val="FF0000"/>
                </a:solidFill>
                <a:latin typeface="Microsoft YaHei UI" panose="020B0503020204020204" pitchFamily="34" charset="-122"/>
                <a:ea typeface="Microsoft YaHei UI" panose="020B0503020204020204" pitchFamily="34" charset="-122"/>
              </a:rPr>
              <a:t>速度</a:t>
            </a:r>
            <a:r>
              <a:rPr lang="en-US" altLang="zh-CN" sz="1600" dirty="0">
                <a:solidFill>
                  <a:srgbClr val="FF0000"/>
                </a:solidFill>
                <a:latin typeface="Microsoft YaHei UI" panose="020B0503020204020204" pitchFamily="34" charset="-122"/>
                <a:ea typeface="Microsoft YaHei UI" panose="020B0503020204020204" pitchFamily="34" charset="-122"/>
              </a:rPr>
              <a:t>v</a:t>
            </a:r>
            <a:r>
              <a:rPr lang="zh-CN" altLang="en-US" sz="1600" dirty="0">
                <a:latin typeface="Microsoft YaHei UI" panose="020B0503020204020204" pitchFamily="34" charset="-122"/>
                <a:ea typeface="Microsoft YaHei UI" panose="020B0503020204020204" pitchFamily="34" charset="-122"/>
              </a:rPr>
              <a:t>就是电机的</a:t>
            </a:r>
            <a:r>
              <a:rPr lang="zh-CN" altLang="en-US" sz="1600" dirty="0">
                <a:solidFill>
                  <a:srgbClr val="FF0000"/>
                </a:solidFill>
                <a:latin typeface="Microsoft YaHei UI" panose="020B0503020204020204" pitchFamily="34" charset="-122"/>
                <a:ea typeface="Microsoft YaHei UI" panose="020B0503020204020204" pitchFamily="34" charset="-122"/>
              </a:rPr>
              <a:t>转子角速度</a:t>
            </a:r>
            <a:r>
              <a:rPr lang="en-US" altLang="zh-CN" sz="1600" dirty="0">
                <a:solidFill>
                  <a:srgbClr val="FF0000"/>
                </a:solidFill>
                <a:latin typeface="Microsoft YaHei UI" panose="020B0503020204020204" pitchFamily="34" charset="-122"/>
                <a:ea typeface="Microsoft YaHei UI" panose="020B0503020204020204" pitchFamily="34" charset="-122"/>
              </a:rPr>
              <a:t>ω</a:t>
            </a: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因此，我们可以限制底盘电机的扭矩电流和角速度，从而限制功率</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底盘电机的</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角速度目标值 </a:t>
            </a:r>
            <a:r>
              <a:rPr lang="en-US" altLang="zh-CN" sz="1600" dirty="0">
                <a:latin typeface="Microsoft YaHei UI" panose="020B0503020204020204" pitchFamily="34" charset="-122"/>
                <a:ea typeface="Microsoft YaHei UI" panose="020B0503020204020204" pitchFamily="34" charset="-122"/>
              </a:rPr>
              <a:t>or </a:t>
            </a:r>
            <a:r>
              <a:rPr lang="zh-CN" altLang="en-US" sz="1600" dirty="0">
                <a:latin typeface="Microsoft YaHei UI" panose="020B0503020204020204" pitchFamily="34" charset="-122"/>
                <a:ea typeface="Microsoft YaHei UI" panose="020B0503020204020204" pitchFamily="34" charset="-122"/>
              </a:rPr>
              <a:t>电流输出值</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可以</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限制最大值 </a:t>
            </a:r>
            <a:r>
              <a:rPr lang="en-US" altLang="zh-CN" sz="1600" dirty="0">
                <a:latin typeface="Microsoft YaHei UI" panose="020B0503020204020204" pitchFamily="34" charset="-122"/>
                <a:ea typeface="Microsoft YaHei UI" panose="020B0503020204020204" pitchFamily="34" charset="-122"/>
              </a:rPr>
              <a:t>or </a:t>
            </a:r>
            <a:r>
              <a:rPr lang="zh-CN" altLang="en-US" sz="1600" dirty="0">
                <a:latin typeface="Microsoft YaHei UI" panose="020B0503020204020204" pitchFamily="34" charset="-122"/>
                <a:ea typeface="Microsoft YaHei UI" panose="020B0503020204020204" pitchFamily="34" charset="-122"/>
              </a:rPr>
              <a:t>乘一个衰减的比例系数 </a:t>
            </a:r>
            <a:r>
              <a:rPr lang="en-US" altLang="zh-CN" sz="1600" dirty="0">
                <a:latin typeface="Microsoft YaHei UI" panose="020B0503020204020204" pitchFamily="34" charset="-122"/>
                <a:ea typeface="Microsoft YaHei UI" panose="020B0503020204020204" pitchFamily="34" charset="-122"/>
              </a:rPr>
              <a:t>】</a:t>
            </a: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这方法两两组合，就有了四种最基本的功率限制策略了</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如下页所示，我们可以先有个很抽象的思路</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5093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a:t>
            </a:r>
            <a:r>
              <a:rPr lang="zh-CN" altLang="en-US" sz="4000" cap="none" dirty="0"/>
              <a:t> 限制功率的方法</a:t>
            </a:r>
          </a:p>
        </p:txBody>
      </p:sp>
      <p:sp>
        <p:nvSpPr>
          <p:cNvPr id="5" name="文本框 4"/>
          <p:cNvSpPr txBox="1"/>
          <p:nvPr/>
        </p:nvSpPr>
        <p:spPr>
          <a:xfrm>
            <a:off x="581192" y="1550046"/>
            <a:ext cx="11029616" cy="473911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我们设计一个</a:t>
            </a:r>
            <a:r>
              <a:rPr lang="en-US" altLang="zh-CN" dirty="0">
                <a:latin typeface="Microsoft YaHei UI" panose="020B0503020204020204" pitchFamily="34" charset="-122"/>
                <a:ea typeface="Microsoft YaHei UI" panose="020B0503020204020204" pitchFamily="34" charset="-122"/>
              </a:rPr>
              <a:t>PID</a:t>
            </a:r>
            <a:r>
              <a:rPr lang="zh-CN" altLang="en-US" dirty="0">
                <a:latin typeface="Microsoft YaHei UI" panose="020B0503020204020204" pitchFamily="34" charset="-122"/>
                <a:ea typeface="Microsoft YaHei UI" panose="020B0503020204020204" pitchFamily="34" charset="-122"/>
              </a:rPr>
              <a:t>系统</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底盘的</a:t>
            </a:r>
            <a:r>
              <a:rPr lang="zh-CN" altLang="en-US" dirty="0">
                <a:solidFill>
                  <a:srgbClr val="FF0000"/>
                </a:solidFill>
                <a:latin typeface="Microsoft YaHei UI" panose="020B0503020204020204" pitchFamily="34" charset="-122"/>
                <a:ea typeface="Microsoft YaHei UI" panose="020B0503020204020204" pitchFamily="34" charset="-122"/>
              </a:rPr>
              <a:t>当前功率</a:t>
            </a:r>
            <a:r>
              <a:rPr lang="zh-CN" altLang="en-US" dirty="0">
                <a:latin typeface="Microsoft YaHei UI" panose="020B0503020204020204" pitchFamily="34" charset="-122"/>
                <a:ea typeface="Microsoft YaHei UI" panose="020B0503020204020204" pitchFamily="34" charset="-122"/>
              </a:rPr>
              <a:t>就是</a:t>
            </a:r>
            <a:r>
              <a:rPr lang="en-US" altLang="zh-CN" dirty="0">
                <a:latin typeface="Microsoft YaHei UI" panose="020B0503020204020204" pitchFamily="34" charset="-122"/>
                <a:ea typeface="Microsoft YaHei UI" panose="020B0503020204020204" pitchFamily="34" charset="-122"/>
              </a:rPr>
              <a:t>PID</a:t>
            </a:r>
            <a:r>
              <a:rPr lang="zh-CN" altLang="en-US" dirty="0">
                <a:latin typeface="Microsoft YaHei UI" panose="020B0503020204020204" pitchFamily="34" charset="-122"/>
                <a:ea typeface="Microsoft YaHei UI" panose="020B0503020204020204" pitchFamily="34" charset="-122"/>
              </a:rPr>
              <a:t>系统的</a:t>
            </a:r>
            <a:r>
              <a:rPr lang="en-US" altLang="zh-CN" dirty="0">
                <a:solidFill>
                  <a:srgbClr val="FF0000"/>
                </a:solidFill>
                <a:latin typeface="Microsoft YaHei UI" panose="020B0503020204020204" pitchFamily="34" charset="-122"/>
                <a:ea typeface="Microsoft YaHei UI" panose="020B0503020204020204" pitchFamily="34" charset="-122"/>
              </a:rPr>
              <a:t>now</a:t>
            </a: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底盘的</a:t>
            </a:r>
            <a:r>
              <a:rPr lang="zh-CN" altLang="en-US" dirty="0">
                <a:solidFill>
                  <a:srgbClr val="FF0000"/>
                </a:solidFill>
                <a:latin typeface="Microsoft YaHei UI" panose="020B0503020204020204" pitchFamily="34" charset="-122"/>
                <a:ea typeface="Microsoft YaHei UI" panose="020B0503020204020204" pitchFamily="34" charset="-122"/>
              </a:rPr>
              <a:t>功率上限</a:t>
            </a:r>
            <a:r>
              <a:rPr lang="zh-CN" altLang="en-US" dirty="0">
                <a:latin typeface="Microsoft YaHei UI" panose="020B0503020204020204" pitchFamily="34" charset="-122"/>
                <a:ea typeface="Microsoft YaHei UI" panose="020B0503020204020204" pitchFamily="34" charset="-122"/>
              </a:rPr>
              <a:t>就是</a:t>
            </a:r>
            <a:r>
              <a:rPr lang="en-US" altLang="zh-CN" dirty="0">
                <a:latin typeface="Microsoft YaHei UI" panose="020B0503020204020204" pitchFamily="34" charset="-122"/>
                <a:ea typeface="Microsoft YaHei UI" panose="020B0503020204020204" pitchFamily="34" charset="-122"/>
              </a:rPr>
              <a:t>PID</a:t>
            </a:r>
            <a:r>
              <a:rPr lang="zh-CN" altLang="en-US" dirty="0">
                <a:latin typeface="Microsoft YaHei UI" panose="020B0503020204020204" pitchFamily="34" charset="-122"/>
                <a:ea typeface="Microsoft YaHei UI" panose="020B0503020204020204" pitchFamily="34" charset="-122"/>
              </a:rPr>
              <a:t>系统的</a:t>
            </a:r>
            <a:r>
              <a:rPr lang="en-US" altLang="zh-CN" dirty="0">
                <a:solidFill>
                  <a:srgbClr val="FF0000"/>
                </a:solidFill>
                <a:latin typeface="Microsoft YaHei UI" panose="020B0503020204020204" pitchFamily="34" charset="-122"/>
                <a:ea typeface="Microsoft YaHei UI" panose="020B0503020204020204" pitchFamily="34" charset="-122"/>
              </a:rPr>
              <a:t>target</a:t>
            </a: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对于</a:t>
            </a:r>
            <a:r>
              <a:rPr lang="en-US" altLang="zh-CN" dirty="0">
                <a:latin typeface="Microsoft YaHei UI" panose="020B0503020204020204" pitchFamily="34" charset="-122"/>
                <a:ea typeface="Microsoft YaHei UI" panose="020B0503020204020204" pitchFamily="34" charset="-122"/>
              </a:rPr>
              <a:t>PID</a:t>
            </a:r>
            <a:r>
              <a:rPr lang="zh-CN" altLang="en-US" dirty="0">
                <a:latin typeface="Microsoft YaHei UI" panose="020B0503020204020204" pitchFamily="34" charset="-122"/>
                <a:ea typeface="Microsoft YaHei UI" panose="020B0503020204020204" pitchFamily="34" charset="-122"/>
              </a:rPr>
              <a:t>系统的</a:t>
            </a:r>
            <a:r>
              <a:rPr lang="en-US" altLang="zh-CN" dirty="0">
                <a:latin typeface="Microsoft YaHei UI" panose="020B0503020204020204" pitchFamily="34" charset="-122"/>
                <a:ea typeface="Microsoft YaHei UI" panose="020B0503020204020204" pitchFamily="34" charset="-122"/>
              </a:rPr>
              <a:t>output</a:t>
            </a:r>
            <a:r>
              <a:rPr lang="zh-CN" altLang="en-US" dirty="0">
                <a:latin typeface="Microsoft YaHei UI" panose="020B0503020204020204" pitchFamily="34" charset="-122"/>
                <a:ea typeface="Microsoft YaHei UI" panose="020B0503020204020204" pitchFamily="34" charset="-122"/>
              </a:rPr>
              <a:t>，我们有十个甚至九个选择</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底盘电机的目标角速度上限</a:t>
            </a:r>
            <a:endParaRPr lang="en-US" altLang="zh-CN"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不好！直接限制上限，可能出现打滑、轮组打架内耗与偏移现象</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底盘电机的目标扭矩上限</a:t>
            </a:r>
            <a:endParaRPr lang="en-US" altLang="zh-CN"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不好！直接限制上限，可能出现打滑、轮组打架内耗与偏移现象</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底盘电机的目标角速度衰减比例系数（</a:t>
            </a:r>
            <a:r>
              <a:rPr lang="en-US" altLang="zh-CN" dirty="0">
                <a:latin typeface="Microsoft YaHei UI" panose="020B0503020204020204" pitchFamily="34" charset="-122"/>
                <a:ea typeface="Microsoft YaHei UI" panose="020B0503020204020204" pitchFamily="34" charset="-122"/>
              </a:rPr>
              <a:t>0~1.0f</a:t>
            </a:r>
            <a:r>
              <a:rPr lang="zh-CN" altLang="en-US" dirty="0">
                <a:latin typeface="Microsoft YaHei UI" panose="020B0503020204020204" pitchFamily="34" charset="-122"/>
                <a:ea typeface="Microsoft YaHei UI" panose="020B0503020204020204" pitchFamily="34" charset="-122"/>
              </a:rPr>
              <a:t>）</a:t>
            </a:r>
            <a:endParaRPr lang="en-US" altLang="zh-CN"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不好！限制角速度，由于需要内环，也就是角速度环进一步控制，系统响应可能会有较大延迟与抖动</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solidFill>
                  <a:srgbClr val="FF0000"/>
                </a:solidFill>
                <a:latin typeface="Microsoft YaHei UI" panose="020B0503020204020204" pitchFamily="34" charset="-122"/>
                <a:ea typeface="Microsoft YaHei UI" panose="020B0503020204020204" pitchFamily="34" charset="-122"/>
              </a:rPr>
              <a:t>底盘电机的目标扭矩衰减系数（</a:t>
            </a:r>
            <a:r>
              <a:rPr lang="en-US" altLang="zh-CN" dirty="0">
                <a:solidFill>
                  <a:srgbClr val="FF0000"/>
                </a:solidFill>
                <a:latin typeface="Microsoft YaHei UI" panose="020B0503020204020204" pitchFamily="34" charset="-122"/>
                <a:ea typeface="Microsoft YaHei UI" panose="020B0503020204020204" pitchFamily="34" charset="-122"/>
              </a:rPr>
              <a:t>0~1.0f</a:t>
            </a:r>
            <a:r>
              <a:rPr lang="zh-CN" altLang="en-US" dirty="0">
                <a:solidFill>
                  <a:srgbClr val="FF0000"/>
                </a:solidFill>
                <a:latin typeface="Microsoft YaHei UI" panose="020B0503020204020204" pitchFamily="34" charset="-122"/>
                <a:ea typeface="Microsoft YaHei UI" panose="020B0503020204020204" pitchFamily="34" charset="-122"/>
              </a:rPr>
              <a:t>）</a:t>
            </a:r>
            <a:endParaRPr lang="en-US" altLang="zh-CN" dirty="0">
              <a:solidFill>
                <a:srgbClr val="FF0000"/>
              </a:solidFill>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值得一试！但这个衰减系数怎么设计好一些？这个系数每个电机都是不一样的</a:t>
            </a:r>
            <a:endParaRPr lang="en-US" altLang="zh-CN"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94284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a:t>
            </a:r>
            <a:r>
              <a:rPr lang="zh-CN" altLang="en-US" sz="4000" cap="none" dirty="0"/>
              <a:t> 重新审视线性系统与前馈</a:t>
            </a:r>
          </a:p>
        </p:txBody>
      </p:sp>
      <p:sp>
        <p:nvSpPr>
          <p:cNvPr id="5" name="文本框 4"/>
          <p:cNvSpPr txBox="1"/>
          <p:nvPr/>
        </p:nvSpPr>
        <p:spPr>
          <a:xfrm>
            <a:off x="581192" y="1550046"/>
            <a:ext cx="11029616" cy="3654975"/>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什么是</a:t>
            </a:r>
            <a:r>
              <a:rPr lang="zh-CN" altLang="en-US" sz="2000" dirty="0">
                <a:highlight>
                  <a:srgbClr val="FFFF00"/>
                </a:highlight>
                <a:latin typeface="Microsoft YaHei UI" panose="020B0503020204020204" pitchFamily="34" charset="-122"/>
                <a:ea typeface="Microsoft YaHei UI" panose="020B0503020204020204" pitchFamily="34" charset="-122"/>
              </a:rPr>
              <a:t>系统</a:t>
            </a:r>
            <a:endParaRPr lang="en-US" altLang="zh-CN" sz="2000" dirty="0">
              <a:highlight>
                <a:srgbClr val="FFFF00"/>
              </a:highlight>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有输入</a:t>
            </a:r>
            <a:r>
              <a:rPr lang="en-US" altLang="zh-CN" sz="2000" dirty="0">
                <a:latin typeface="Microsoft YaHei UI" panose="020B0503020204020204" pitchFamily="34" charset="-122"/>
                <a:ea typeface="Microsoft YaHei UI" panose="020B0503020204020204" pitchFamily="34" charset="-122"/>
              </a:rPr>
              <a:t>x</a:t>
            </a:r>
            <a:r>
              <a:rPr lang="zh-CN" altLang="en-US" sz="2000" dirty="0">
                <a:latin typeface="Microsoft YaHei UI" panose="020B0503020204020204" pitchFamily="34" charset="-122"/>
                <a:ea typeface="Microsoft YaHei UI" panose="020B0503020204020204" pitchFamily="34" charset="-122"/>
              </a:rPr>
              <a:t>，根据输入</a:t>
            </a:r>
            <a:r>
              <a:rPr lang="en-US" altLang="zh-CN" sz="2000" dirty="0">
                <a:latin typeface="Microsoft YaHei UI" panose="020B0503020204020204" pitchFamily="34" charset="-122"/>
                <a:ea typeface="Microsoft YaHei UI" panose="020B0503020204020204" pitchFamily="34" charset="-122"/>
              </a:rPr>
              <a:t>x</a:t>
            </a:r>
            <a:r>
              <a:rPr lang="zh-CN" altLang="en-US" sz="2000" dirty="0">
                <a:latin typeface="Microsoft YaHei UI" panose="020B0503020204020204" pitchFamily="34" charset="-122"/>
                <a:ea typeface="Microsoft YaHei UI" panose="020B0503020204020204" pitchFamily="34" charset="-122"/>
              </a:rPr>
              <a:t>，还有一定的规则</a:t>
            </a:r>
            <a:r>
              <a:rPr lang="en-US" altLang="zh-CN" sz="2000" dirty="0">
                <a:latin typeface="Microsoft YaHei UI" panose="020B0503020204020204" pitchFamily="34" charset="-122"/>
                <a:ea typeface="Microsoft YaHei UI" panose="020B0503020204020204" pitchFamily="34" charset="-122"/>
              </a:rPr>
              <a:t>f</a:t>
            </a:r>
            <a:r>
              <a:rPr lang="zh-CN" altLang="en-US" sz="2000" dirty="0">
                <a:latin typeface="Microsoft YaHei UI" panose="020B0503020204020204" pitchFamily="34" charset="-122"/>
                <a:ea typeface="Microsoft YaHei UI" panose="020B0503020204020204" pitchFamily="34" charset="-122"/>
              </a:rPr>
              <a:t>，产生</a:t>
            </a:r>
            <a:r>
              <a:rPr lang="zh-CN" altLang="en-US" sz="2000" dirty="0">
                <a:solidFill>
                  <a:srgbClr val="FF0000"/>
                </a:solidFill>
                <a:latin typeface="Microsoft YaHei UI" panose="020B0503020204020204" pitchFamily="34" charset="-122"/>
                <a:ea typeface="Microsoft YaHei UI" panose="020B0503020204020204" pitchFamily="34" charset="-122"/>
              </a:rPr>
              <a:t>输出</a:t>
            </a:r>
            <a:r>
              <a:rPr lang="en-US" altLang="zh-CN" sz="2000" dirty="0">
                <a:solidFill>
                  <a:srgbClr val="FF0000"/>
                </a:solidFill>
                <a:latin typeface="Microsoft YaHei UI" panose="020B0503020204020204" pitchFamily="34" charset="-122"/>
                <a:ea typeface="Microsoft YaHei UI" panose="020B0503020204020204" pitchFamily="34" charset="-122"/>
              </a:rPr>
              <a:t>y=f(x)</a:t>
            </a:r>
            <a:r>
              <a:rPr lang="zh-CN" altLang="en-US" sz="2000" dirty="0">
                <a:latin typeface="Microsoft YaHei UI" panose="020B0503020204020204" pitchFamily="34" charset="-122"/>
                <a:ea typeface="Microsoft YaHei UI" panose="020B0503020204020204" pitchFamily="34" charset="-122"/>
              </a:rPr>
              <a:t>，这就是个系统。其中，</a:t>
            </a:r>
            <a:r>
              <a:rPr lang="en-US" altLang="zh-CN" sz="2000" dirty="0">
                <a:latin typeface="Microsoft YaHei UI" panose="020B0503020204020204" pitchFamily="34" charset="-122"/>
                <a:ea typeface="Microsoft YaHei UI" panose="020B0503020204020204" pitchFamily="34" charset="-122"/>
              </a:rPr>
              <a:t>x</a:t>
            </a:r>
            <a:r>
              <a:rPr lang="zh-CN" altLang="en-US" sz="2000" dirty="0">
                <a:latin typeface="Microsoft YaHei UI" panose="020B0503020204020204" pitchFamily="34" charset="-122"/>
                <a:ea typeface="Microsoft YaHei UI" panose="020B0503020204020204" pitchFamily="34" charset="-122"/>
              </a:rPr>
              <a:t>和</a:t>
            </a:r>
            <a:r>
              <a:rPr lang="en-US" altLang="zh-CN" sz="2000" dirty="0">
                <a:latin typeface="Microsoft YaHei UI" panose="020B0503020204020204" pitchFamily="34" charset="-122"/>
                <a:ea typeface="Microsoft YaHei UI" panose="020B0503020204020204" pitchFamily="34" charset="-122"/>
              </a:rPr>
              <a:t>y</a:t>
            </a:r>
            <a:r>
              <a:rPr lang="zh-CN" altLang="en-US" sz="2000" dirty="0">
                <a:latin typeface="Microsoft YaHei UI" panose="020B0503020204020204" pitchFamily="34" charset="-122"/>
                <a:ea typeface="Microsoft YaHei UI" panose="020B0503020204020204" pitchFamily="34" charset="-122"/>
              </a:rPr>
              <a:t>都可以是一个数，也都可以是一组数（向量）</a:t>
            </a:r>
            <a:endParaRPr lang="en-US" altLang="zh-CN" sz="20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什么是</a:t>
            </a:r>
            <a:r>
              <a:rPr lang="zh-CN" altLang="en-US" sz="2000" dirty="0">
                <a:highlight>
                  <a:srgbClr val="FFFF00"/>
                </a:highlight>
                <a:latin typeface="Microsoft YaHei UI" panose="020B0503020204020204" pitchFamily="34" charset="-122"/>
                <a:ea typeface="Microsoft YaHei UI" panose="020B0503020204020204" pitchFamily="34" charset="-122"/>
              </a:rPr>
              <a:t>线性系统</a:t>
            </a:r>
            <a:endParaRPr lang="en-US" altLang="zh-CN" sz="2000" dirty="0">
              <a:highlight>
                <a:srgbClr val="FFFF00"/>
              </a:highlight>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对于一个系统</a:t>
            </a:r>
            <a:r>
              <a:rPr lang="en-US" altLang="zh-CN" sz="2000" dirty="0">
                <a:latin typeface="Microsoft YaHei UI" panose="020B0503020204020204" pitchFamily="34" charset="-122"/>
                <a:ea typeface="Microsoft YaHei UI" panose="020B0503020204020204" pitchFamily="34" charset="-122"/>
              </a:rPr>
              <a:t>f</a:t>
            </a:r>
            <a:r>
              <a:rPr lang="zh-CN" altLang="en-US" sz="2000" dirty="0">
                <a:latin typeface="Microsoft YaHei UI" panose="020B0503020204020204" pitchFamily="34" charset="-122"/>
                <a:ea typeface="Microsoft YaHei UI" panose="020B0503020204020204" pitchFamily="34" charset="-122"/>
              </a:rPr>
              <a:t>，以及任何合理输入</a:t>
            </a:r>
            <a:r>
              <a:rPr lang="en-US" altLang="zh-CN" sz="2000" dirty="0">
                <a:latin typeface="Microsoft YaHei UI" panose="020B0503020204020204" pitchFamily="34" charset="-122"/>
                <a:ea typeface="Microsoft YaHei UI" panose="020B0503020204020204" pitchFamily="34" charset="-122"/>
              </a:rPr>
              <a:t>x1</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x2</a:t>
            </a:r>
            <a:r>
              <a:rPr lang="zh-CN" altLang="en-US" sz="2000" dirty="0">
                <a:latin typeface="Microsoft YaHei UI" panose="020B0503020204020204" pitchFamily="34" charset="-122"/>
                <a:ea typeface="Microsoft YaHei UI" panose="020B0503020204020204" pitchFamily="34" charset="-122"/>
              </a:rPr>
              <a:t>，以及常数</a:t>
            </a:r>
            <a:r>
              <a:rPr lang="en-US" altLang="zh-CN" sz="2000" dirty="0">
                <a:latin typeface="Microsoft YaHei UI" panose="020B0503020204020204" pitchFamily="34" charset="-122"/>
                <a:ea typeface="Microsoft YaHei UI" panose="020B0503020204020204" pitchFamily="34" charset="-122"/>
              </a:rPr>
              <a:t>a1</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a2</a:t>
            </a:r>
            <a:r>
              <a:rPr lang="zh-CN" altLang="en-US" sz="2000" dirty="0">
                <a:latin typeface="Microsoft YaHei UI" panose="020B0503020204020204" pitchFamily="34" charset="-122"/>
                <a:ea typeface="Microsoft YaHei UI" panose="020B0503020204020204" pitchFamily="34" charset="-122"/>
              </a:rPr>
              <a:t>，有</a:t>
            </a:r>
            <a:r>
              <a:rPr lang="en-US" altLang="zh-CN" sz="2000" dirty="0">
                <a:solidFill>
                  <a:srgbClr val="FF0000"/>
                </a:solidFill>
                <a:latin typeface="Microsoft YaHei UI" panose="020B0503020204020204" pitchFamily="34" charset="-122"/>
                <a:ea typeface="Microsoft YaHei UI" panose="020B0503020204020204" pitchFamily="34" charset="-122"/>
              </a:rPr>
              <a:t>f(a1 * x1 + a2 * x2) = a1* f(x1)+ a2 * f(x2)</a:t>
            </a:r>
            <a:r>
              <a:rPr lang="zh-CN" altLang="en-US" sz="2000" dirty="0">
                <a:latin typeface="Microsoft YaHei UI" panose="020B0503020204020204" pitchFamily="34" charset="-122"/>
                <a:ea typeface="Microsoft YaHei UI" panose="020B0503020204020204" pitchFamily="34" charset="-122"/>
              </a:rPr>
              <a:t>，这就是个线性系统</a:t>
            </a:r>
            <a:endParaRPr lang="en-US" altLang="zh-CN" sz="20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言外之意，满足两个条件</a:t>
            </a:r>
            <a:endParaRPr lang="en-US" altLang="zh-CN" sz="2000"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齐次性，</a:t>
            </a:r>
            <a:r>
              <a:rPr lang="en-US" altLang="zh-CN" sz="2000" dirty="0">
                <a:latin typeface="Microsoft YaHei UI" panose="020B0503020204020204" pitchFamily="34" charset="-122"/>
                <a:ea typeface="Microsoft YaHei UI" panose="020B0503020204020204" pitchFamily="34" charset="-122"/>
              </a:rPr>
              <a:t>f(a1 * x1) =  a1 * f(x1)</a:t>
            </a:r>
          </a:p>
          <a:p>
            <a:pPr marL="1257300" lvl="2" indent="-34290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叠加性，</a:t>
            </a:r>
            <a:r>
              <a:rPr lang="en-US" altLang="zh-CN" sz="2000" dirty="0">
                <a:latin typeface="Microsoft YaHei UI" panose="020B0503020204020204" pitchFamily="34" charset="-122"/>
                <a:ea typeface="Microsoft YaHei UI" panose="020B0503020204020204" pitchFamily="34" charset="-122"/>
              </a:rPr>
              <a:t>f(x1 + x2) = f(x1) + f(x2)</a:t>
            </a:r>
          </a:p>
        </p:txBody>
      </p:sp>
    </p:spTree>
    <p:extLst>
      <p:ext uri="{BB962C8B-B14F-4D97-AF65-F5344CB8AC3E}">
        <p14:creationId xmlns:p14="http://schemas.microsoft.com/office/powerpoint/2010/main" val="3487474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a:t>
            </a:r>
            <a:r>
              <a:rPr lang="zh-CN" altLang="en-US" sz="4000" cap="none" dirty="0"/>
              <a:t> 重新审视线性系统与前馈</a:t>
            </a:r>
          </a:p>
        </p:txBody>
      </p:sp>
      <mc:AlternateContent xmlns:mc="http://schemas.openxmlformats.org/markup-compatibility/2006">
        <mc:Choice xmlns:a14="http://schemas.microsoft.com/office/drawing/2010/main" Requires="a14">
          <p:sp>
            <p:nvSpPr>
              <p:cNvPr id="5" name="文本框 4"/>
              <p:cNvSpPr txBox="1"/>
              <p:nvPr/>
            </p:nvSpPr>
            <p:spPr>
              <a:xfrm>
                <a:off x="581192" y="1550046"/>
                <a:ext cx="11029616" cy="4973606"/>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en-US" altLang="zh-CN" sz="1600" dirty="0">
                    <a:solidFill>
                      <a:srgbClr val="FF0000"/>
                    </a:solidFill>
                    <a:latin typeface="Microsoft YaHei UI" panose="020B0503020204020204" pitchFamily="34" charset="-122"/>
                    <a:ea typeface="Microsoft YaHei UI" panose="020B0503020204020204" pitchFamily="34" charset="-122"/>
                  </a:rPr>
                  <a:t>PID</a:t>
                </a:r>
                <a:r>
                  <a:rPr lang="zh-CN" altLang="en-US" sz="1600" dirty="0">
                    <a:solidFill>
                      <a:srgbClr val="FF0000"/>
                    </a:solidFill>
                    <a:latin typeface="Microsoft YaHei UI" panose="020B0503020204020204" pitchFamily="34" charset="-122"/>
                    <a:ea typeface="Microsoft YaHei UI" panose="020B0503020204020204" pitchFamily="34" charset="-122"/>
                  </a:rPr>
                  <a:t>控制算法，适合的是线性系统</a:t>
                </a:r>
                <a:endParaRPr lang="en-US" altLang="zh-CN" sz="1600" dirty="0">
                  <a:solidFill>
                    <a:srgbClr val="FF0000"/>
                  </a:solidFill>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solidFill>
                    <a:srgbClr val="FF0000"/>
                  </a:solidFill>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对于电机系统，我们想要的是角速度</a:t>
                </a:r>
                <a:r>
                  <a:rPr lang="en-US" altLang="zh-CN" sz="1600" dirty="0">
                    <a:latin typeface="Microsoft YaHei UI" panose="020B0503020204020204" pitchFamily="34" charset="-122"/>
                    <a:ea typeface="Microsoft YaHei UI" panose="020B0503020204020204" pitchFamily="34" charset="-122"/>
                  </a:rPr>
                  <a:t>ω</a:t>
                </a:r>
                <a:r>
                  <a:rPr lang="zh-CN" altLang="en-US" sz="1600" dirty="0">
                    <a:latin typeface="Microsoft YaHei UI" panose="020B0503020204020204" pitchFamily="34" charset="-122"/>
                    <a:ea typeface="Microsoft YaHei UI" panose="020B0503020204020204" pitchFamily="34" charset="-122"/>
                  </a:rPr>
                  <a:t>或者角度</a:t>
                </a:r>
                <a:r>
                  <a:rPr lang="en-US" altLang="zh-CN" sz="1600" dirty="0">
                    <a:latin typeface="Microsoft YaHei UI" panose="020B0503020204020204" pitchFamily="34" charset="-122"/>
                    <a:ea typeface="Microsoft YaHei UI" panose="020B0503020204020204" pitchFamily="34" charset="-122"/>
                  </a:rPr>
                  <a:t>a</a:t>
                </a:r>
                <a:r>
                  <a:rPr lang="zh-CN" altLang="en-US" sz="1600" dirty="0">
                    <a:latin typeface="Microsoft YaHei UI" panose="020B0503020204020204" pitchFamily="34" charset="-122"/>
                    <a:ea typeface="Microsoft YaHei UI" panose="020B0503020204020204" pitchFamily="34" charset="-122"/>
                  </a:rPr>
                  <a:t>，控制的是电机的扭矩</a:t>
                </a:r>
                <a:r>
                  <a:rPr lang="en-US" altLang="zh-CN" sz="1600" dirty="0">
                    <a:latin typeface="Microsoft YaHei UI" panose="020B0503020204020204" pitchFamily="34" charset="-122"/>
                    <a:ea typeface="Microsoft YaHei UI" panose="020B0503020204020204" pitchFamily="34" charset="-122"/>
                  </a:rPr>
                  <a:t>T</a:t>
                </a: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对于一个机械结构，我们一般默认它的转动惯量固定（形象理解，扭矩对应转动惯量</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角加速度，好比力对应质量</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加速度）</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假设该系统绝对丝滑，也就是</a:t>
                </a:r>
                <a:r>
                  <a:rPr lang="zh-CN" altLang="en-US" sz="1600" dirty="0">
                    <a:highlight>
                      <a:srgbClr val="FFFF00"/>
                    </a:highlight>
                    <a:latin typeface="Microsoft YaHei UI" panose="020B0503020204020204" pitchFamily="34" charset="-122"/>
                    <a:ea typeface="Microsoft YaHei UI" panose="020B0503020204020204" pitchFamily="34" charset="-122"/>
                  </a:rPr>
                  <a:t>忽略阻力</a:t>
                </a: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因此扭矩</a:t>
                </a:r>
                <a:r>
                  <a:rPr lang="en-US" altLang="zh-CN" sz="1600" dirty="0">
                    <a:latin typeface="Microsoft YaHei UI" panose="020B0503020204020204" pitchFamily="34" charset="-122"/>
                    <a:ea typeface="Microsoft YaHei UI" panose="020B0503020204020204" pitchFamily="34" charset="-122"/>
                  </a:rPr>
                  <a:t>T</a:t>
                </a:r>
                <a:r>
                  <a:rPr lang="zh-CN" altLang="en-US" sz="1600" dirty="0">
                    <a:latin typeface="Microsoft YaHei UI" panose="020B0503020204020204" pitchFamily="34" charset="-122"/>
                    <a:ea typeface="Microsoft YaHei UI" panose="020B0503020204020204" pitchFamily="34" charset="-122"/>
                  </a:rPr>
                  <a:t>和角加速度</a:t>
                </a:r>
                <a:r>
                  <a:rPr lang="en-US" altLang="zh-CN" sz="1600" dirty="0">
                    <a:latin typeface="Microsoft YaHei UI" panose="020B0503020204020204" pitchFamily="34" charset="-122"/>
                    <a:ea typeface="Microsoft YaHei UI" panose="020B0503020204020204" pitchFamily="34" charset="-122"/>
                  </a:rPr>
                  <a:t>α</a:t>
                </a:r>
                <a:r>
                  <a:rPr lang="zh-CN" altLang="en-US" sz="1600" dirty="0">
                    <a:latin typeface="Microsoft YaHei UI" panose="020B0503020204020204" pitchFamily="34" charset="-122"/>
                    <a:ea typeface="Microsoft YaHei UI" panose="020B0503020204020204" pitchFamily="34" charset="-122"/>
                  </a:rPr>
                  <a:t>是正比关系，我们控制的也可以近似理解是角加速度</a:t>
                </a:r>
                <a:r>
                  <a:rPr lang="en-US" altLang="zh-CN" sz="1600" dirty="0">
                    <a:latin typeface="Microsoft YaHei UI" panose="020B0503020204020204" pitchFamily="34" charset="-122"/>
                    <a:ea typeface="Microsoft YaHei UI" panose="020B0503020204020204" pitchFamily="34" charset="-122"/>
                  </a:rPr>
                  <a:t>α</a:t>
                </a: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而角加速度</a:t>
                </a:r>
                <a:r>
                  <a:rPr lang="en-US" altLang="zh-CN" sz="1600" dirty="0">
                    <a:latin typeface="Microsoft YaHei UI" panose="020B0503020204020204" pitchFamily="34" charset="-122"/>
                    <a:ea typeface="Microsoft YaHei UI" panose="020B0503020204020204" pitchFamily="34" charset="-122"/>
                  </a:rPr>
                  <a:t>α</a:t>
                </a:r>
                <a:r>
                  <a:rPr lang="zh-CN" altLang="en-US" sz="1600" dirty="0">
                    <a:solidFill>
                      <a:srgbClr val="FF0000"/>
                    </a:solidFill>
                    <a:latin typeface="Microsoft YaHei UI" panose="020B0503020204020204" pitchFamily="34" charset="-122"/>
                    <a:ea typeface="Microsoft YaHei UI" panose="020B0503020204020204" pitchFamily="34" charset="-122"/>
                  </a:rPr>
                  <a:t>积分</a:t>
                </a:r>
                <a:r>
                  <a:rPr lang="zh-CN" altLang="en-US" sz="1600" dirty="0">
                    <a:latin typeface="Microsoft YaHei UI" panose="020B0503020204020204" pitchFamily="34" charset="-122"/>
                    <a:ea typeface="Microsoft YaHei UI" panose="020B0503020204020204" pitchFamily="34" charset="-122"/>
                  </a:rPr>
                  <a:t>就是角速度</a:t>
                </a:r>
                <a:r>
                  <a:rPr lang="en-US" altLang="zh-CN" sz="1600" dirty="0">
                    <a:latin typeface="Microsoft YaHei UI" panose="020B0503020204020204" pitchFamily="34" charset="-122"/>
                    <a:ea typeface="Microsoft YaHei UI" panose="020B0503020204020204" pitchFamily="34" charset="-122"/>
                  </a:rPr>
                  <a:t>ω</a:t>
                </a:r>
                <a:r>
                  <a:rPr lang="zh-CN" altLang="en-US" sz="1600" dirty="0">
                    <a:latin typeface="Microsoft YaHei UI" panose="020B0503020204020204" pitchFamily="34" charset="-122"/>
                    <a:ea typeface="Microsoft YaHei UI" panose="020B0503020204020204" pitchFamily="34" charset="-122"/>
                  </a:rPr>
                  <a:t>，角速度</a:t>
                </a:r>
                <a:r>
                  <a:rPr lang="en-US" altLang="zh-CN" sz="1600" dirty="0">
                    <a:latin typeface="Microsoft YaHei UI" panose="020B0503020204020204" pitchFamily="34" charset="-122"/>
                    <a:ea typeface="Microsoft YaHei UI" panose="020B0503020204020204" pitchFamily="34" charset="-122"/>
                  </a:rPr>
                  <a:t>ω</a:t>
                </a:r>
                <a:r>
                  <a:rPr lang="zh-CN" altLang="en-US" sz="1600" dirty="0">
                    <a:solidFill>
                      <a:srgbClr val="FF0000"/>
                    </a:solidFill>
                    <a:latin typeface="Microsoft YaHei UI" panose="020B0503020204020204" pitchFamily="34" charset="-122"/>
                    <a:ea typeface="Microsoft YaHei UI" panose="020B0503020204020204" pitchFamily="34" charset="-122"/>
                  </a:rPr>
                  <a:t>积分</a:t>
                </a:r>
                <a:r>
                  <a:rPr lang="zh-CN" altLang="en-US" sz="1600" dirty="0">
                    <a:latin typeface="Microsoft YaHei UI" panose="020B0503020204020204" pitchFamily="34" charset="-122"/>
                    <a:ea typeface="Microsoft YaHei UI" panose="020B0503020204020204" pitchFamily="34" charset="-122"/>
                  </a:rPr>
                  <a:t>就是角度</a:t>
                </a:r>
                <a:r>
                  <a:rPr lang="en-US" altLang="zh-CN" sz="1600" dirty="0">
                    <a:latin typeface="Microsoft YaHei UI" panose="020B0503020204020204" pitchFamily="34" charset="-122"/>
                    <a:ea typeface="Microsoft YaHei UI" panose="020B0503020204020204" pitchFamily="34" charset="-122"/>
                  </a:rPr>
                  <a:t>a</a:t>
                </a: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众所周知，</a:t>
                </a:r>
                <a14:m>
                  <m:oMath xmlns:m="http://schemas.openxmlformats.org/officeDocument/2006/math">
                    <m:sSub>
                      <m:sSubPr>
                        <m:ctrlPr>
                          <a:rPr lang="en-US" altLang="zh-CN" sz="1600" b="0" i="1" smtClean="0">
                            <a:latin typeface="Cambria Math" panose="02040503050406030204" pitchFamily="18" charset="0"/>
                            <a:ea typeface="Microsoft YaHei UI" panose="020B0503020204020204" pitchFamily="34" charset="-122"/>
                          </a:rPr>
                        </m:ctrlPr>
                      </m:sSubPr>
                      <m:e>
                        <m:nary>
                          <m:naryPr>
                            <m:ctrlPr>
                              <a:rPr lang="en-US" altLang="zh-CN" sz="1600" i="1">
                                <a:latin typeface="Cambria Math" panose="02040503050406030204" pitchFamily="18" charset="0"/>
                                <a:ea typeface="Microsoft YaHei UI" panose="020B0503020204020204" pitchFamily="34" charset="-122"/>
                              </a:rPr>
                            </m:ctrlPr>
                          </m:naryPr>
                          <m:sub>
                            <m:r>
                              <m:rPr>
                                <m:brk m:alnAt="23"/>
                              </m:rPr>
                              <a:rPr lang="en-US" altLang="zh-CN" sz="1600" i="1">
                                <a:latin typeface="Cambria Math" panose="02040503050406030204" pitchFamily="18" charset="0"/>
                                <a:ea typeface="Microsoft YaHei UI" panose="020B0503020204020204" pitchFamily="34" charset="-122"/>
                              </a:rPr>
                              <m:t>0</m:t>
                            </m:r>
                          </m:sub>
                          <m:sup>
                            <m:r>
                              <m:rPr>
                                <m:sty m:val="p"/>
                              </m:rPr>
                              <a:rPr lang="en-US" altLang="zh-CN" sz="1600" i="1">
                                <a:latin typeface="Cambria Math" panose="02040503050406030204" pitchFamily="18" charset="0"/>
                                <a:ea typeface="Microsoft YaHei UI" panose="020B0503020204020204" pitchFamily="34" charset="-122"/>
                              </a:rPr>
                              <m:t>t</m:t>
                            </m:r>
                          </m:sup>
                          <m:e>
                            <m:sSub>
                              <m:sSubPr>
                                <m:ctrlPr>
                                  <a:rPr lang="en-US" altLang="zh-CN" sz="1600" i="1">
                                    <a:latin typeface="Cambria Math" panose="02040503050406030204" pitchFamily="18" charset="0"/>
                                    <a:ea typeface="Microsoft YaHei UI" panose="020B0503020204020204" pitchFamily="34" charset="-122"/>
                                  </a:rPr>
                                </m:ctrlPr>
                              </m:sSubPr>
                              <m:e>
                                <m:sSub>
                                  <m:sSubPr>
                                    <m:ctrlPr>
                                      <a:rPr lang="en-US" altLang="zh-CN" sz="1600" i="1">
                                        <a:latin typeface="Cambria Math" panose="02040503050406030204" pitchFamily="18" charset="0"/>
                                        <a:ea typeface="Microsoft YaHei UI" panose="020B0503020204020204" pitchFamily="34" charset="-122"/>
                                      </a:rPr>
                                    </m:ctrlPr>
                                  </m:sSubPr>
                                  <m:e>
                                    <m:r>
                                      <a:rPr lang="en-US" altLang="zh-CN" sz="1600" i="1">
                                        <a:latin typeface="Cambria Math" panose="02040503050406030204" pitchFamily="18" charset="0"/>
                                        <a:ea typeface="Microsoft YaHei UI" panose="020B0503020204020204" pitchFamily="34" charset="-122"/>
                                      </a:rPr>
                                      <m:t>𝑎</m:t>
                                    </m:r>
                                  </m:e>
                                  <m:sub>
                                    <m:r>
                                      <a:rPr lang="en-US" altLang="zh-CN" sz="1600" i="1">
                                        <a:latin typeface="Cambria Math" panose="02040503050406030204" pitchFamily="18" charset="0"/>
                                        <a:ea typeface="Microsoft YaHei UI" panose="020B0503020204020204" pitchFamily="34" charset="-122"/>
                                      </a:rPr>
                                      <m:t>1</m:t>
                                    </m:r>
                                  </m:sub>
                                </m:sSub>
                                <m:r>
                                  <a:rPr lang="en-US" altLang="zh-CN" sz="1600" i="1">
                                    <a:latin typeface="Cambria Math" panose="02040503050406030204" pitchFamily="18" charset="0"/>
                                    <a:ea typeface="Microsoft YaHei UI" panose="020B0503020204020204" pitchFamily="34" charset="-122"/>
                                  </a:rPr>
                                  <m:t>𝑓</m:t>
                                </m:r>
                              </m:e>
                              <m:sub>
                                <m:r>
                                  <a:rPr lang="en-US" altLang="zh-CN" sz="1600" i="1">
                                    <a:latin typeface="Cambria Math" panose="02040503050406030204" pitchFamily="18" charset="0"/>
                                    <a:ea typeface="Microsoft YaHei UI" panose="020B0503020204020204" pitchFamily="34" charset="-122"/>
                                  </a:rPr>
                                  <m:t>1</m:t>
                                </m:r>
                              </m:sub>
                            </m:sSub>
                            <m:d>
                              <m:dPr>
                                <m:ctrlPr>
                                  <a:rPr lang="en-US" altLang="zh-CN" sz="1600" i="1">
                                    <a:latin typeface="Cambria Math" panose="02040503050406030204" pitchFamily="18" charset="0"/>
                                    <a:ea typeface="Microsoft YaHei UI" panose="020B0503020204020204" pitchFamily="34" charset="-122"/>
                                  </a:rPr>
                                </m:ctrlPr>
                              </m:dPr>
                              <m:e>
                                <m:r>
                                  <a:rPr lang="en-US" altLang="zh-CN" sz="1600" i="1">
                                    <a:latin typeface="Cambria Math" panose="02040503050406030204" pitchFamily="18" charset="0"/>
                                    <a:ea typeface="Microsoft YaHei UI" panose="020B0503020204020204" pitchFamily="34" charset="-122"/>
                                  </a:rPr>
                                  <m:t>𝑥</m:t>
                                </m:r>
                              </m:e>
                            </m:d>
                            <m:r>
                              <a:rPr lang="en-US" altLang="zh-CN" sz="1600" b="0" i="1" smtClean="0">
                                <a:latin typeface="Cambria Math" panose="02040503050406030204" pitchFamily="18" charset="0"/>
                                <a:ea typeface="Microsoft YaHei UI" panose="020B0503020204020204" pitchFamily="34" charset="-122"/>
                              </a:rPr>
                              <m:t>+</m:t>
                            </m:r>
                            <m:sSub>
                              <m:sSubPr>
                                <m:ctrlPr>
                                  <a:rPr lang="en-US" altLang="zh-CN" sz="1600" i="1">
                                    <a:latin typeface="Cambria Math" panose="02040503050406030204" pitchFamily="18" charset="0"/>
                                    <a:ea typeface="Microsoft YaHei UI" panose="020B0503020204020204" pitchFamily="34" charset="-122"/>
                                  </a:rPr>
                                </m:ctrlPr>
                              </m:sSubPr>
                              <m:e>
                                <m:sSub>
                                  <m:sSubPr>
                                    <m:ctrlPr>
                                      <a:rPr lang="en-US" altLang="zh-CN" sz="1600" i="1">
                                        <a:latin typeface="Cambria Math" panose="02040503050406030204" pitchFamily="18" charset="0"/>
                                        <a:ea typeface="Microsoft YaHei UI" panose="020B0503020204020204" pitchFamily="34" charset="-122"/>
                                      </a:rPr>
                                    </m:ctrlPr>
                                  </m:sSubPr>
                                  <m:e>
                                    <m:r>
                                      <a:rPr lang="en-US" altLang="zh-CN" sz="1600" i="1">
                                        <a:latin typeface="Cambria Math" panose="02040503050406030204" pitchFamily="18" charset="0"/>
                                        <a:ea typeface="Microsoft YaHei UI" panose="020B0503020204020204" pitchFamily="34" charset="-122"/>
                                      </a:rPr>
                                      <m:t>𝑎</m:t>
                                    </m:r>
                                  </m:e>
                                  <m:sub>
                                    <m:r>
                                      <a:rPr lang="en-US" altLang="zh-CN" sz="1600" b="0" i="1" smtClean="0">
                                        <a:latin typeface="Cambria Math" panose="02040503050406030204" pitchFamily="18" charset="0"/>
                                        <a:ea typeface="Microsoft YaHei UI" panose="020B0503020204020204" pitchFamily="34" charset="-122"/>
                                      </a:rPr>
                                      <m:t>2</m:t>
                                    </m:r>
                                  </m:sub>
                                </m:sSub>
                                <m:r>
                                  <a:rPr lang="en-US" altLang="zh-CN" sz="1600" i="1">
                                    <a:latin typeface="Cambria Math" panose="02040503050406030204" pitchFamily="18" charset="0"/>
                                    <a:ea typeface="Microsoft YaHei UI" panose="020B0503020204020204" pitchFamily="34" charset="-122"/>
                                  </a:rPr>
                                  <m:t>𝑓</m:t>
                                </m:r>
                              </m:e>
                              <m:sub>
                                <m:r>
                                  <a:rPr lang="en-US" altLang="zh-CN" sz="1600" b="0" i="1" smtClean="0">
                                    <a:latin typeface="Cambria Math" panose="02040503050406030204" pitchFamily="18" charset="0"/>
                                    <a:ea typeface="Microsoft YaHei UI" panose="020B0503020204020204" pitchFamily="34" charset="-122"/>
                                  </a:rPr>
                                  <m:t>2</m:t>
                                </m:r>
                              </m:sub>
                            </m:sSub>
                            <m:d>
                              <m:dPr>
                                <m:ctrlPr>
                                  <a:rPr lang="en-US" altLang="zh-CN" sz="1600" i="1">
                                    <a:latin typeface="Cambria Math" panose="02040503050406030204" pitchFamily="18" charset="0"/>
                                    <a:ea typeface="Microsoft YaHei UI" panose="020B0503020204020204" pitchFamily="34" charset="-122"/>
                                  </a:rPr>
                                </m:ctrlPr>
                              </m:dPr>
                              <m:e>
                                <m:r>
                                  <a:rPr lang="en-US" altLang="zh-CN" sz="1600" i="1">
                                    <a:latin typeface="Cambria Math" panose="02040503050406030204" pitchFamily="18" charset="0"/>
                                    <a:ea typeface="Microsoft YaHei UI" panose="020B0503020204020204" pitchFamily="34" charset="-122"/>
                                  </a:rPr>
                                  <m:t>𝑥</m:t>
                                </m:r>
                              </m:e>
                            </m:d>
                            <m:r>
                              <a:rPr lang="en-US" altLang="zh-CN" sz="1600" i="1">
                                <a:latin typeface="Cambria Math" panose="02040503050406030204" pitchFamily="18" charset="0"/>
                                <a:ea typeface="Microsoft YaHei UI" panose="020B0503020204020204" pitchFamily="34" charset="-122"/>
                              </a:rPr>
                              <m:t>𝑑𝑥</m:t>
                            </m:r>
                          </m:e>
                        </m:nary>
                        <m:r>
                          <a:rPr lang="en-US" altLang="zh-CN" sz="1600" b="0" i="1" smtClean="0">
                            <a:latin typeface="Cambria Math" panose="02040503050406030204" pitchFamily="18" charset="0"/>
                            <a:ea typeface="Microsoft YaHei UI" panose="020B0503020204020204" pitchFamily="34" charset="-122"/>
                          </a:rPr>
                          <m:t>=</m:t>
                        </m:r>
                        <m:r>
                          <a:rPr lang="en-US" altLang="zh-CN" sz="1600" b="0" i="1" smtClean="0">
                            <a:latin typeface="Cambria Math" panose="02040503050406030204" pitchFamily="18" charset="0"/>
                            <a:ea typeface="Microsoft YaHei UI" panose="020B0503020204020204" pitchFamily="34" charset="-122"/>
                          </a:rPr>
                          <m:t>𝑎</m:t>
                        </m:r>
                      </m:e>
                      <m:sub>
                        <m:r>
                          <a:rPr lang="en-US" altLang="zh-CN" sz="1600" b="0" i="1" smtClean="0">
                            <a:latin typeface="Cambria Math" panose="02040503050406030204" pitchFamily="18" charset="0"/>
                            <a:ea typeface="Microsoft YaHei UI" panose="020B0503020204020204" pitchFamily="34" charset="-122"/>
                          </a:rPr>
                          <m:t>1</m:t>
                        </m:r>
                      </m:sub>
                    </m:sSub>
                    <m:nary>
                      <m:naryPr>
                        <m:ctrlPr>
                          <a:rPr lang="en-US" altLang="zh-CN" sz="1600" i="1" smtClean="0">
                            <a:latin typeface="Cambria Math" panose="02040503050406030204" pitchFamily="18" charset="0"/>
                            <a:ea typeface="Microsoft YaHei UI" panose="020B0503020204020204" pitchFamily="34" charset="-122"/>
                          </a:rPr>
                        </m:ctrlPr>
                      </m:naryPr>
                      <m:sub>
                        <m:r>
                          <m:rPr>
                            <m:brk m:alnAt="23"/>
                          </m:rPr>
                          <a:rPr lang="en-US" altLang="zh-CN" sz="1600" b="0" i="1" smtClean="0">
                            <a:latin typeface="Cambria Math" panose="02040503050406030204" pitchFamily="18" charset="0"/>
                            <a:ea typeface="Microsoft YaHei UI" panose="020B0503020204020204" pitchFamily="34" charset="-122"/>
                          </a:rPr>
                          <m:t>0</m:t>
                        </m:r>
                      </m:sub>
                      <m:sup>
                        <m:r>
                          <m:rPr>
                            <m:sty m:val="p"/>
                          </m:rPr>
                          <a:rPr lang="en-US" altLang="zh-CN" sz="1600" i="1">
                            <a:latin typeface="Cambria Math" panose="02040503050406030204" pitchFamily="18" charset="0"/>
                            <a:ea typeface="Microsoft YaHei UI" panose="020B0503020204020204" pitchFamily="34" charset="-122"/>
                          </a:rPr>
                          <m:t>t</m:t>
                        </m:r>
                      </m:sup>
                      <m:e>
                        <m:sSub>
                          <m:sSubPr>
                            <m:ctrlPr>
                              <a:rPr lang="en-US" altLang="zh-CN" sz="1600" i="1" smtClean="0">
                                <a:latin typeface="Cambria Math" panose="02040503050406030204" pitchFamily="18" charset="0"/>
                                <a:ea typeface="Microsoft YaHei UI" panose="020B0503020204020204" pitchFamily="34" charset="-122"/>
                              </a:rPr>
                            </m:ctrlPr>
                          </m:sSubPr>
                          <m:e>
                            <m:r>
                              <a:rPr lang="en-US" altLang="zh-CN" sz="1600" b="0" i="1" smtClean="0">
                                <a:latin typeface="Cambria Math" panose="02040503050406030204" pitchFamily="18" charset="0"/>
                                <a:ea typeface="Microsoft YaHei UI" panose="020B0503020204020204" pitchFamily="34" charset="-122"/>
                              </a:rPr>
                              <m:t>𝑓</m:t>
                            </m:r>
                          </m:e>
                          <m:sub>
                            <m:r>
                              <a:rPr lang="en-US" altLang="zh-CN" sz="1600" b="0" i="1" smtClean="0">
                                <a:latin typeface="Cambria Math" panose="02040503050406030204" pitchFamily="18" charset="0"/>
                                <a:ea typeface="Microsoft YaHei UI" panose="020B0503020204020204" pitchFamily="34" charset="-122"/>
                              </a:rPr>
                              <m:t>1</m:t>
                            </m:r>
                          </m:sub>
                        </m:sSub>
                        <m:d>
                          <m:dPr>
                            <m:ctrlPr>
                              <a:rPr lang="en-US" altLang="zh-CN" sz="1600" b="0" i="1" smtClean="0">
                                <a:latin typeface="Cambria Math" panose="02040503050406030204" pitchFamily="18" charset="0"/>
                                <a:ea typeface="Microsoft YaHei UI" panose="020B0503020204020204" pitchFamily="34" charset="-122"/>
                              </a:rPr>
                            </m:ctrlPr>
                          </m:dPr>
                          <m:e>
                            <m:r>
                              <a:rPr lang="en-US" altLang="zh-CN" sz="1600" b="0" i="1" smtClean="0">
                                <a:latin typeface="Cambria Math" panose="02040503050406030204" pitchFamily="18" charset="0"/>
                                <a:ea typeface="Microsoft YaHei UI" panose="020B0503020204020204" pitchFamily="34" charset="-122"/>
                              </a:rPr>
                              <m:t>𝑥</m:t>
                            </m:r>
                          </m:e>
                        </m:d>
                        <m:r>
                          <a:rPr lang="en-US" altLang="zh-CN" sz="1600" b="0" i="1" smtClean="0">
                            <a:latin typeface="Cambria Math" panose="02040503050406030204" pitchFamily="18" charset="0"/>
                            <a:ea typeface="Microsoft YaHei UI" panose="020B0503020204020204" pitchFamily="34" charset="-122"/>
                          </a:rPr>
                          <m:t>𝑑𝑥</m:t>
                        </m:r>
                        <m:r>
                          <a:rPr lang="en-US" altLang="zh-CN" sz="1600" b="0" i="1" smtClean="0">
                            <a:latin typeface="Cambria Math" panose="02040503050406030204" pitchFamily="18" charset="0"/>
                            <a:ea typeface="Microsoft YaHei UI" panose="020B0503020204020204" pitchFamily="34" charset="-122"/>
                          </a:rPr>
                          <m:t>+</m:t>
                        </m:r>
                        <m:sSub>
                          <m:sSubPr>
                            <m:ctrlPr>
                              <a:rPr lang="en-US" altLang="zh-CN" sz="1600" b="0" i="1" smtClean="0">
                                <a:latin typeface="Cambria Math" panose="02040503050406030204" pitchFamily="18" charset="0"/>
                                <a:ea typeface="Microsoft YaHei UI" panose="020B0503020204020204" pitchFamily="34" charset="-122"/>
                              </a:rPr>
                            </m:ctrlPr>
                          </m:sSubPr>
                          <m:e>
                            <m:r>
                              <a:rPr lang="en-US" altLang="zh-CN" sz="1600" b="0" i="1" smtClean="0">
                                <a:latin typeface="Cambria Math" panose="02040503050406030204" pitchFamily="18" charset="0"/>
                                <a:ea typeface="Microsoft YaHei UI" panose="020B0503020204020204" pitchFamily="34" charset="-122"/>
                              </a:rPr>
                              <m:t>𝑎</m:t>
                            </m:r>
                          </m:e>
                          <m:sub>
                            <m:r>
                              <a:rPr lang="en-US" altLang="zh-CN" sz="1600" b="0" i="1" smtClean="0">
                                <a:latin typeface="Cambria Math" panose="02040503050406030204" pitchFamily="18" charset="0"/>
                                <a:ea typeface="Microsoft YaHei UI" panose="020B0503020204020204" pitchFamily="34" charset="-122"/>
                              </a:rPr>
                              <m:t>2</m:t>
                            </m:r>
                          </m:sub>
                        </m:sSub>
                        <m:nary>
                          <m:naryPr>
                            <m:ctrlPr>
                              <a:rPr lang="en-US" altLang="zh-CN" sz="1600" i="1">
                                <a:latin typeface="Cambria Math" panose="02040503050406030204" pitchFamily="18" charset="0"/>
                                <a:ea typeface="Microsoft YaHei UI" panose="020B0503020204020204" pitchFamily="34" charset="-122"/>
                              </a:rPr>
                            </m:ctrlPr>
                          </m:naryPr>
                          <m:sub>
                            <m:r>
                              <m:rPr>
                                <m:brk m:alnAt="23"/>
                              </m:rPr>
                              <a:rPr lang="en-US" altLang="zh-CN" sz="1600" i="1">
                                <a:latin typeface="Cambria Math" panose="02040503050406030204" pitchFamily="18" charset="0"/>
                                <a:ea typeface="Microsoft YaHei UI" panose="020B0503020204020204" pitchFamily="34" charset="-122"/>
                              </a:rPr>
                              <m:t>0</m:t>
                            </m:r>
                          </m:sub>
                          <m:sup>
                            <m:r>
                              <m:rPr>
                                <m:sty m:val="p"/>
                              </m:rPr>
                              <a:rPr lang="en-US" altLang="zh-CN" sz="1600" i="1">
                                <a:latin typeface="Cambria Math" panose="02040503050406030204" pitchFamily="18" charset="0"/>
                                <a:ea typeface="Microsoft YaHei UI" panose="020B0503020204020204" pitchFamily="34" charset="-122"/>
                              </a:rPr>
                              <m:t>t</m:t>
                            </m:r>
                          </m:sup>
                          <m:e>
                            <m:sSub>
                              <m:sSubPr>
                                <m:ctrlPr>
                                  <a:rPr lang="en-US" altLang="zh-CN" sz="1600" i="1">
                                    <a:latin typeface="Cambria Math" panose="02040503050406030204" pitchFamily="18" charset="0"/>
                                    <a:ea typeface="Microsoft YaHei UI" panose="020B0503020204020204" pitchFamily="34" charset="-122"/>
                                  </a:rPr>
                                </m:ctrlPr>
                              </m:sSubPr>
                              <m:e>
                                <m:r>
                                  <a:rPr lang="en-US" altLang="zh-CN" sz="1600" i="1">
                                    <a:latin typeface="Cambria Math" panose="02040503050406030204" pitchFamily="18" charset="0"/>
                                    <a:ea typeface="Microsoft YaHei UI" panose="020B0503020204020204" pitchFamily="34" charset="-122"/>
                                  </a:rPr>
                                  <m:t>𝑓</m:t>
                                </m:r>
                              </m:e>
                              <m:sub>
                                <m:r>
                                  <a:rPr lang="en-US" altLang="zh-CN" sz="1600" b="0" i="1" smtClean="0">
                                    <a:latin typeface="Cambria Math" panose="02040503050406030204" pitchFamily="18" charset="0"/>
                                    <a:ea typeface="Microsoft YaHei UI" panose="020B0503020204020204" pitchFamily="34" charset="-122"/>
                                  </a:rPr>
                                  <m:t>2</m:t>
                                </m:r>
                              </m:sub>
                            </m:sSub>
                            <m:r>
                              <a:rPr lang="en-US" altLang="zh-CN" sz="1600" i="1">
                                <a:latin typeface="Cambria Math" panose="02040503050406030204" pitchFamily="18" charset="0"/>
                                <a:ea typeface="Microsoft YaHei UI" panose="020B0503020204020204" pitchFamily="34" charset="-122"/>
                              </a:rPr>
                              <m:t>(</m:t>
                            </m:r>
                            <m:r>
                              <a:rPr lang="en-US" altLang="zh-CN" sz="1600" i="1">
                                <a:latin typeface="Cambria Math" panose="02040503050406030204" pitchFamily="18" charset="0"/>
                                <a:ea typeface="Microsoft YaHei UI" panose="020B0503020204020204" pitchFamily="34" charset="-122"/>
                              </a:rPr>
                              <m:t>𝑥</m:t>
                            </m:r>
                            <m:r>
                              <a:rPr lang="en-US" altLang="zh-CN" sz="1600" i="1">
                                <a:latin typeface="Cambria Math" panose="02040503050406030204" pitchFamily="18" charset="0"/>
                                <a:ea typeface="Microsoft YaHei UI" panose="020B0503020204020204" pitchFamily="34" charset="-122"/>
                              </a:rPr>
                              <m:t>)</m:t>
                            </m:r>
                            <m:r>
                              <a:rPr lang="en-US" altLang="zh-CN" sz="1600" i="1">
                                <a:latin typeface="Cambria Math" panose="02040503050406030204" pitchFamily="18" charset="0"/>
                                <a:ea typeface="Microsoft YaHei UI" panose="020B0503020204020204" pitchFamily="34" charset="-122"/>
                              </a:rPr>
                              <m:t>𝑑𝑥</m:t>
                            </m:r>
                          </m:e>
                        </m:nary>
                      </m:e>
                    </m:nary>
                    <m:r>
                      <a:rPr lang="zh-CN" altLang="en-US" sz="1600" i="1">
                        <a:latin typeface="Cambria Math" panose="02040503050406030204" pitchFamily="18" charset="0"/>
                        <a:ea typeface="Microsoft YaHei UI" panose="020B0503020204020204" pitchFamily="34" charset="-122"/>
                      </a:rPr>
                      <m:t>，</m:t>
                    </m:r>
                  </m:oMath>
                </a14:m>
                <a:r>
                  <a:rPr lang="zh-CN" altLang="en-US" sz="1600" dirty="0">
                    <a:latin typeface="Microsoft YaHei UI" panose="020B0503020204020204" pitchFamily="34" charset="-122"/>
                    <a:ea typeface="Microsoft YaHei UI" panose="020B0503020204020204" pitchFamily="34" charset="-122"/>
                  </a:rPr>
                  <a:t>因此，</a:t>
                </a:r>
                <a:r>
                  <a:rPr lang="zh-CN" altLang="en-US" sz="1600" dirty="0">
                    <a:solidFill>
                      <a:srgbClr val="FF0000"/>
                    </a:solidFill>
                    <a:latin typeface="Microsoft YaHei UI" panose="020B0503020204020204" pitchFamily="34" charset="-122"/>
                    <a:ea typeface="Microsoft YaHei UI" panose="020B0503020204020204" pitchFamily="34" charset="-122"/>
                  </a:rPr>
                  <a:t>积分是线性系统</a:t>
                </a:r>
                <a:r>
                  <a:rPr lang="zh-CN" altLang="en-US" sz="1600" dirty="0">
                    <a:latin typeface="Microsoft YaHei UI" panose="020B0503020204020204" pitchFamily="34" charset="-122"/>
                    <a:ea typeface="Microsoft YaHei UI" panose="020B0503020204020204" pitchFamily="34" charset="-122"/>
                  </a:rPr>
                  <a:t>，所以一个丝滑的电机关节可以看作是线性系统</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对于功率系统，我们想要的是个小于一定值的功率，也就是超过一定值的功率我要限制到该值以下，我们控制的是电机的扭矩</a:t>
                </a:r>
                <a:r>
                  <a:rPr lang="en-US" altLang="zh-CN" sz="1600" dirty="0">
                    <a:latin typeface="Microsoft YaHei UI" panose="020B0503020204020204" pitchFamily="34" charset="-122"/>
                    <a:ea typeface="Microsoft YaHei UI" panose="020B0503020204020204" pitchFamily="34" charset="-122"/>
                  </a:rPr>
                  <a:t>T</a:t>
                </a: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显然，这不是个线性系统</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en-US" altLang="zh-CN" sz="1600" dirty="0">
                    <a:latin typeface="Microsoft YaHei UI" panose="020B0503020204020204" pitchFamily="34" charset="-122"/>
                    <a:ea typeface="Microsoft YaHei UI" panose="020B0503020204020204" pitchFamily="34" charset="-122"/>
                  </a:rPr>
                  <a:t>P = f(T, ω) = f(T, g(T))</a:t>
                </a:r>
              </a:p>
            </p:txBody>
          </p:sp>
        </mc:Choice>
        <mc:Fallback>
          <p:sp>
            <p:nvSpPr>
              <p:cNvPr id="5" name="文本框 4"/>
              <p:cNvSpPr txBox="1">
                <a:spLocks noRot="1" noChangeAspect="1" noMove="1" noResize="1" noEditPoints="1" noAdjustHandles="1" noChangeArrowheads="1" noChangeShapeType="1" noTextEdit="1"/>
              </p:cNvSpPr>
              <p:nvPr/>
            </p:nvSpPr>
            <p:spPr>
              <a:xfrm>
                <a:off x="581192" y="1550046"/>
                <a:ext cx="11029616" cy="4973606"/>
              </a:xfrm>
              <a:prstGeom prst="rect">
                <a:avLst/>
              </a:prstGeom>
              <a:blipFill>
                <a:blip r:embed="rId3"/>
                <a:stretch>
                  <a:fillRect l="-221" b="-6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220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a:t>
            </a:r>
            <a:r>
              <a:rPr lang="zh-CN" altLang="en-US" sz="4000" cap="none" dirty="0"/>
              <a:t> 重新审视线性系统与前馈</a:t>
            </a:r>
          </a:p>
        </p:txBody>
      </p:sp>
      <p:sp>
        <p:nvSpPr>
          <p:cNvPr id="5" name="文本框 4"/>
          <p:cNvSpPr txBox="1"/>
          <p:nvPr/>
        </p:nvSpPr>
        <p:spPr>
          <a:xfrm>
            <a:off x="581192" y="1550046"/>
            <a:ext cx="11029616" cy="4542847"/>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对于一个非线性系统，我们要做的就是一定程度上</a:t>
            </a:r>
            <a:r>
              <a:rPr lang="zh-CN" altLang="en-US" sz="1600" dirty="0">
                <a:solidFill>
                  <a:srgbClr val="FF0000"/>
                </a:solidFill>
                <a:latin typeface="Microsoft YaHei UI" panose="020B0503020204020204" pitchFamily="34" charset="-122"/>
                <a:ea typeface="Microsoft YaHei UI" panose="020B0503020204020204" pitchFamily="34" charset="-122"/>
              </a:rPr>
              <a:t>将非线性系统进行线性化</a:t>
            </a:r>
            <a:r>
              <a:rPr lang="zh-CN" altLang="en-US" sz="1600" dirty="0">
                <a:latin typeface="Microsoft YaHei UI" panose="020B0503020204020204" pitchFamily="34" charset="-122"/>
                <a:ea typeface="Microsoft YaHei UI" panose="020B0503020204020204" pitchFamily="34" charset="-122"/>
              </a:rPr>
              <a:t>，进而对系统进行控制</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上一页提到的电机系统是理想的，我们忽略了阻力</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而对于实际情况，电机是不可避免拥有一定阻力的。我们上一节第二个前馈干的事情就是给阻力进行建模并把阻力加到前馈上。这就是线性化的思想</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solidFill>
                  <a:srgbClr val="FF0000"/>
                </a:solidFill>
                <a:latin typeface="Microsoft YaHei UI" panose="020B0503020204020204" pitchFamily="34" charset="-122"/>
                <a:ea typeface="Microsoft YaHei UI" panose="020B0503020204020204" pitchFamily="34" charset="-122"/>
              </a:rPr>
              <a:t>“你的控制系统有些非线性，但你设计的前馈刚好弥补了这一部分”</a:t>
            </a:r>
            <a:endParaRPr lang="en-US" altLang="zh-CN" sz="1600" dirty="0">
              <a:solidFill>
                <a:srgbClr val="FF0000"/>
              </a:solidFill>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说白了，当你不依靠</a:t>
            </a:r>
            <a:r>
              <a:rPr lang="en-US" altLang="zh-CN" sz="1600" dirty="0">
                <a:latin typeface="Microsoft YaHei UI" panose="020B0503020204020204" pitchFamily="34" charset="-122"/>
                <a:ea typeface="Microsoft YaHei UI" panose="020B0503020204020204" pitchFamily="34" charset="-122"/>
              </a:rPr>
              <a:t>PID</a:t>
            </a:r>
            <a:r>
              <a:rPr lang="zh-CN" altLang="en-US" sz="1600" dirty="0">
                <a:latin typeface="Microsoft YaHei UI" panose="020B0503020204020204" pitchFamily="34" charset="-122"/>
                <a:ea typeface="Microsoft YaHei UI" panose="020B0503020204020204" pitchFamily="34" charset="-122"/>
              </a:rPr>
              <a:t>的反馈控制，只通过开环输出一个值，就能在一定程度上跟上目标值，这时候</a:t>
            </a:r>
            <a:r>
              <a:rPr lang="en-US" altLang="zh-CN" sz="1600" dirty="0">
                <a:latin typeface="Microsoft YaHei UI" panose="020B0503020204020204" pitchFamily="34" charset="-122"/>
                <a:ea typeface="Microsoft YaHei UI" panose="020B0503020204020204" pitchFamily="34" charset="-122"/>
              </a:rPr>
              <a:t>error</a:t>
            </a:r>
            <a:r>
              <a:rPr lang="zh-CN" altLang="en-US" sz="1600" dirty="0">
                <a:latin typeface="Microsoft YaHei UI" panose="020B0503020204020204" pitchFamily="34" charset="-122"/>
                <a:ea typeface="Microsoft YaHei UI" panose="020B0503020204020204" pitchFamily="34" charset="-122"/>
              </a:rPr>
              <a:t>会变得很小很小。我们只需要对这个比较小的</a:t>
            </a:r>
            <a:r>
              <a:rPr lang="en-US" altLang="zh-CN" sz="1600" dirty="0">
                <a:latin typeface="Microsoft YaHei UI" panose="020B0503020204020204" pitchFamily="34" charset="-122"/>
                <a:ea typeface="Microsoft YaHei UI" panose="020B0503020204020204" pitchFamily="34" charset="-122"/>
              </a:rPr>
              <a:t>error</a:t>
            </a:r>
            <a:r>
              <a:rPr lang="zh-CN" altLang="en-US" sz="1600" dirty="0">
                <a:latin typeface="Microsoft YaHei UI" panose="020B0503020204020204" pitchFamily="34" charset="-122"/>
                <a:ea typeface="Microsoft YaHei UI" panose="020B0503020204020204" pitchFamily="34" charset="-122"/>
              </a:rPr>
              <a:t>进行跟随就可以了</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众所周知，现实中宏观物理的模型绝大多数都是连续可导的，而</a:t>
            </a:r>
            <a:r>
              <a:rPr lang="en-US" altLang="zh-CN" sz="1600" dirty="0">
                <a:latin typeface="Microsoft YaHei UI" panose="020B0503020204020204" pitchFamily="34" charset="-122"/>
                <a:ea typeface="Microsoft YaHei UI" panose="020B0503020204020204" pitchFamily="34" charset="-122"/>
              </a:rPr>
              <a:t>error-&gt;0</a:t>
            </a:r>
            <a:r>
              <a:rPr lang="zh-CN" altLang="en-US" sz="1600" dirty="0">
                <a:latin typeface="Microsoft YaHei UI" panose="020B0503020204020204" pitchFamily="34" charset="-122"/>
                <a:ea typeface="Microsoft YaHei UI" panose="020B0503020204020204" pitchFamily="34" charset="-122"/>
              </a:rPr>
              <a:t>意味着控制系统</a:t>
            </a:r>
            <a:r>
              <a:rPr lang="en-US" altLang="zh-CN" sz="1600" dirty="0">
                <a:latin typeface="Microsoft YaHei UI" panose="020B0503020204020204" pitchFamily="34" charset="-122"/>
                <a:ea typeface="Microsoft YaHei UI" panose="020B0503020204020204" pitchFamily="34" charset="-122"/>
              </a:rPr>
              <a:t>f(error)</a:t>
            </a:r>
            <a:r>
              <a:rPr lang="zh-CN" altLang="en-US" sz="1600" dirty="0">
                <a:latin typeface="Microsoft YaHei UI" panose="020B0503020204020204" pitchFamily="34" charset="-122"/>
                <a:ea typeface="Microsoft YaHei UI" panose="020B0503020204020204" pitchFamily="34" charset="-122"/>
              </a:rPr>
              <a:t>可以被局部线性化，这就意味着系统的可控性大大增加</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而对于功率控制系统，如果我们利用底盘和电机的特点，巧妙地设计一种前馈，在不引入反馈控制情况下就可以差不多限制住最大功率，那么再辅以上若干页的那种</a:t>
            </a:r>
            <a:r>
              <a:rPr lang="en-US" altLang="zh-CN" sz="1600" dirty="0">
                <a:latin typeface="Microsoft YaHei UI" panose="020B0503020204020204" pitchFamily="34" charset="-122"/>
                <a:ea typeface="Microsoft YaHei UI" panose="020B0503020204020204" pitchFamily="34" charset="-122"/>
              </a:rPr>
              <a:t>PID</a:t>
            </a:r>
            <a:r>
              <a:rPr lang="zh-CN" altLang="en-US" sz="1600" dirty="0">
                <a:latin typeface="Microsoft YaHei UI" panose="020B0503020204020204" pitchFamily="34" charset="-122"/>
                <a:ea typeface="Microsoft YaHei UI" panose="020B0503020204020204" pitchFamily="34" charset="-122"/>
              </a:rPr>
              <a:t>算法，就能做到很好的功率控制了</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2468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 </a:t>
            </a:r>
            <a:r>
              <a:rPr lang="zh-CN" altLang="en-US" sz="4000" cap="none" dirty="0"/>
              <a:t>功率控制算法的设计</a:t>
            </a:r>
          </a:p>
        </p:txBody>
      </p:sp>
      <p:sp>
        <p:nvSpPr>
          <p:cNvPr id="5" name="文本框 4"/>
          <p:cNvSpPr txBox="1"/>
          <p:nvPr/>
        </p:nvSpPr>
        <p:spPr>
          <a:xfrm>
            <a:off x="581192" y="1550046"/>
            <a:ext cx="11029616" cy="701795"/>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功率控制算法流程图大致如下</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下几节，我们将对下侧那两个系统分别进行分析与设计</a:t>
            </a:r>
            <a:endParaRPr lang="en-US" altLang="zh-CN" sz="1600" dirty="0">
              <a:latin typeface="Microsoft YaHei UI" panose="020B0503020204020204" pitchFamily="34" charset="-122"/>
              <a:ea typeface="Microsoft YaHei UI" panose="020B0503020204020204" pitchFamily="34" charset="-122"/>
            </a:endParaRPr>
          </a:p>
        </p:txBody>
      </p:sp>
      <p:pic>
        <p:nvPicPr>
          <p:cNvPr id="4" name="图片 3">
            <a:extLst>
              <a:ext uri="{FF2B5EF4-FFF2-40B4-BE49-F238E27FC236}">
                <a16:creationId xmlns:a16="http://schemas.microsoft.com/office/drawing/2014/main" id="{E5D8DC2B-26BF-4C9D-AE19-10EED02CD964}"/>
              </a:ext>
            </a:extLst>
          </p:cNvPr>
          <p:cNvPicPr>
            <a:picLocks noChangeAspect="1"/>
          </p:cNvPicPr>
          <p:nvPr/>
        </p:nvPicPr>
        <p:blipFill>
          <a:blip r:embed="rId3"/>
          <a:stretch>
            <a:fillRect/>
          </a:stretch>
        </p:blipFill>
        <p:spPr>
          <a:xfrm>
            <a:off x="1562100" y="3246811"/>
            <a:ext cx="9067800" cy="2914650"/>
          </a:xfrm>
          <a:prstGeom prst="rect">
            <a:avLst/>
          </a:prstGeom>
        </p:spPr>
      </p:pic>
    </p:spTree>
    <p:extLst>
      <p:ext uri="{BB962C8B-B14F-4D97-AF65-F5344CB8AC3E}">
        <p14:creationId xmlns:p14="http://schemas.microsoft.com/office/powerpoint/2010/main" val="3272600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7a275ec-753e-47af-878d-7a97e07041b7"/>
  <p:tag name="COMMONDATA" val="eyJoZGlkIjoiYTBlMjBiOWE1Zjk5NDQ1M2U3NWYyMDQ3YWNmOWJjZWIifQ=="/>
</p:tagLst>
</file>

<file path=ppt/theme/theme1.xml><?xml version="1.0" encoding="utf-8"?>
<a:theme xmlns:a="http://schemas.openxmlformats.org/drawingml/2006/main" name="红利">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TM03457464[[fn=红利]]</Template>
  <TotalTime>0</TotalTime>
  <Words>1092</Words>
  <Application>Microsoft Office PowerPoint</Application>
  <PresentationFormat>宽屏</PresentationFormat>
  <Paragraphs>90</Paragraphs>
  <Slides>10</Slides>
  <Notes>10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Microsoft YaHei UI</vt:lpstr>
      <vt:lpstr>Arial</vt:lpstr>
      <vt:lpstr>Cambria Math</vt:lpstr>
      <vt:lpstr>Gill Sans MT</vt:lpstr>
      <vt:lpstr>Wingdings 2</vt:lpstr>
      <vt:lpstr>红利</vt:lpstr>
      <vt:lpstr>5.6 功率控制前瞻</vt:lpstr>
      <vt:lpstr>目录</vt:lpstr>
      <vt:lpstr>1 为什么功率控制</vt:lpstr>
      <vt:lpstr>2 限制功率的方法</vt:lpstr>
      <vt:lpstr>2 限制功率的方法</vt:lpstr>
      <vt:lpstr>3 重新审视线性系统与前馈</vt:lpstr>
      <vt:lpstr>3 重新审视线性系统与前馈</vt:lpstr>
      <vt:lpstr>3 重新审视线性系统与前馈</vt:lpstr>
      <vt:lpstr>4 功率控制算法的设计</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2019-12-13T06:13:00Z</dcterms:created>
  <dcterms:modified xsi:type="dcterms:W3CDTF">2025-01-24T21:24:46Z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5F80E70E50E141FFB62F51F4FF0185D8</vt:lpwstr>
  </property>
  <property fmtid="{D5CDD505-2E9C-101B-9397-08002B2CF9AE}" pid="4" name="KSOProductBuildVer">
    <vt:lpwstr>2052-11.1.0.12980</vt:lpwstr>
  </property>
</Properties>
</file>