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autoCompressPictures="0">
  <p:sldMasterIdLst>
    <p:sldMasterId id="2147483648" r:id="rId1"/>
  </p:sldMasterIdLst>
  <p:notesMasterIdLst>
    <p:notesMasterId r:id="rId22"/>
  </p:notesMasterIdLst>
  <p:handoutMasterIdLst>
    <p:handoutMasterId r:id="rId23"/>
  </p:handoutMasterIdLst>
  <p:sldIdLst>
    <p:sldId id="256" r:id="rId2"/>
    <p:sldId id="372" r:id="rId3"/>
    <p:sldId id="375" r:id="rId4"/>
    <p:sldId id="376" r:id="rId5"/>
    <p:sldId id="379" r:id="rId6"/>
    <p:sldId id="392" r:id="rId7"/>
    <p:sldId id="377" r:id="rId8"/>
    <p:sldId id="378" r:id="rId9"/>
    <p:sldId id="380" r:id="rId10"/>
    <p:sldId id="381" r:id="rId11"/>
    <p:sldId id="382" r:id="rId12"/>
    <p:sldId id="383" r:id="rId13"/>
    <p:sldId id="384" r:id="rId14"/>
    <p:sldId id="387" r:id="rId15"/>
    <p:sldId id="385" r:id="rId16"/>
    <p:sldId id="389" r:id="rId17"/>
    <p:sldId id="388" r:id="rId18"/>
    <p:sldId id="390" r:id="rId19"/>
    <p:sldId id="393" r:id="rId20"/>
    <p:sldId id="260" r:id="rId21"/>
  </p:sldIdLst>
  <p:sldSz cx="12192000" cy="6858000"/>
  <p:notesSz cx="6858000" cy="9144000"/>
  <p:custDataLst>
    <p:tags r:id="rId24"/>
  </p:custDataLst>
  <p:defaultTextStyle>
    <a:defPPr rtl="0">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712E"/>
    <a:srgbClr val="444E56"/>
    <a:srgbClr val="117186"/>
    <a:srgbClr val="004C75"/>
    <a:srgbClr val="808080"/>
    <a:srgbClr val="4590B8"/>
    <a:srgbClr val="4876CD"/>
    <a:srgbClr val="99FF66"/>
    <a:srgbClr val="99CC00"/>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8" autoAdjust="0"/>
    <p:restoredTop sz="95244" autoAdjust="0"/>
  </p:normalViewPr>
  <p:slideViewPr>
    <p:cSldViewPr snapToGrid="0">
      <p:cViewPr varScale="1">
        <p:scale>
          <a:sx n="105" d="100"/>
          <a:sy n="105" d="100"/>
        </p:scale>
        <p:origin x="60" y="124"/>
      </p:cViewPr>
      <p:guideLst/>
    </p:cSldViewPr>
  </p:slideViewPr>
  <p:notesTextViewPr>
    <p:cViewPr>
      <p:scale>
        <a:sx n="1" d="1"/>
        <a:sy n="1" d="1"/>
      </p:scale>
      <p:origin x="0" y="0"/>
    </p:cViewPr>
  </p:notesTextViewPr>
  <p:notesViewPr>
    <p:cSldViewPr snapToGrid="0">
      <p:cViewPr varScale="1">
        <p:scale>
          <a:sx n="65" d="100"/>
          <a:sy n="65"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099690-A1B4-4631-A843-BC33AAFEB53A}" type="datetimeFigureOut">
              <a:rPr lang="zh-CN" altLang="en-US" smtClean="0">
                <a:latin typeface="Microsoft YaHei UI" panose="020B0503020204020204" pitchFamily="34" charset="-122"/>
                <a:ea typeface="Microsoft YaHei UI" panose="020B0503020204020204" pitchFamily="34" charset="-122"/>
              </a:rPr>
              <a:t>2024/10/19</a:t>
            </a:fld>
            <a:endParaRPr lang="zh-CN" altLang="en-US">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Microsoft YaHei UI" panose="020B0503020204020204" pitchFamily="34" charset="-122"/>
              <a:ea typeface="Microsoft YaHei UI"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FC93706-78A1-4E82-BB60-80A7D602F484}" type="slidenum">
              <a:rPr lang="zh-CN" altLang="en-US" smtClean="0">
                <a:latin typeface="Microsoft YaHei UI" panose="020B0503020204020204" pitchFamily="34" charset="-122"/>
                <a:ea typeface="Microsoft YaHei UI" panose="020B0503020204020204" pitchFamily="34" charset="-122"/>
              </a:rPr>
              <a:t>‹#›</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5CBC27D5-E943-4688-A3E4-00C0F3344C8A}" type="datetimeFigureOut">
              <a:rPr lang="zh-CN" altLang="en-US" smtClean="0"/>
              <a:t>2024/10/19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039B6F5C-370E-43A9-8FB2-7FE12A59E29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a:t>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302167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3</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808966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4</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5336023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5</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576213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6</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748088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7</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7819434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8</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7494372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9</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8357155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10</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2223056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11</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0030792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6381878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13</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8881030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05603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8399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64014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95799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84637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20</a:t>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userDrawn="1"/>
        </p:nvSpPr>
        <p:spPr>
          <a:xfrm>
            <a:off x="446534" y="4264429"/>
            <a:ext cx="11262866" cy="2126136"/>
          </a:xfrm>
          <a:prstGeom prst="rect">
            <a:avLst/>
          </a:prstGeom>
          <a:solidFill>
            <a:srgbClr val="1A3260">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dirty="0"/>
          </a:p>
        </p:txBody>
      </p:sp>
      <p:sp>
        <p:nvSpPr>
          <p:cNvPr id="2" name="标题 1"/>
          <p:cNvSpPr>
            <a:spLocks noGrp="1"/>
          </p:cNvSpPr>
          <p:nvPr>
            <p:ph type="ctrTitle"/>
          </p:nvPr>
        </p:nvSpPr>
        <p:spPr>
          <a:xfrm>
            <a:off x="581191" y="1020431"/>
            <a:ext cx="10993549" cy="1475013"/>
          </a:xfrm>
          <a:effectLst/>
        </p:spPr>
        <p:txBody>
          <a:bodyPr rtlCol="0" anchor="b">
            <a:normAutofit/>
          </a:bodyPr>
          <a:lstStyle>
            <a:lvl1pPr>
              <a:defRPr sz="3600">
                <a:solidFill>
                  <a:schemeClr val="accent1"/>
                </a:solidFill>
                <a:latin typeface="Microsoft YaHei UI" panose="020B0503020204020204" pitchFamily="34" charset="-122"/>
                <a:ea typeface="Microsoft YaHei UI" panose="020B0503020204020204" pitchFamily="34" charset="-122"/>
              </a:defRPr>
            </a:lvl1pPr>
          </a:lstStyle>
          <a:p>
            <a:pPr rtl="0"/>
            <a:r>
              <a:rPr lang="zh-CN" altLang="en-US"/>
              <a:t>单击此处编辑母版标题样式</a:t>
            </a:r>
            <a:endParaRPr lang="en-US" dirty="0"/>
          </a:p>
        </p:txBody>
      </p:sp>
      <p:sp>
        <p:nvSpPr>
          <p:cNvPr id="3" name="副标题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2"/>
                </a:solidFill>
                <a:latin typeface="Microsoft YaHei UI" panose="020B0503020204020204" pitchFamily="34" charset="-122"/>
                <a:ea typeface="Microsoft YaHei UI"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zh-CN" altLang="en-US"/>
              <a:t>单击此处编辑母版副标题样式</a:t>
            </a:r>
            <a:endParaRPr lang="en-US" dirty="0"/>
          </a:p>
        </p:txBody>
      </p:sp>
      <p:sp>
        <p:nvSpPr>
          <p:cNvPr id="4" name="日期占位符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latin typeface="Microsoft YaHei UI" panose="020B0503020204020204" pitchFamily="34" charset="-122"/>
                <a:ea typeface="Microsoft YaHei UI" panose="020B0503020204020204" pitchFamily="34" charset="-122"/>
              </a:defRPr>
            </a:lvl1pPr>
          </a:lstStyle>
          <a:p>
            <a:fld id="{3E7F0539-EDB5-495D-89F2-C833D4240245}" type="datetime1">
              <a:rPr lang="zh-CN" altLang="en-US" smtClean="0"/>
              <a:t>2024/10/19</a:t>
            </a:fld>
            <a:endParaRPr lang="en-US" dirty="0"/>
          </a:p>
        </p:txBody>
      </p:sp>
      <p:sp>
        <p:nvSpPr>
          <p:cNvPr id="5" name="页脚占位符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latin typeface="Microsoft YaHei UI" panose="020B0503020204020204" pitchFamily="34" charset="-122"/>
                <a:ea typeface="Microsoft YaHei UI" panose="020B0503020204020204" pitchFamily="34" charset="-122"/>
              </a:defRPr>
            </a:lvl1pPr>
          </a:lstStyle>
          <a:p>
            <a:endParaRPr lang="zh-CN" altLang="en-US"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a:spLocks noChangeAspect="1"/>
          </p:cNvSpPr>
          <p:nvPr/>
        </p:nvSpPr>
        <p:spPr>
          <a:xfrm>
            <a:off x="440286" y="49802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2" y="585776"/>
            <a:ext cx="11029616" cy="1013800"/>
          </a:xfrm>
        </p:spPr>
        <p:txBody>
          <a:bodyPr rtlCol="0"/>
          <a:lstStyle/>
          <a:p>
            <a:pPr rtl="0"/>
            <a:r>
              <a:rPr lang="zh-CN" altLang="en-US"/>
              <a:t>单击此处编辑母版标题样式</a:t>
            </a:r>
            <a:endParaRPr lang="en-US" dirty="0"/>
          </a:p>
        </p:txBody>
      </p:sp>
      <p:sp>
        <p:nvSpPr>
          <p:cNvPr id="3" name="内容占位符 2"/>
          <p:cNvSpPr>
            <a:spLocks noGrp="1"/>
          </p:cNvSpPr>
          <p:nvPr>
            <p:ph idx="1"/>
          </p:nvPr>
        </p:nvSpPr>
        <p:spPr>
          <a:xfrm>
            <a:off x="581192" y="2180496"/>
            <a:ext cx="11029615" cy="3678303"/>
          </a:xfrm>
        </p:spPr>
        <p:txBody>
          <a:bodyPr rtlCol="0"/>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日期占位符 3"/>
          <p:cNvSpPr>
            <a:spLocks noGrp="1"/>
          </p:cNvSpPr>
          <p:nvPr>
            <p:ph type="dt" sz="half" idx="10"/>
          </p:nvPr>
        </p:nvSpPr>
        <p:spPr/>
        <p:txBody>
          <a:bodyPr rtlCol="0"/>
          <a:lstStyle/>
          <a:p>
            <a:pPr rtl="0"/>
            <a:fld id="{DB8ABD03-1D09-4FDF-B7F3-BC40D9AA2B4B}" type="datetime1">
              <a:rPr lang="zh-CN" altLang="en-US" smtClean="0"/>
              <a:t>2024/10/19</a:t>
            </a:fld>
            <a:endParaRPr 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幻灯片编号占位符 5"/>
          <p:cNvSpPr>
            <a:spLocks noGrp="1"/>
          </p:cNvSpPr>
          <p:nvPr>
            <p:ph type="sldNum" sz="quarter" idx="12"/>
          </p:nvPr>
        </p:nvSpPr>
        <p:spPr>
          <a:xfrm>
            <a:off x="10558300" y="5956137"/>
            <a:ext cx="1052508" cy="365125"/>
          </a:xfrm>
        </p:spPr>
        <p:txBody>
          <a:bodyPr rtlCol="0"/>
          <a:lstStyle/>
          <a:p>
            <a:pPr rtl="0"/>
            <a:fld id="{D57F1E4F-1CFF-5643-939E-217C01CDF565}" type="slidenum">
              <a:rPr lang="en-US" smtClean="0"/>
              <a:t>‹#›</a:t>
            </a:fld>
            <a:endParaRPr lang="en-US" dirty="0"/>
          </a:p>
        </p:txBody>
      </p:sp>
      <p:pic>
        <p:nvPicPr>
          <p:cNvPr id="10" name="图片 9"/>
          <p:cNvPicPr>
            <a:picLocks noChangeAspect="1"/>
          </p:cNvPicPr>
          <p:nvPr userDrawn="1"/>
        </p:nvPicPr>
        <p:blipFill>
          <a:blip r:embed="rId2"/>
          <a:stretch>
            <a:fillRect/>
          </a:stretch>
        </p:blipFill>
        <p:spPr>
          <a:xfrm>
            <a:off x="8029575" y="794463"/>
            <a:ext cx="3592168" cy="62612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zh-CN" altLang="en-US"/>
              <a:t>单击此处编辑母版标题样式</a:t>
            </a:r>
            <a:endParaRPr lang="en-US" dirty="0"/>
          </a:p>
        </p:txBody>
      </p:sp>
      <p:sp>
        <p:nvSpPr>
          <p:cNvPr id="3" name="文本占位符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a:t>单击此处编辑母版文本样式</a:t>
            </a:r>
          </a:p>
        </p:txBody>
      </p:sp>
      <p:sp>
        <p:nvSpPr>
          <p:cNvPr id="4" name="日期占位符 3"/>
          <p:cNvSpPr>
            <a:spLocks noGrp="1"/>
          </p:cNvSpPr>
          <p:nvPr>
            <p:ph type="dt" sz="half" idx="10"/>
          </p:nvPr>
        </p:nvSpPr>
        <p:spPr/>
        <p:txBody>
          <a:bodyPr rtlCol="0"/>
          <a:lstStyle>
            <a:lvl1pPr>
              <a:defRPr>
                <a:solidFill>
                  <a:schemeClr val="accent1">
                    <a:lumMod val="75000"/>
                    <a:lumOff val="25000"/>
                  </a:schemeClr>
                </a:solidFill>
              </a:defRPr>
            </a:lvl1pPr>
          </a:lstStyle>
          <a:p>
            <a:pPr rtl="0"/>
            <a:fld id="{C946AA11-7391-430C-8DDA-B49E90C09240}" type="datetime1">
              <a:rPr lang="zh-CN" altLang="en-US" smtClean="0"/>
              <a:t>2024/10/19</a:t>
            </a:fld>
            <a:endParaRPr lang="en-US" dirty="0"/>
          </a:p>
        </p:txBody>
      </p:sp>
      <p:sp>
        <p:nvSpPr>
          <p:cNvPr id="5" name="页脚占位符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zh-CN" altLang="en-US"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a:spLocks noChangeAspect="1"/>
          </p:cNvSpPr>
          <p:nvPr/>
        </p:nvSpPr>
        <p:spPr>
          <a:xfrm>
            <a:off x="445982" y="606554"/>
            <a:ext cx="11300036" cy="88973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3" y="606554"/>
            <a:ext cx="11029616" cy="878681"/>
          </a:xfrm>
        </p:spPr>
        <p:txBody>
          <a:bodyPr rtlCol="0"/>
          <a:lstStyle/>
          <a:p>
            <a:pPr rtl="0"/>
            <a:r>
              <a:rPr lang="zh-CN" altLang="en-US" dirty="0"/>
              <a:t>单击此处编辑母版标题样式</a:t>
            </a:r>
            <a:endParaRPr lang="en-US" dirty="0"/>
          </a:p>
        </p:txBody>
      </p:sp>
      <p:sp>
        <p:nvSpPr>
          <p:cNvPr id="3" name="内容占位符 2"/>
          <p:cNvSpPr>
            <a:spLocks noGrp="1"/>
          </p:cNvSpPr>
          <p:nvPr>
            <p:ph sz="half" idx="1"/>
          </p:nvPr>
        </p:nvSpPr>
        <p:spPr>
          <a:xfrm>
            <a:off x="581193" y="2228003"/>
            <a:ext cx="5422390" cy="3633047"/>
          </a:xfrm>
        </p:spPr>
        <p:txBody>
          <a:bodyPr rtlCol="0">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内容占位符 3"/>
          <p:cNvSpPr>
            <a:spLocks noGrp="1"/>
          </p:cNvSpPr>
          <p:nvPr>
            <p:ph sz="half" idx="2"/>
          </p:nvPr>
        </p:nvSpPr>
        <p:spPr>
          <a:xfrm>
            <a:off x="6188417" y="2228003"/>
            <a:ext cx="5422392" cy="3633047"/>
          </a:xfrm>
        </p:spPr>
        <p:txBody>
          <a:bodyPr rtlCol="0">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5" name="日期占位符 4"/>
          <p:cNvSpPr>
            <a:spLocks noGrp="1"/>
          </p:cNvSpPr>
          <p:nvPr>
            <p:ph type="dt" sz="half" idx="10"/>
          </p:nvPr>
        </p:nvSpPr>
        <p:spPr/>
        <p:txBody>
          <a:bodyPr rtlCol="0"/>
          <a:lstStyle/>
          <a:p>
            <a:pPr rtl="0"/>
            <a:fld id="{44B4526D-7BDC-448E-8C9D-BB317B965AC2}" type="datetime1">
              <a:rPr lang="zh-CN" altLang="en-US" smtClean="0"/>
              <a:t>2024/10/19</a:t>
            </a:fld>
            <a:endParaRPr 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p>
            <a:pPr rtl="0"/>
            <a:fld id="{D57F1E4F-1CFF-5643-939E-217C01CDF565}" type="slidenum">
              <a:rPr lang="en-US" smtClean="0"/>
              <a:t>‹#›</a:t>
            </a:fld>
            <a:endParaRPr lang="en-US" dirty="0"/>
          </a:p>
        </p:txBody>
      </p:sp>
      <p:pic>
        <p:nvPicPr>
          <p:cNvPr id="10" name="图片 9"/>
          <p:cNvPicPr>
            <a:picLocks noChangeAspect="1"/>
          </p:cNvPicPr>
          <p:nvPr userDrawn="1"/>
        </p:nvPicPr>
        <p:blipFill>
          <a:blip r:embed="rId2"/>
          <a:stretch>
            <a:fillRect/>
          </a:stretch>
        </p:blipFill>
        <p:spPr>
          <a:xfrm>
            <a:off x="8086246" y="717139"/>
            <a:ext cx="3592168" cy="62612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1" name="长方形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标题 1"/>
          <p:cNvSpPr>
            <a:spLocks noGrp="1"/>
          </p:cNvSpPr>
          <p:nvPr>
            <p:ph type="title"/>
          </p:nvPr>
        </p:nvSpPr>
        <p:spPr>
          <a:xfrm>
            <a:off x="581193" y="729658"/>
            <a:ext cx="11029616" cy="988332"/>
          </a:xfrm>
        </p:spPr>
        <p:txBody>
          <a:bodyPr rtlCol="0"/>
          <a:lstStyle/>
          <a:p>
            <a:pPr rtl="0"/>
            <a:r>
              <a:rPr lang="zh-CN" altLang="en-US"/>
              <a:t>单击此处编辑母版标题样式</a:t>
            </a:r>
            <a:endParaRPr lang="en-US" dirty="0"/>
          </a:p>
        </p:txBody>
      </p:sp>
      <p:sp>
        <p:nvSpPr>
          <p:cNvPr id="3" name="文本占位符 2"/>
          <p:cNvSpPr>
            <a:spLocks noGrp="1"/>
          </p:cNvSpPr>
          <p:nvPr>
            <p:ph type="body" idx="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a:t>单击此处编辑母版文本样式</a:t>
            </a:r>
          </a:p>
        </p:txBody>
      </p:sp>
      <p:sp>
        <p:nvSpPr>
          <p:cNvPr id="4" name="内容占位符 3"/>
          <p:cNvSpPr>
            <a:spLocks noGrp="1"/>
          </p:cNvSpPr>
          <p:nvPr>
            <p:ph sz="half" idx="2"/>
          </p:nvPr>
        </p:nvSpPr>
        <p:spPr>
          <a:xfrm>
            <a:off x="581194" y="2926052"/>
            <a:ext cx="5393100" cy="2934999"/>
          </a:xfrm>
        </p:spPr>
        <p:txBody>
          <a:bodyPr rtlCol="0" anchor="t">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5" name="文本占位符 4"/>
          <p:cNvSpPr>
            <a:spLocks noGrp="1"/>
          </p:cNvSpPr>
          <p:nvPr>
            <p:ph type="body" sz="quarter" idx="3"/>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a:t>单击此处编辑母版文本样式</a:t>
            </a:r>
          </a:p>
        </p:txBody>
      </p:sp>
      <p:sp>
        <p:nvSpPr>
          <p:cNvPr id="6" name="内容占位符 5"/>
          <p:cNvSpPr>
            <a:spLocks noGrp="1"/>
          </p:cNvSpPr>
          <p:nvPr>
            <p:ph sz="quarter" idx="4"/>
          </p:nvPr>
        </p:nvSpPr>
        <p:spPr>
          <a:xfrm>
            <a:off x="6217709" y="2926052"/>
            <a:ext cx="5393100" cy="2934999"/>
          </a:xfrm>
        </p:spPr>
        <p:txBody>
          <a:bodyPr rtlCol="0" anchor="t">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7" name="日期占位符 6"/>
          <p:cNvSpPr>
            <a:spLocks noGrp="1"/>
          </p:cNvSpPr>
          <p:nvPr>
            <p:ph type="dt" sz="half" idx="10"/>
          </p:nvPr>
        </p:nvSpPr>
        <p:spPr/>
        <p:txBody>
          <a:bodyPr rtlCol="0"/>
          <a:lstStyle/>
          <a:p>
            <a:pPr rtl="0"/>
            <a:fld id="{F20E3E17-F14F-4B33-BB9A-F35E533AB708}" type="datetime1">
              <a:rPr lang="zh-CN" altLang="en-US" smtClean="0"/>
              <a:t>2024/10/19</a:t>
            </a:fld>
            <a:endParaRPr lang="en-US" dirty="0"/>
          </a:p>
        </p:txBody>
      </p:sp>
      <p:sp>
        <p:nvSpPr>
          <p:cNvPr id="8" name="页脚占位符 7"/>
          <p:cNvSpPr>
            <a:spLocks noGrp="1"/>
          </p:cNvSpPr>
          <p:nvPr>
            <p:ph type="ftr" sz="quarter" idx="11"/>
          </p:nvPr>
        </p:nvSpPr>
        <p:spPr/>
        <p:txBody>
          <a:bodyPr rtlCol="0"/>
          <a:lstStyle/>
          <a:p>
            <a:pPr rtl="0"/>
            <a:endParaRPr lang="zh-CN" altLang="en-US" noProof="0" dirty="0"/>
          </a:p>
        </p:txBody>
      </p:sp>
      <p:sp>
        <p:nvSpPr>
          <p:cNvPr id="9" name="灯片编号占位符 8"/>
          <p:cNvSpPr>
            <a:spLocks noGrp="1"/>
          </p:cNvSpPr>
          <p:nvPr>
            <p:ph type="sldNum" sz="quarter" idx="12"/>
          </p:nvPr>
        </p:nvSpPr>
        <p:spPr/>
        <p:txBody>
          <a:bodyPr rtlCol="0"/>
          <a:lstStyle/>
          <a:p>
            <a:pPr rtl="0"/>
            <a:fld id="{D57F1E4F-1CFF-5643-939E-217C01CDF565}" type="slidenum">
              <a:rPr lang="en-US" smtClean="0"/>
              <a:t>‹#›</a:t>
            </a:fld>
            <a:endParaRPr lang="en-US" dirty="0"/>
          </a:p>
        </p:txBody>
      </p:sp>
      <p:pic>
        <p:nvPicPr>
          <p:cNvPr id="15" name="图片 14"/>
          <p:cNvPicPr>
            <a:picLocks noChangeAspect="1"/>
          </p:cNvPicPr>
          <p:nvPr userDrawn="1"/>
        </p:nvPicPr>
        <p:blipFill>
          <a:blip r:embed="rId2"/>
          <a:stretch>
            <a:fillRect/>
          </a:stretch>
        </p:blipFill>
        <p:spPr>
          <a:xfrm>
            <a:off x="8029575" y="1027220"/>
            <a:ext cx="3592168" cy="62612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rtlCol="0"/>
          <a:lstStyle/>
          <a:p>
            <a:pPr rtl="0"/>
            <a:fld id="{DEF29E20-40CA-4076-A63E-629668579597}" type="datetime1">
              <a:rPr lang="zh-CN" altLang="en-US" smtClean="0"/>
              <a:t>2024/10/19</a:t>
            </a:fld>
            <a:endParaRPr 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p>
            <a:pPr rtl="0"/>
            <a:fld id="{D57F1E4F-1CFF-5643-939E-217C01CDF565}" type="slidenum">
              <a:rPr lang="en-US" smtClean="0"/>
              <a:t>‹#›</a:t>
            </a:fld>
            <a:endParaRPr lang="en-US" dirty="0"/>
          </a:p>
        </p:txBody>
      </p:sp>
      <p:sp>
        <p:nvSpPr>
          <p:cNvPr id="7" name="长方形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标题 1"/>
          <p:cNvSpPr>
            <a:spLocks noGrp="1"/>
          </p:cNvSpPr>
          <p:nvPr>
            <p:ph type="title"/>
          </p:nvPr>
        </p:nvSpPr>
        <p:spPr>
          <a:xfrm>
            <a:off x="575894" y="729658"/>
            <a:ext cx="11029616" cy="988332"/>
          </a:xfrm>
        </p:spPr>
        <p:txBody>
          <a:bodyPr rtlCol="0"/>
          <a:lstStyle/>
          <a:p>
            <a:pPr rtl="0"/>
            <a:r>
              <a:rPr lang="zh-CN" altLang="en-US"/>
              <a:t>单击此处编辑母版标题样式</a:t>
            </a:r>
            <a:endParaRPr lang="en-US" dirty="0"/>
          </a:p>
        </p:txBody>
      </p:sp>
      <p:pic>
        <p:nvPicPr>
          <p:cNvPr id="14" name="图片 13"/>
          <p:cNvPicPr>
            <a:picLocks noChangeAspect="1"/>
          </p:cNvPicPr>
          <p:nvPr userDrawn="1"/>
        </p:nvPicPr>
        <p:blipFill>
          <a:blip r:embed="rId2"/>
          <a:stretch>
            <a:fillRect/>
          </a:stretch>
        </p:blipFill>
        <p:spPr>
          <a:xfrm>
            <a:off x="8029575" y="1027220"/>
            <a:ext cx="3592168" cy="62612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p>
            <a:pPr rtl="0"/>
            <a:fld id="{681666FA-6BE5-48DD-9D44-2221F5CF0654}" type="datetime1">
              <a:rPr lang="zh-CN" altLang="en-US" smtClean="0"/>
              <a:t>2024/10/19</a:t>
            </a:fld>
            <a:endParaRPr 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p>
            <a:pPr rtl="0"/>
            <a:fld id="{D57F1E4F-1CFF-5643-939E-217C01CDF56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带标题的内容">
    <p:spTree>
      <p:nvGrpSpPr>
        <p:cNvPr id="1" name=""/>
        <p:cNvGrpSpPr/>
        <p:nvPr/>
      </p:nvGrpSpPr>
      <p:grpSpPr>
        <a:xfrm>
          <a:off x="0" y="0"/>
          <a:ext cx="0" cy="0"/>
          <a:chOff x="0" y="0"/>
          <a:chExt cx="0" cy="0"/>
        </a:xfrm>
      </p:grpSpPr>
      <p:sp>
        <p:nvSpPr>
          <p:cNvPr id="9" name="矩形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zh-CN" altLang="en-US"/>
              <a:t>单击此处编辑母版标题样式</a:t>
            </a:r>
            <a:endParaRPr lang="en-US" dirty="0"/>
          </a:p>
        </p:txBody>
      </p:sp>
      <p:sp>
        <p:nvSpPr>
          <p:cNvPr id="3" name="内容占位符 2"/>
          <p:cNvSpPr>
            <a:spLocks noGrp="1"/>
          </p:cNvSpPr>
          <p:nvPr>
            <p:ph idx="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文本占位符 3"/>
          <p:cNvSpPr>
            <a:spLocks noGrp="1"/>
          </p:cNvSpPr>
          <p:nvPr>
            <p:ph type="body" sz="half" idx="2"/>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a:t>单击此处编辑母版文本样式</a:t>
            </a:r>
          </a:p>
        </p:txBody>
      </p:sp>
      <p:sp>
        <p:nvSpPr>
          <p:cNvPr id="5" name="日期占位符 4"/>
          <p:cNvSpPr>
            <a:spLocks noGrp="1"/>
          </p:cNvSpPr>
          <p:nvPr>
            <p:ph type="dt" sz="half" idx="10"/>
          </p:nvPr>
        </p:nvSpPr>
        <p:spPr/>
        <p:txBody>
          <a:bodyPr rtlCol="0"/>
          <a:lstStyle>
            <a:lvl1pPr>
              <a:defRPr>
                <a:solidFill>
                  <a:schemeClr val="accent1">
                    <a:lumMod val="75000"/>
                    <a:lumOff val="25000"/>
                  </a:schemeClr>
                </a:solidFill>
              </a:defRPr>
            </a:lvl1pPr>
          </a:lstStyle>
          <a:p>
            <a:pPr rtl="0"/>
            <a:fld id="{A88D6F37-DAF3-4711-B0CF-E517C0EBEE12}" type="datetime1">
              <a:rPr lang="zh-CN" altLang="en-US" smtClean="0"/>
              <a:t>2024/10/19</a:t>
            </a:fld>
            <a:endParaRPr lang="en-US" dirty="0"/>
          </a:p>
        </p:txBody>
      </p:sp>
      <p:sp>
        <p:nvSpPr>
          <p:cNvPr id="6" name="页脚占位符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zh-CN" altLang="en-US"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带标题的图片">
    <p:spTree>
      <p:nvGrpSpPr>
        <p:cNvPr id="1" name=""/>
        <p:cNvGrpSpPr/>
        <p:nvPr/>
      </p:nvGrpSpPr>
      <p:grpSpPr>
        <a:xfrm>
          <a:off x="0" y="0"/>
          <a:ext cx="0" cy="0"/>
          <a:chOff x="0" y="0"/>
          <a:chExt cx="0" cy="0"/>
        </a:xfrm>
      </p:grpSpPr>
      <p:sp>
        <p:nvSpPr>
          <p:cNvPr id="2" name="标题 1"/>
          <p:cNvSpPr>
            <a:spLocks noGrp="1"/>
          </p:cNvSpPr>
          <p:nvPr>
            <p:ph type="title"/>
          </p:nvPr>
        </p:nvSpPr>
        <p:spPr>
          <a:xfrm>
            <a:off x="581193" y="4693389"/>
            <a:ext cx="11029616" cy="566738"/>
          </a:xfrm>
        </p:spPr>
        <p:txBody>
          <a:bodyPr rtlCol="0" anchor="b">
            <a:normAutofit/>
          </a:bodyPr>
          <a:lstStyle>
            <a:lvl1pPr algn="l">
              <a:defRPr sz="2400" b="0">
                <a:solidFill>
                  <a:schemeClr val="accent1"/>
                </a:solidFill>
              </a:defRPr>
            </a:lvl1pPr>
          </a:lstStyle>
          <a:p>
            <a:pPr rtl="0"/>
            <a:r>
              <a:rPr lang="zh-CN" altLang="en-US"/>
              <a:t>单击此处编辑母版标题样式</a:t>
            </a:r>
            <a:endParaRPr lang="en-US" dirty="0"/>
          </a:p>
        </p:txBody>
      </p:sp>
      <p:sp>
        <p:nvSpPr>
          <p:cNvPr id="3" name="图片占位符 2"/>
          <p:cNvSpPr>
            <a:spLocks noGrp="1" noChangeAspect="1"/>
          </p:cNvSpPr>
          <p:nvPr>
            <p:ph type="pic" idx="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a:t>单击图标添加图片</a:t>
            </a:r>
            <a:endParaRPr lang="en-US"/>
          </a:p>
        </p:txBody>
      </p:sp>
      <p:sp>
        <p:nvSpPr>
          <p:cNvPr id="4" name="文本占位符 3"/>
          <p:cNvSpPr>
            <a:spLocks noGrp="1"/>
          </p:cNvSpPr>
          <p:nvPr>
            <p:ph type="body" sz="half" idx="2"/>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a:t>单击此处编辑母版文本样式</a:t>
            </a:r>
          </a:p>
        </p:txBody>
      </p:sp>
      <p:sp>
        <p:nvSpPr>
          <p:cNvPr id="5" name="日期占位符 4"/>
          <p:cNvSpPr>
            <a:spLocks noGrp="1"/>
          </p:cNvSpPr>
          <p:nvPr>
            <p:ph type="dt" sz="half" idx="10"/>
          </p:nvPr>
        </p:nvSpPr>
        <p:spPr/>
        <p:txBody>
          <a:bodyPr rtlCol="0"/>
          <a:lstStyle/>
          <a:p>
            <a:pPr rtl="0"/>
            <a:fld id="{EAEF714D-CDEC-4A62-B928-1473E0C461ED}" type="datetime1">
              <a:rPr lang="zh-CN" altLang="en-US" smtClean="0"/>
              <a:t>2024/10/19</a:t>
            </a:fld>
            <a:endParaRPr 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p>
            <a:pPr rtl="0"/>
            <a:fld id="{D57F1E4F-1CFF-5643-939E-217C01CDF56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8" name="矩形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标题 1"/>
          <p:cNvSpPr>
            <a:spLocks noGrp="1"/>
          </p:cNvSpPr>
          <p:nvPr>
            <p:ph type="title"/>
          </p:nvPr>
        </p:nvSpPr>
        <p:spPr>
          <a:xfrm>
            <a:off x="581192" y="702156"/>
            <a:ext cx="11029616" cy="1013800"/>
          </a:xfrm>
        </p:spPr>
        <p:txBody>
          <a:bodyPr rtlCol="0"/>
          <a:lstStyle/>
          <a:p>
            <a:pPr rtl="0"/>
            <a:r>
              <a:rPr lang="zh-CN" altLang="en-US"/>
              <a:t>单击此处编辑母版标题样式</a:t>
            </a:r>
            <a:endParaRPr lang="en-US" dirty="0"/>
          </a:p>
        </p:txBody>
      </p:sp>
      <p:sp>
        <p:nvSpPr>
          <p:cNvPr id="3" name="垂直文本占位符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日期占位符 3"/>
          <p:cNvSpPr>
            <a:spLocks noGrp="1"/>
          </p:cNvSpPr>
          <p:nvPr>
            <p:ph type="dt" sz="half" idx="10"/>
          </p:nvPr>
        </p:nvSpPr>
        <p:spPr/>
        <p:txBody>
          <a:bodyPr rtlCol="0"/>
          <a:lstStyle/>
          <a:p>
            <a:pPr rtl="0"/>
            <a:fld id="{ED9B87A8-1EAB-458E-AEB0-B95362887253}" type="datetime1">
              <a:rPr lang="zh-CN" altLang="en-US" smtClean="0"/>
              <a:t>2024/10/19</a:t>
            </a:fld>
            <a:endParaRPr 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p>
            <a:pPr rtl="0"/>
            <a:fld id="{D57F1E4F-1CFF-5643-939E-217C01CDF565}" type="slidenum">
              <a:rPr lang="en-US" smtClean="0"/>
              <a:t>‹#›</a:t>
            </a:fld>
            <a:endParaRPr lang="en-US" dirty="0"/>
          </a:p>
        </p:txBody>
      </p:sp>
      <p:pic>
        <p:nvPicPr>
          <p:cNvPr id="11" name="图片 10"/>
          <p:cNvPicPr>
            <a:picLocks noChangeAspect="1"/>
          </p:cNvPicPr>
          <p:nvPr userDrawn="1"/>
        </p:nvPicPr>
        <p:blipFill>
          <a:blip r:embed="rId2"/>
          <a:stretch>
            <a:fillRect/>
          </a:stretch>
        </p:blipFill>
        <p:spPr>
          <a:xfrm>
            <a:off x="8029575" y="1027220"/>
            <a:ext cx="3592168" cy="62612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标题与文本">
    <p:spTree>
      <p:nvGrpSpPr>
        <p:cNvPr id="1" name=""/>
        <p:cNvGrpSpPr/>
        <p:nvPr/>
      </p:nvGrpSpPr>
      <p:grpSpPr>
        <a:xfrm>
          <a:off x="0" y="0"/>
          <a:ext cx="0" cy="0"/>
          <a:chOff x="0" y="0"/>
          <a:chExt cx="0" cy="0"/>
        </a:xfrm>
      </p:grpSpPr>
      <p:sp>
        <p:nvSpPr>
          <p:cNvPr id="7" name="矩形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垂直标题 1"/>
          <p:cNvSpPr>
            <a:spLocks noGrp="1"/>
          </p:cNvSpPr>
          <p:nvPr>
            <p:ph type="title" orient="vert"/>
          </p:nvPr>
        </p:nvSpPr>
        <p:spPr>
          <a:xfrm>
            <a:off x="8839201" y="675726"/>
            <a:ext cx="2004164" cy="5183073"/>
          </a:xfrm>
        </p:spPr>
        <p:txBody>
          <a:bodyPr vert="eaVert" rtlCol="0"/>
          <a:lstStyle/>
          <a:p>
            <a:pPr rtl="0"/>
            <a:r>
              <a:rPr lang="zh-CN" altLang="en-US"/>
              <a:t>单击此处编辑母版标题样式</a:t>
            </a:r>
            <a:endParaRPr lang="en-US" dirty="0"/>
          </a:p>
        </p:txBody>
      </p:sp>
      <p:sp>
        <p:nvSpPr>
          <p:cNvPr id="3" name="垂直文本占位符 2"/>
          <p:cNvSpPr>
            <a:spLocks noGrp="1"/>
          </p:cNvSpPr>
          <p:nvPr>
            <p:ph type="body" orient="vert" idx="1"/>
          </p:nvPr>
        </p:nvSpPr>
        <p:spPr>
          <a:xfrm>
            <a:off x="774923" y="675726"/>
            <a:ext cx="7896279" cy="5183073"/>
          </a:xfrm>
        </p:spPr>
        <p:txBody>
          <a:bodyPr vert="eaVert" rtlCol="0" anchor="t"/>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日期占位符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D6389FF3-696C-40BE-8139-C6DC043C8C6C}" type="datetime1">
              <a:rPr lang="zh-CN" altLang="en-US" smtClean="0"/>
              <a:t>2024/10/19</a:t>
            </a:fld>
            <a:endParaRPr lang="en-US" dirty="0"/>
          </a:p>
        </p:txBody>
      </p:sp>
      <p:sp>
        <p:nvSpPr>
          <p:cNvPr id="5" name="页脚占位符 4"/>
          <p:cNvSpPr>
            <a:spLocks noGrp="1"/>
          </p:cNvSpPr>
          <p:nvPr>
            <p:ph type="ftr" sz="quarter" idx="11"/>
          </p:nvPr>
        </p:nvSpPr>
        <p:spPr>
          <a:xfrm>
            <a:off x="774923" y="5951811"/>
            <a:ext cx="7896279" cy="365125"/>
          </a:xfrm>
        </p:spPr>
        <p:txBody>
          <a:bodyPr rtlCol="0"/>
          <a:lstStyle/>
          <a:p>
            <a:pPr rtl="0"/>
            <a:endParaRPr lang="zh-CN" altLang="en-US" noProof="0" dirty="0"/>
          </a:p>
        </p:txBody>
      </p:sp>
      <p:sp>
        <p:nvSpPr>
          <p:cNvPr id="6" name="幻灯片编号占位符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垂直标题与文本">
    <p:spTree>
      <p:nvGrpSpPr>
        <p:cNvPr id="1" name=""/>
        <p:cNvGrpSpPr/>
        <p:nvPr/>
      </p:nvGrpSpPr>
      <p:grpSpPr>
        <a:xfrm>
          <a:off x="0" y="0"/>
          <a:ext cx="0" cy="0"/>
          <a:chOff x="0" y="0"/>
          <a:chExt cx="0" cy="0"/>
        </a:xfrm>
      </p:grpSpPr>
      <p:pic>
        <p:nvPicPr>
          <p:cNvPr id="8" name="图片 7"/>
          <p:cNvPicPr>
            <a:picLocks noChangeAspect="1"/>
          </p:cNvPicPr>
          <p:nvPr userDrawn="1"/>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brightnessContrast bright="10000" contrast="30000"/>
                    </a14:imgEffect>
                    <a14:imgEffect>
                      <a14:colorTemperature colorTemp="8800"/>
                    </a14:imgEffect>
                    <a14:imgEffect>
                      <a14:saturation sat="33000"/>
                    </a14:imgEffect>
                  </a14:imgLayer>
                </a14:imgProps>
              </a:ext>
            </a:extLst>
          </a:blip>
          <a:srcRect l="1" r="230"/>
          <a:stretch>
            <a:fillRect/>
          </a:stretch>
        </p:blipFill>
        <p:spPr>
          <a:xfrm>
            <a:off x="446533" y="734134"/>
            <a:ext cx="10050914" cy="5666666"/>
          </a:xfrm>
          <a:prstGeom prst="rect">
            <a:avLst/>
          </a:prstGeom>
          <a:noFill/>
        </p:spPr>
      </p:pic>
      <p:sp>
        <p:nvSpPr>
          <p:cNvPr id="7" name="矩形 6"/>
          <p:cNvSpPr>
            <a:spLocks noChangeAspect="1"/>
          </p:cNvSpPr>
          <p:nvPr/>
        </p:nvSpPr>
        <p:spPr>
          <a:xfrm>
            <a:off x="8838650" y="734133"/>
            <a:ext cx="2906817" cy="5679949"/>
          </a:xfrm>
          <a:prstGeom prst="rect">
            <a:avLst/>
          </a:prstGeom>
          <a:gradFill>
            <a:gsLst>
              <a:gs pos="50000">
                <a:srgbClr val="1A3260"/>
              </a:gs>
              <a:gs pos="0">
                <a:schemeClr val="accent1">
                  <a:alpha val="0"/>
                </a:schemeClr>
              </a:gs>
              <a:gs pos="100000">
                <a:schemeClr val="accent1"/>
              </a:gs>
            </a:gsLst>
            <a:lin ang="0" scaled="1"/>
          </a:gradFill>
          <a:ln>
            <a:noFill/>
          </a:ln>
          <a:effectLst/>
        </p:spPr>
        <p:style>
          <a:lnRef idx="1">
            <a:schemeClr val="accent1"/>
          </a:lnRef>
          <a:fillRef idx="3">
            <a:schemeClr val="accent1"/>
          </a:fillRef>
          <a:effectRef idx="2">
            <a:schemeClr val="accent1"/>
          </a:effectRef>
          <a:fontRef idx="minor">
            <a:schemeClr val="lt1"/>
          </a:fontRef>
        </p:style>
      </p:sp>
      <p:sp>
        <p:nvSpPr>
          <p:cNvPr id="4" name="日期占位符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CA964671-51AB-4679-97BB-A5767C65AB0C}" type="datetime1">
              <a:rPr lang="zh-CN" altLang="en-US" smtClean="0"/>
              <a:t>2024/10/19</a:t>
            </a:fld>
            <a:endParaRPr lang="en-US" dirty="0"/>
          </a:p>
        </p:txBody>
      </p:sp>
      <p:sp>
        <p:nvSpPr>
          <p:cNvPr id="5" name="页脚占位符 4"/>
          <p:cNvSpPr>
            <a:spLocks noGrp="1"/>
          </p:cNvSpPr>
          <p:nvPr>
            <p:ph type="ftr" sz="quarter" idx="11"/>
          </p:nvPr>
        </p:nvSpPr>
        <p:spPr>
          <a:xfrm>
            <a:off x="774923" y="5951811"/>
            <a:ext cx="7896279" cy="365125"/>
          </a:xfrm>
        </p:spPr>
        <p:txBody>
          <a:bodyPr rtlCol="0"/>
          <a:lstStyle/>
          <a:p>
            <a:pPr rtl="0"/>
            <a:endParaRPr lang="zh-CN" altLang="en-US" noProof="0" dirty="0"/>
          </a:p>
        </p:txBody>
      </p:sp>
      <p:sp>
        <p:nvSpPr>
          <p:cNvPr id="9" name="标题 1"/>
          <p:cNvSpPr txBox="1"/>
          <p:nvPr userDrawn="1"/>
        </p:nvSpPr>
        <p:spPr>
          <a:xfrm>
            <a:off x="8353019" y="2416478"/>
            <a:ext cx="3081576" cy="935915"/>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zh-CN" altLang="en-US" sz="4800" dirty="0">
                <a:solidFill>
                  <a:srgbClr val="FFFFFF"/>
                </a:solidFill>
              </a:rPr>
              <a:t>感谢观看</a:t>
            </a:r>
            <a:endParaRPr lang="en-US" sz="4800" dirty="0">
              <a:solidFill>
                <a:srgbClr val="FFFFFF"/>
              </a:solidFill>
            </a:endParaRPr>
          </a:p>
        </p:txBody>
      </p:sp>
      <p:pic>
        <p:nvPicPr>
          <p:cNvPr id="10" name="图片 9"/>
          <p:cNvPicPr>
            <a:picLocks noChangeAspect="1"/>
          </p:cNvPicPr>
          <p:nvPr userDrawn="1"/>
        </p:nvPicPr>
        <p:blipFill>
          <a:blip r:embed="rId4"/>
          <a:stretch>
            <a:fillRect/>
          </a:stretch>
        </p:blipFill>
        <p:spPr>
          <a:xfrm>
            <a:off x="8097723" y="3695796"/>
            <a:ext cx="3592168" cy="62612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en-US"/>
              <a:t>单击此处编辑母版标题样式</a:t>
            </a:r>
            <a:endParaRPr lang="en-US" dirty="0"/>
          </a:p>
        </p:txBody>
      </p:sp>
      <p:sp>
        <p:nvSpPr>
          <p:cNvPr id="3" name="文本占位符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en-US"/>
              <a:t>编辑母版文本样式</a:t>
            </a:r>
          </a:p>
          <a:p>
            <a:pPr lvl="1" rtl="0"/>
            <a:r>
              <a:rPr lang="en-US"/>
              <a:t>第二级</a:t>
            </a:r>
          </a:p>
          <a:p>
            <a:pPr lvl="2" rtl="0"/>
            <a:r>
              <a:rPr lang="en-US"/>
              <a:t>第三级</a:t>
            </a:r>
          </a:p>
          <a:p>
            <a:pPr lvl="3" rtl="0"/>
            <a:r>
              <a:rPr lang="en-US"/>
              <a:t>第四级</a:t>
            </a:r>
          </a:p>
          <a:p>
            <a:pPr lvl="4" rtl="0"/>
            <a:r>
              <a:rPr lang="en-US"/>
              <a:t>第五级</a:t>
            </a:r>
            <a:endParaRPr lang="en-US" dirty="0"/>
          </a:p>
        </p:txBody>
      </p:sp>
      <p:sp>
        <p:nvSpPr>
          <p:cNvPr id="4" name="日期占位符 3"/>
          <p:cNvSpPr>
            <a:spLocks noGrp="1"/>
          </p:cNvSpPr>
          <p:nvPr>
            <p:ph type="dt" sz="half" idx="2"/>
          </p:nvPr>
        </p:nvSpPr>
        <p:spPr>
          <a:xfrm>
            <a:off x="7605951" y="6296959"/>
            <a:ext cx="2844799" cy="365125"/>
          </a:xfrm>
          <a:prstGeom prst="rect">
            <a:avLst/>
          </a:prstGeom>
        </p:spPr>
        <p:txBody>
          <a:bodyPr vert="horz" lIns="91440" tIns="45720" rIns="91440" bIns="45720" rtlCol="0" anchor="ctr"/>
          <a:lstStyle>
            <a:lvl1pPr algn="r">
              <a:defRPr sz="900">
                <a:solidFill>
                  <a:schemeClr val="accent2"/>
                </a:solidFill>
                <a:latin typeface="Microsoft YaHei UI" panose="020B0503020204020204" pitchFamily="34" charset="-122"/>
                <a:ea typeface="Microsoft YaHei UI" panose="020B0503020204020204" pitchFamily="34" charset="-122"/>
              </a:defRPr>
            </a:lvl1pPr>
          </a:lstStyle>
          <a:p>
            <a:fld id="{E6919CB4-F61F-4504-B693-1C4E320BF5D6}" type="datetime1">
              <a:rPr lang="zh-CN" altLang="en-US" smtClean="0"/>
              <a:t>2024/10/19</a:t>
            </a:fld>
            <a:endParaRPr lang="en-US" dirty="0"/>
          </a:p>
        </p:txBody>
      </p:sp>
      <p:sp>
        <p:nvSpPr>
          <p:cNvPr id="5" name="页脚占位符 4"/>
          <p:cNvSpPr>
            <a:spLocks noGrp="1"/>
          </p:cNvSpPr>
          <p:nvPr>
            <p:ph type="ftr" sz="quarter" idx="3"/>
          </p:nvPr>
        </p:nvSpPr>
        <p:spPr>
          <a:xfrm>
            <a:off x="581192" y="6292633"/>
            <a:ext cx="6917210" cy="365125"/>
          </a:xfrm>
          <a:prstGeom prst="rect">
            <a:avLst/>
          </a:prstGeom>
        </p:spPr>
        <p:txBody>
          <a:bodyPr vert="horz" lIns="91440" tIns="45720" rIns="91440" bIns="45720" rtlCol="0" anchor="ctr"/>
          <a:lstStyle>
            <a:lvl1pPr algn="l">
              <a:defRPr sz="900" cap="all">
                <a:solidFill>
                  <a:schemeClr val="accent2"/>
                </a:solidFill>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10558300" y="6296959"/>
            <a:ext cx="1052510" cy="365125"/>
          </a:xfrm>
          <a:prstGeom prst="rect">
            <a:avLst/>
          </a:prstGeom>
        </p:spPr>
        <p:txBody>
          <a:bodyPr vert="horz" lIns="91440" tIns="45720" rIns="91440" bIns="45720" rtlCol="0" anchor="ctr"/>
          <a:lstStyle>
            <a:lvl1pPr algn="r">
              <a:defRPr sz="900">
                <a:solidFill>
                  <a:schemeClr val="accent2"/>
                </a:solidFill>
                <a:latin typeface="Microsoft YaHei UI" panose="020B0503020204020204" pitchFamily="34" charset="-122"/>
                <a:ea typeface="Microsoft YaHei UI" panose="020B0503020204020204" pitchFamily="34" charset="-122"/>
              </a:defRPr>
            </a:lvl1pPr>
          </a:lstStyle>
          <a:p>
            <a:fld id="{D57F1E4F-1CFF-5643-939E-217C01CDF565}" type="slidenum">
              <a:rPr lang="en-US" smtClean="0"/>
              <a:t>‹#›</a:t>
            </a:fld>
            <a:endParaRPr lang="en-US" dirty="0"/>
          </a:p>
        </p:txBody>
      </p:sp>
      <p:sp>
        <p:nvSpPr>
          <p:cNvPr id="9" name="矩形 8"/>
          <p:cNvSpPr/>
          <p:nvPr/>
        </p:nvSpPr>
        <p:spPr>
          <a:xfrm>
            <a:off x="446534" y="249384"/>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矩形 9"/>
          <p:cNvSpPr/>
          <p:nvPr/>
        </p:nvSpPr>
        <p:spPr>
          <a:xfrm>
            <a:off x="8042147" y="245827"/>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矩形 10"/>
          <p:cNvSpPr/>
          <p:nvPr/>
        </p:nvSpPr>
        <p:spPr>
          <a:xfrm>
            <a:off x="4241830" y="249384"/>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457200" rtl="0" eaLnBrk="1" latinLnBrk="0" hangingPunct="1">
        <a:spcBef>
          <a:spcPct val="0"/>
        </a:spcBef>
        <a:buNone/>
        <a:defRPr sz="2800" b="0" kern="1200" cap="all">
          <a:solidFill>
            <a:schemeClr val="bg1"/>
          </a:solidFill>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icrosoft YaHei UI" panose="020B0503020204020204" pitchFamily="34" charset="-122"/>
          <a:ea typeface="Microsoft YaHei UI" panose="020B0503020204020204" pitchFamily="34" charset="-122"/>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icrosoft YaHei UI" panose="020B0503020204020204" pitchFamily="34" charset="-122"/>
          <a:ea typeface="Microsoft YaHei UI" panose="020B0503020204020204" pitchFamily="34" charset="-122"/>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icrosoft YaHei UI" panose="020B0503020204020204" pitchFamily="34" charset="-122"/>
          <a:ea typeface="Microsoft YaHei UI" panose="020B0503020204020204" pitchFamily="34" charset="-122"/>
          <a:cs typeface="+mn-cs"/>
        </a:defRPr>
      </a:lvl3pPr>
      <a:lvl4pPr marL="1242060"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icrosoft YaHei UI" panose="020B0503020204020204" pitchFamily="34" charset="-122"/>
          <a:ea typeface="Microsoft YaHei UI" panose="020B0503020204020204" pitchFamily="34" charset="-122"/>
          <a:cs typeface="+mn-cs"/>
        </a:defRPr>
      </a:lvl4pPr>
      <a:lvl5pPr marL="1602105"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icrosoft YaHei UI" panose="020B0503020204020204" pitchFamily="34" charset="-122"/>
          <a:ea typeface="Microsoft YaHei UI" panose="020B0503020204020204" pitchFamily="34" charset="-122"/>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图片 6" descr="数字连接"/>
          <p:cNvPicPr>
            <a:picLocks noChangeAspect="1"/>
          </p:cNvPicPr>
          <p:nvPr/>
        </p:nvPicPr>
        <p:blipFill rotWithShape="1">
          <a:blip r:embed="rId3" cstate="screen"/>
          <a:srcRect l="13265" t="9091" r="3502" b="-1"/>
          <a:stretch>
            <a:fillRect/>
          </a:stretch>
        </p:blipFill>
        <p:spPr>
          <a:xfrm>
            <a:off x="20" y="10"/>
            <a:ext cx="12191980" cy="6857990"/>
          </a:xfrm>
          <a:prstGeom prst="rect">
            <a:avLst/>
          </a:prstGeom>
        </p:spPr>
      </p:pic>
      <p:sp>
        <p:nvSpPr>
          <p:cNvPr id="22" name="矩形 21"/>
          <p:cNvSpPr>
            <a:spLocks noGrp="1" noRot="1" noChangeAspect="1" noMove="1" noResize="1" noEditPoints="1" noAdjustHandles="1" noChangeArrowheads="1" noChangeShapeType="1" noTextEdit="1"/>
          </p:cNvSpPr>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标题 1"/>
          <p:cNvSpPr>
            <a:spLocks noGrp="1"/>
          </p:cNvSpPr>
          <p:nvPr>
            <p:ph type="ctrTitle"/>
          </p:nvPr>
        </p:nvSpPr>
        <p:spPr>
          <a:xfrm>
            <a:off x="482601" y="4461097"/>
            <a:ext cx="10993549" cy="1851026"/>
          </a:xfrm>
        </p:spPr>
        <p:txBody>
          <a:bodyPr rtlCol="0" anchor="t">
            <a:noAutofit/>
          </a:bodyPr>
          <a:lstStyle/>
          <a:p>
            <a:pPr rtl="0">
              <a:lnSpc>
                <a:spcPct val="120000"/>
              </a:lnSpc>
            </a:pPr>
            <a:r>
              <a:rPr lang="en-US" altLang="zh-CN" sz="6000" cap="none" dirty="0">
                <a:solidFill>
                  <a:schemeClr val="bg1"/>
                </a:solidFill>
                <a:latin typeface="Microsoft YaHei UI" panose="020B0503020204020204" pitchFamily="34" charset="-122"/>
                <a:ea typeface="Microsoft YaHei UI" panose="020B0503020204020204" pitchFamily="34" charset="-122"/>
              </a:rPr>
              <a:t>5.4 </a:t>
            </a:r>
            <a:r>
              <a:rPr lang="zh-CN" altLang="en-US" sz="6000" cap="none">
                <a:solidFill>
                  <a:schemeClr val="bg1"/>
                </a:solidFill>
                <a:latin typeface="Microsoft YaHei UI" panose="020B0503020204020204" pitchFamily="34" charset="-122"/>
                <a:ea typeface="Microsoft YaHei UI" panose="020B0503020204020204" pitchFamily="34" charset="-122"/>
              </a:rPr>
              <a:t>欧拉角与旋转</a:t>
            </a:r>
            <a:r>
              <a:rPr lang="zh-CN" altLang="en-US" sz="6000" cap="none" dirty="0">
                <a:solidFill>
                  <a:schemeClr val="bg1"/>
                </a:solidFill>
                <a:latin typeface="Microsoft YaHei UI" panose="020B0503020204020204" pitchFamily="34" charset="-122"/>
                <a:ea typeface="Microsoft YaHei UI" panose="020B0503020204020204" pitchFamily="34" charset="-122"/>
              </a:rPr>
              <a:t>矩阵</a:t>
            </a:r>
          </a:p>
        </p:txBody>
      </p:sp>
      <p:pic>
        <p:nvPicPr>
          <p:cNvPr id="16" name="图片 15"/>
          <p:cNvPicPr>
            <a:picLocks noChangeAspect="1"/>
          </p:cNvPicPr>
          <p:nvPr/>
        </p:nvPicPr>
        <p:blipFill>
          <a:blip r:embed="rId4"/>
          <a:stretch>
            <a:fillRect/>
          </a:stretch>
        </p:blipFill>
        <p:spPr>
          <a:xfrm>
            <a:off x="6950679" y="300388"/>
            <a:ext cx="4974997" cy="867156"/>
          </a:xfrm>
          <a:prstGeom prst="rect">
            <a:avLst/>
          </a:prstGeom>
        </p:spPr>
      </p:pic>
      <p:sp>
        <p:nvSpPr>
          <p:cNvPr id="12" name="副标题 2"/>
          <p:cNvSpPr txBox="1"/>
          <p:nvPr/>
        </p:nvSpPr>
        <p:spPr>
          <a:xfrm>
            <a:off x="6950679" y="5592632"/>
            <a:ext cx="4642095" cy="635473"/>
          </a:xfrm>
          <a:prstGeom prst="rect">
            <a:avLst/>
          </a:prstGeom>
        </p:spPr>
        <p:txBody>
          <a:bodyPr vert="horz" lIns="91440" tIns="45720" rIns="91440" bIns="45720" rtlCol="0" anchor="t">
            <a:normAutofit fontScale="92500"/>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icrosoft YaHei UI" panose="020B0503020204020204" pitchFamily="34" charset="-122"/>
                <a:ea typeface="Microsoft YaHei UI" panose="020B0503020204020204" pitchFamily="34" charset="-122"/>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icrosoft YaHei UI" panose="020B0503020204020204" pitchFamily="34" charset="-122"/>
                <a:ea typeface="Microsoft YaHei UI" panose="020B0503020204020204" pitchFamily="34" charset="-122"/>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icrosoft YaHei UI" panose="020B0503020204020204" pitchFamily="34" charset="-122"/>
                <a:ea typeface="Microsoft YaHei UI" panose="020B0503020204020204" pitchFamily="34" charset="-122"/>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icrosoft YaHei UI" panose="020B0503020204020204" pitchFamily="34" charset="-122"/>
                <a:ea typeface="Microsoft YaHei UI" panose="020B0503020204020204" pitchFamily="34" charset="-122"/>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icrosoft YaHei UI" panose="020B0503020204020204" pitchFamily="34" charset="-122"/>
                <a:ea typeface="Microsoft YaHei UI" panose="020B0503020204020204" pitchFamily="34" charset="-122"/>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r"/>
            <a:r>
              <a:rPr lang="en-US" altLang="zh-CN" sz="3200" cap="none" dirty="0" err="1">
                <a:solidFill>
                  <a:schemeClr val="bg1"/>
                </a:solidFill>
              </a:rPr>
              <a:t>RoboWalker</a:t>
            </a:r>
            <a:r>
              <a:rPr lang="en-US" altLang="zh-CN" sz="3200" cap="none" dirty="0">
                <a:solidFill>
                  <a:schemeClr val="bg1"/>
                </a:solidFill>
              </a:rPr>
              <a:t> | </a:t>
            </a:r>
            <a:r>
              <a:rPr lang="en-US" altLang="zh-CN" sz="3200" cap="none" dirty="0" err="1">
                <a:solidFill>
                  <a:schemeClr val="bg1"/>
                </a:solidFill>
              </a:rPr>
              <a:t>Yssickjgd</a:t>
            </a:r>
            <a:endParaRPr lang="en-US" sz="4000" cap="none"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zh-CN" altLang="en-US" sz="4000" cap="none" dirty="0"/>
              <a:t>目录</a:t>
            </a:r>
          </a:p>
        </p:txBody>
      </p:sp>
      <p:sp>
        <p:nvSpPr>
          <p:cNvPr id="5" name="文本框 4"/>
          <p:cNvSpPr txBox="1"/>
          <p:nvPr/>
        </p:nvSpPr>
        <p:spPr>
          <a:xfrm>
            <a:off x="581192" y="1550046"/>
            <a:ext cx="11029616" cy="3654975"/>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回顾</a:t>
            </a:r>
            <a:endParaRPr lang="en-US" altLang="zh-CN" sz="20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二维坐标系</a:t>
            </a:r>
            <a:endParaRPr lang="en-US" altLang="zh-CN" sz="20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向量的旋转</a:t>
            </a:r>
            <a:endParaRPr lang="en-US" altLang="zh-CN" sz="20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旋转后新基下的坐标表示</a:t>
            </a:r>
            <a:endParaRPr lang="en-US" altLang="zh-CN" sz="20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欧拉角</a:t>
            </a:r>
            <a:endParaRPr lang="en-US" altLang="zh-CN" sz="20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三维坐标系</a:t>
            </a:r>
            <a:endParaRPr lang="en-US" altLang="zh-CN" sz="20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绕坐标轴旋转</a:t>
            </a:r>
            <a:endParaRPr lang="en-US" altLang="zh-CN" sz="20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外旋</a:t>
            </a:r>
            <a:endParaRPr lang="en-US" altLang="zh-CN" sz="20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内旋</a:t>
            </a:r>
            <a:endParaRPr lang="en-US" altLang="zh-CN" sz="20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85823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1 </a:t>
            </a:r>
            <a:r>
              <a:rPr lang="zh-CN" altLang="en-US" sz="4000" cap="none" dirty="0"/>
              <a:t>回顾</a:t>
            </a:r>
          </a:p>
        </p:txBody>
      </p:sp>
      <p:sp>
        <p:nvSpPr>
          <p:cNvPr id="4" name="文本框 3">
            <a:extLst>
              <a:ext uri="{FF2B5EF4-FFF2-40B4-BE49-F238E27FC236}">
                <a16:creationId xmlns:a16="http://schemas.microsoft.com/office/drawing/2014/main" id="{92BC1E25-88DA-4FF7-A201-F73488E04C3F}"/>
              </a:ext>
            </a:extLst>
          </p:cNvPr>
          <p:cNvSpPr txBox="1"/>
          <p:nvPr/>
        </p:nvSpPr>
        <p:spPr>
          <a:xfrm>
            <a:off x="581192" y="1550046"/>
            <a:ext cx="11029616" cy="5183022"/>
          </a:xfrm>
          <a:prstGeom prst="rect">
            <a:avLst/>
          </a:prstGeom>
          <a:noFill/>
        </p:spPr>
        <p:txBody>
          <a:bodyPr wrap="square" rtlCol="0">
            <a:spAutoFit/>
          </a:bodyPr>
          <a:lstStyle/>
          <a:p>
            <a:pPr>
              <a:lnSpc>
                <a:spcPct val="130000"/>
              </a:lnSpc>
            </a:pPr>
            <a:r>
              <a:rPr lang="zh-CN" altLang="en-US" sz="1600" dirty="0">
                <a:latin typeface="Microsoft YaHei UI" panose="020B0503020204020204" pitchFamily="34" charset="-122"/>
                <a:ea typeface="Microsoft YaHei UI" panose="020B0503020204020204" pitchFamily="34" charset="-122"/>
              </a:rPr>
              <a:t>上节视频已经讲过了运动学与动力学逆解算，以及运动学解算</a:t>
            </a:r>
            <a:endParaRPr lang="en-US" altLang="zh-CN" sz="1600" dirty="0">
              <a:latin typeface="Microsoft YaHei UI" panose="020B0503020204020204" pitchFamily="34" charset="-122"/>
              <a:ea typeface="Microsoft YaHei UI" panose="020B0503020204020204" pitchFamily="34" charset="-122"/>
            </a:endParaRPr>
          </a:p>
          <a:p>
            <a:pPr>
              <a:lnSpc>
                <a:spcPct val="130000"/>
              </a:lnSpc>
            </a:pPr>
            <a:r>
              <a:rPr lang="zh-CN" altLang="en-US" sz="1600" dirty="0">
                <a:latin typeface="Microsoft YaHei UI" panose="020B0503020204020204" pitchFamily="34" charset="-122"/>
                <a:ea typeface="Microsoft YaHei UI" panose="020B0503020204020204" pitchFamily="34" charset="-122"/>
              </a:rPr>
              <a:t>还剩下的一个大问题就是</a:t>
            </a:r>
            <a:r>
              <a:rPr lang="zh-CN" altLang="en-US" sz="1600" dirty="0">
                <a:highlight>
                  <a:srgbClr val="FFFF00"/>
                </a:highlight>
                <a:latin typeface="Microsoft YaHei UI" panose="020B0503020204020204" pitchFamily="34" charset="-122"/>
                <a:ea typeface="Microsoft YaHei UI" panose="020B0503020204020204" pitchFamily="34" charset="-122"/>
              </a:rPr>
              <a:t>位姿解算</a:t>
            </a:r>
            <a:endParaRPr lang="en-US" altLang="zh-CN" sz="1600" dirty="0">
              <a:latin typeface="Microsoft YaHei UI" panose="020B0503020204020204" pitchFamily="34" charset="-122"/>
              <a:ea typeface="Microsoft YaHei UI" panose="020B0503020204020204" pitchFamily="34" charset="-122"/>
            </a:endParaRPr>
          </a:p>
          <a:p>
            <a:pPr>
              <a:lnSpc>
                <a:spcPct val="130000"/>
              </a:lnSpc>
            </a:pPr>
            <a:r>
              <a:rPr lang="zh-CN" altLang="en-US" sz="1600" dirty="0">
                <a:latin typeface="Microsoft YaHei UI" panose="020B0503020204020204" pitchFamily="34" charset="-122"/>
                <a:ea typeface="Microsoft YaHei UI" panose="020B0503020204020204" pitchFamily="34" charset="-122"/>
              </a:rPr>
              <a:t>我们可以用成品陀螺仪获取当前底盘的欧拉角，进而通过一系列计算求得旋转矩阵（欧拉角和旋转矩阵是什么后面会讲），欧拉角说白了就是获取当前物体的朝向或者说姿态，旋转矩阵由欧拉角计算得出</a:t>
            </a:r>
            <a:endParaRPr lang="en-US" altLang="zh-CN" sz="1600" dirty="0">
              <a:latin typeface="Microsoft YaHei UI" panose="020B0503020204020204" pitchFamily="34" charset="-122"/>
              <a:ea typeface="Microsoft YaHei UI" panose="020B0503020204020204" pitchFamily="34" charset="-122"/>
            </a:endParaRPr>
          </a:p>
          <a:p>
            <a:pPr>
              <a:lnSpc>
                <a:spcPct val="130000"/>
              </a:lnSpc>
            </a:pP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战队用的主要是维特</a:t>
            </a:r>
            <a:r>
              <a:rPr lang="en-US" altLang="zh-CN" sz="1600" dirty="0">
                <a:latin typeface="Microsoft YaHei UI" panose="020B0503020204020204" pitchFamily="34" charset="-122"/>
                <a:ea typeface="Microsoft YaHei UI" panose="020B0503020204020204" pitchFamily="34" charset="-122"/>
              </a:rPr>
              <a:t>WIT</a:t>
            </a:r>
            <a:r>
              <a:rPr lang="zh-CN" altLang="en-US" sz="1600" dirty="0">
                <a:latin typeface="Microsoft YaHei UI" panose="020B0503020204020204" pitchFamily="34" charset="-122"/>
                <a:ea typeface="Microsoft YaHei UI" panose="020B0503020204020204" pitchFamily="34" charset="-122"/>
              </a:rPr>
              <a:t>和轮趣</a:t>
            </a:r>
            <a:r>
              <a:rPr lang="en-US" altLang="zh-CN" sz="1600" dirty="0" err="1">
                <a:latin typeface="Microsoft YaHei UI" panose="020B0503020204020204" pitchFamily="34" charset="-122"/>
                <a:ea typeface="Microsoft YaHei UI" panose="020B0503020204020204" pitchFamily="34" charset="-122"/>
              </a:rPr>
              <a:t>WheelTec</a:t>
            </a:r>
            <a:r>
              <a:rPr lang="zh-CN" altLang="en-US" sz="1600" dirty="0">
                <a:latin typeface="Microsoft YaHei UI" panose="020B0503020204020204" pitchFamily="34" charset="-122"/>
                <a:ea typeface="Microsoft YaHei UI" panose="020B0503020204020204" pitchFamily="34" charset="-122"/>
              </a:rPr>
              <a:t>的陀螺仪</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维特参考型号：</a:t>
            </a:r>
            <a:r>
              <a:rPr lang="en-US" altLang="zh-CN" sz="1600" dirty="0">
                <a:latin typeface="Microsoft YaHei UI" panose="020B0503020204020204" pitchFamily="34" charset="-122"/>
                <a:ea typeface="Microsoft YaHei UI" panose="020B0503020204020204" pitchFamily="34" charset="-122"/>
              </a:rPr>
              <a:t>HWT606</a:t>
            </a:r>
            <a:r>
              <a:rPr lang="zh-CN" altLang="en-US" sz="1600" dirty="0">
                <a:latin typeface="Microsoft YaHei UI" panose="020B0503020204020204" pitchFamily="34" charset="-122"/>
                <a:ea typeface="Microsoft YaHei UI" panose="020B0503020204020204" pitchFamily="34" charset="-122"/>
              </a:rPr>
              <a:t>（角度用给云台）、</a:t>
            </a:r>
            <a:r>
              <a:rPr lang="en-US" altLang="zh-CN" sz="1600" dirty="0">
                <a:latin typeface="Microsoft YaHei UI" panose="020B0503020204020204" pitchFamily="34" charset="-122"/>
                <a:ea typeface="Microsoft YaHei UI" panose="020B0503020204020204" pitchFamily="34" charset="-122"/>
              </a:rPr>
              <a:t>HWT101</a:t>
            </a:r>
            <a:r>
              <a:rPr lang="zh-CN" altLang="en-US" sz="1600" dirty="0">
                <a:latin typeface="Microsoft YaHei UI" panose="020B0503020204020204" pitchFamily="34" charset="-122"/>
                <a:ea typeface="Microsoft YaHei UI" panose="020B0503020204020204" pitchFamily="34" charset="-122"/>
              </a:rPr>
              <a:t>（</a:t>
            </a:r>
            <a:r>
              <a:rPr lang="en-US" altLang="zh-CN" sz="1600" dirty="0">
                <a:latin typeface="Microsoft YaHei UI" panose="020B0503020204020204" pitchFamily="34" charset="-122"/>
                <a:ea typeface="Microsoft YaHei UI" panose="020B0503020204020204" pitchFamily="34" charset="-122"/>
              </a:rPr>
              <a:t>Z</a:t>
            </a:r>
            <a:r>
              <a:rPr lang="zh-CN" altLang="en-US" sz="1600" dirty="0">
                <a:latin typeface="Microsoft YaHei UI" panose="020B0503020204020204" pitchFamily="34" charset="-122"/>
                <a:ea typeface="Microsoft YaHei UI" panose="020B0503020204020204" pitchFamily="34" charset="-122"/>
              </a:rPr>
              <a:t>轴角度用，无磁力计，十分甚至九分的精准）、</a:t>
            </a:r>
            <a:r>
              <a:rPr lang="en-US" altLang="zh-CN" sz="1600" dirty="0">
                <a:latin typeface="Microsoft YaHei UI" panose="020B0503020204020204" pitchFamily="34" charset="-122"/>
                <a:ea typeface="Microsoft YaHei UI" panose="020B0503020204020204" pitchFamily="34" charset="-122"/>
              </a:rPr>
              <a:t>JY931</a:t>
            </a:r>
            <a:r>
              <a:rPr lang="zh-CN" altLang="en-US" sz="1600" dirty="0">
                <a:latin typeface="Microsoft YaHei UI" panose="020B0503020204020204" pitchFamily="34" charset="-122"/>
                <a:ea typeface="Microsoft YaHei UI" panose="020B0503020204020204" pitchFamily="34" charset="-122"/>
              </a:rPr>
              <a:t>（角速度用给云台）</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轮趣：</a:t>
            </a:r>
            <a:r>
              <a:rPr lang="en-US" altLang="zh-CN" sz="1600" dirty="0">
                <a:latin typeface="Microsoft YaHei UI" panose="020B0503020204020204" pitchFamily="34" charset="-122"/>
                <a:ea typeface="Microsoft YaHei UI" panose="020B0503020204020204" pitchFamily="34" charset="-122"/>
              </a:rPr>
              <a:t>N100mini</a:t>
            </a:r>
            <a:r>
              <a:rPr lang="zh-CN" altLang="en-US" sz="1600" dirty="0">
                <a:latin typeface="Microsoft YaHei UI" panose="020B0503020204020204" pitchFamily="34" charset="-122"/>
                <a:ea typeface="Microsoft YaHei UI" panose="020B0503020204020204" pitchFamily="34" charset="-122"/>
              </a:rPr>
              <a:t>（反馈频率有点低，给底盘）</a:t>
            </a: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a:lnSpc>
                <a:spcPct val="130000"/>
              </a:lnSpc>
            </a:pPr>
            <a:endParaRPr lang="en-US" altLang="zh-CN" sz="1600" dirty="0">
              <a:latin typeface="Microsoft YaHei UI" panose="020B0503020204020204" pitchFamily="34" charset="-122"/>
              <a:ea typeface="Microsoft YaHei UI" panose="020B0503020204020204" pitchFamily="34" charset="-122"/>
            </a:endParaRPr>
          </a:p>
          <a:p>
            <a:pPr>
              <a:lnSpc>
                <a:spcPct val="130000"/>
              </a:lnSpc>
            </a:pPr>
            <a:endParaRPr lang="en-US" altLang="zh-CN" sz="1600" dirty="0">
              <a:latin typeface="Microsoft YaHei UI" panose="020B0503020204020204" pitchFamily="34" charset="-122"/>
              <a:ea typeface="Microsoft YaHei UI" panose="020B0503020204020204" pitchFamily="34" charset="-122"/>
            </a:endParaRPr>
          </a:p>
          <a:p>
            <a:pPr>
              <a:lnSpc>
                <a:spcPct val="130000"/>
              </a:lnSpc>
            </a:pP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可以通过位姿解算了解当前底盘的朝向和坡度等信息</a:t>
            </a: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底盘的牵引力补偿、云台自稳等电控的算法。旋转矩阵相关知识在视觉算法中也是广泛应用的</a:t>
            </a:r>
            <a:endParaRPr lang="en-US" altLang="zh-CN" sz="1600" dirty="0">
              <a:latin typeface="Microsoft YaHei UI" panose="020B0503020204020204" pitchFamily="34" charset="-122"/>
              <a:ea typeface="Microsoft YaHei UI" panose="020B0503020204020204" pitchFamily="34" charset="-122"/>
            </a:endParaRPr>
          </a:p>
        </p:txBody>
      </p:sp>
      <p:pic>
        <p:nvPicPr>
          <p:cNvPr id="5" name="图片 4">
            <a:extLst>
              <a:ext uri="{FF2B5EF4-FFF2-40B4-BE49-F238E27FC236}">
                <a16:creationId xmlns:a16="http://schemas.microsoft.com/office/drawing/2014/main" id="{FB602928-7524-4074-A2CF-6B015B4CACA7}"/>
              </a:ext>
            </a:extLst>
          </p:cNvPr>
          <p:cNvPicPr>
            <a:picLocks noChangeAspect="1"/>
          </p:cNvPicPr>
          <p:nvPr/>
        </p:nvPicPr>
        <p:blipFill>
          <a:blip r:embed="rId3"/>
          <a:stretch>
            <a:fillRect/>
          </a:stretch>
        </p:blipFill>
        <p:spPr>
          <a:xfrm>
            <a:off x="6316171" y="3937060"/>
            <a:ext cx="3257779" cy="2299252"/>
          </a:xfrm>
          <a:prstGeom prst="rect">
            <a:avLst/>
          </a:prstGeom>
        </p:spPr>
      </p:pic>
    </p:spTree>
    <p:extLst>
      <p:ext uri="{BB962C8B-B14F-4D97-AF65-F5344CB8AC3E}">
        <p14:creationId xmlns:p14="http://schemas.microsoft.com/office/powerpoint/2010/main" val="2721604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1 </a:t>
            </a:r>
            <a:r>
              <a:rPr lang="zh-CN" altLang="en-US" sz="4000" cap="none" dirty="0"/>
              <a:t>回顾</a:t>
            </a:r>
          </a:p>
        </p:txBody>
      </p:sp>
      <p:sp>
        <p:nvSpPr>
          <p:cNvPr id="4" name="文本框 3">
            <a:extLst>
              <a:ext uri="{FF2B5EF4-FFF2-40B4-BE49-F238E27FC236}">
                <a16:creationId xmlns:a16="http://schemas.microsoft.com/office/drawing/2014/main" id="{92BC1E25-88DA-4FF7-A201-F73488E04C3F}"/>
              </a:ext>
            </a:extLst>
          </p:cNvPr>
          <p:cNvSpPr txBox="1"/>
          <p:nvPr/>
        </p:nvSpPr>
        <p:spPr>
          <a:xfrm>
            <a:off x="581192" y="1550046"/>
            <a:ext cx="11029616" cy="4455194"/>
          </a:xfrm>
          <a:prstGeom prst="rect">
            <a:avLst/>
          </a:prstGeom>
          <a:noFill/>
        </p:spPr>
        <p:txBody>
          <a:bodyPr wrap="square" rtlCol="0">
            <a:spAutoFit/>
          </a:bodyPr>
          <a:lstStyle/>
          <a:p>
            <a:pPr>
              <a:lnSpc>
                <a:spcPct val="130000"/>
              </a:lnSpc>
            </a:pPr>
            <a:r>
              <a:rPr lang="zh-CN" altLang="en-US" sz="2000" dirty="0">
                <a:latin typeface="Microsoft YaHei UI" panose="020B0503020204020204" pitchFamily="34" charset="-122"/>
                <a:ea typeface="Microsoft YaHei UI" panose="020B0503020204020204" pitchFamily="34" charset="-122"/>
              </a:rPr>
              <a:t>为了</a:t>
            </a:r>
            <a:r>
              <a:rPr lang="zh-CN" altLang="en-US" sz="2000" dirty="0">
                <a:highlight>
                  <a:srgbClr val="FFFF00"/>
                </a:highlight>
                <a:latin typeface="Microsoft YaHei UI" panose="020B0503020204020204" pitchFamily="34" charset="-122"/>
                <a:ea typeface="Microsoft YaHei UI" panose="020B0503020204020204" pitchFamily="34" charset="-122"/>
              </a:rPr>
              <a:t>穷究原理洞悉本质</a:t>
            </a:r>
            <a:r>
              <a:rPr lang="zh-CN" altLang="en-US" sz="2000" dirty="0">
                <a:latin typeface="Microsoft YaHei UI" panose="020B0503020204020204" pitchFamily="34" charset="-122"/>
                <a:ea typeface="Microsoft YaHei UI" panose="020B0503020204020204" pitchFamily="34" charset="-122"/>
              </a:rPr>
              <a:t>，这一节，先抛开底盘算法，单纯对</a:t>
            </a:r>
            <a:r>
              <a:rPr lang="zh-CN" altLang="en-US" sz="2000" dirty="0">
                <a:solidFill>
                  <a:srgbClr val="FF0000"/>
                </a:solidFill>
                <a:latin typeface="Microsoft YaHei UI" panose="020B0503020204020204" pitchFamily="34" charset="-122"/>
                <a:ea typeface="Microsoft YaHei UI" panose="020B0503020204020204" pitchFamily="34" charset="-122"/>
              </a:rPr>
              <a:t>旋转</a:t>
            </a:r>
            <a:r>
              <a:rPr lang="zh-CN" altLang="en-US" sz="2000" dirty="0">
                <a:latin typeface="Microsoft YaHei UI" panose="020B0503020204020204" pitchFamily="34" charset="-122"/>
                <a:ea typeface="Microsoft YaHei UI" panose="020B0503020204020204" pitchFamily="34" charset="-122"/>
              </a:rPr>
              <a:t>建立数学上的认知</a:t>
            </a:r>
            <a:endParaRPr lang="en-US" altLang="zh-CN" sz="2000" dirty="0">
              <a:latin typeface="Microsoft YaHei UI" panose="020B0503020204020204" pitchFamily="34" charset="-122"/>
              <a:ea typeface="Microsoft YaHei UI" panose="020B0503020204020204" pitchFamily="34" charset="-122"/>
            </a:endParaRPr>
          </a:p>
          <a:p>
            <a:pPr>
              <a:lnSpc>
                <a:spcPct val="130000"/>
              </a:lnSpc>
            </a:pPr>
            <a:r>
              <a:rPr lang="zh-CN" altLang="en-US" sz="2000" dirty="0">
                <a:latin typeface="Microsoft YaHei UI" panose="020B0503020204020204" pitchFamily="34" charset="-122"/>
                <a:ea typeface="Microsoft YaHei UI" panose="020B0503020204020204" pitchFamily="34" charset="-122"/>
              </a:rPr>
              <a:t>也就是，通过底盘陀螺仪反馈的欧拉角，求解底盘的旋转矩阵</a:t>
            </a:r>
            <a:endParaRPr lang="en-US" altLang="zh-CN" sz="20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endParaRPr lang="en-US" altLang="zh-CN" sz="20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需要的非高中的前置知识</a:t>
            </a:r>
            <a:endParaRPr lang="en-US" altLang="zh-CN" sz="2000" dirty="0">
              <a:latin typeface="Microsoft YaHei UI" panose="020B0503020204020204" pitchFamily="34" charset="-122"/>
              <a:ea typeface="Microsoft YaHei UI" panose="020B0503020204020204" pitchFamily="34" charset="-122"/>
            </a:endParaRPr>
          </a:p>
          <a:p>
            <a:pPr marL="914400" lvl="1" indent="-457200">
              <a:lnSpc>
                <a:spcPct val="130000"/>
              </a:lnSpc>
              <a:buFont typeface="+mj-lt"/>
              <a:buAutoNum type="arabicPeriod"/>
            </a:pPr>
            <a:r>
              <a:rPr lang="zh-CN" altLang="en-US" sz="2000" dirty="0">
                <a:latin typeface="Microsoft YaHei UI" panose="020B0503020204020204" pitchFamily="34" charset="-122"/>
                <a:ea typeface="Microsoft YaHei UI" panose="020B0503020204020204" pitchFamily="34" charset="-122"/>
              </a:rPr>
              <a:t>知道什么是</a:t>
            </a:r>
            <a:r>
              <a:rPr lang="zh-CN" altLang="en-US" sz="2000" dirty="0">
                <a:solidFill>
                  <a:srgbClr val="FF0000"/>
                </a:solidFill>
                <a:latin typeface="Microsoft YaHei UI" panose="020B0503020204020204" pitchFamily="34" charset="-122"/>
                <a:ea typeface="Microsoft YaHei UI" panose="020B0503020204020204" pitchFamily="34" charset="-122"/>
              </a:rPr>
              <a:t>正交矩阵</a:t>
            </a:r>
            <a:endParaRPr lang="en-US" altLang="zh-CN" sz="2000" dirty="0">
              <a:solidFill>
                <a:srgbClr val="FF0000"/>
              </a:solidFill>
              <a:latin typeface="Microsoft YaHei UI" panose="020B0503020204020204" pitchFamily="34" charset="-122"/>
              <a:ea typeface="Microsoft YaHei UI" panose="020B0503020204020204" pitchFamily="34" charset="-122"/>
            </a:endParaRPr>
          </a:p>
          <a:p>
            <a:pPr marL="914400" lvl="1" indent="-457200">
              <a:lnSpc>
                <a:spcPct val="130000"/>
              </a:lnSpc>
              <a:buFont typeface="+mj-lt"/>
              <a:buAutoNum type="arabicPeriod"/>
            </a:pPr>
            <a:r>
              <a:rPr lang="zh-CN" altLang="en-US" sz="2000" dirty="0">
                <a:latin typeface="Microsoft YaHei UI" panose="020B0503020204020204" pitchFamily="34" charset="-122"/>
                <a:ea typeface="Microsoft YaHei UI" panose="020B0503020204020204" pitchFamily="34" charset="-122"/>
              </a:rPr>
              <a:t>知道什么是线性空间下的一组</a:t>
            </a:r>
            <a:r>
              <a:rPr lang="zh-CN" altLang="en-US" sz="2000" dirty="0">
                <a:solidFill>
                  <a:srgbClr val="FF0000"/>
                </a:solidFill>
                <a:latin typeface="Microsoft YaHei UI" panose="020B0503020204020204" pitchFamily="34" charset="-122"/>
                <a:ea typeface="Microsoft YaHei UI" panose="020B0503020204020204" pitchFamily="34" charset="-122"/>
              </a:rPr>
              <a:t>基</a:t>
            </a:r>
            <a:endParaRPr lang="en-US" altLang="zh-CN" sz="2000" dirty="0">
              <a:solidFill>
                <a:srgbClr val="FF0000"/>
              </a:solidFill>
              <a:latin typeface="Microsoft YaHei UI" panose="020B0503020204020204" pitchFamily="34" charset="-122"/>
              <a:ea typeface="Microsoft YaHei UI" panose="020B0503020204020204" pitchFamily="34" charset="-122"/>
            </a:endParaRPr>
          </a:p>
          <a:p>
            <a:pPr>
              <a:lnSpc>
                <a:spcPct val="130000"/>
              </a:lnSpc>
            </a:pPr>
            <a:endParaRPr lang="en-US" altLang="zh-CN" sz="2000" dirty="0">
              <a:solidFill>
                <a:srgbClr val="FF0000"/>
              </a:solidFill>
              <a:latin typeface="Microsoft YaHei UI" panose="020B0503020204020204" pitchFamily="34" charset="-122"/>
              <a:ea typeface="Microsoft YaHei UI" panose="020B0503020204020204" pitchFamily="34" charset="-122"/>
            </a:endParaRPr>
          </a:p>
          <a:p>
            <a:pPr>
              <a:lnSpc>
                <a:spcPct val="130000"/>
              </a:lnSpc>
            </a:pPr>
            <a:r>
              <a:rPr lang="zh-CN" altLang="en-US" sz="2000" dirty="0">
                <a:latin typeface="Microsoft YaHei UI" panose="020B0503020204020204" pitchFamily="34" charset="-122"/>
                <a:ea typeface="Microsoft YaHei UI" panose="020B0503020204020204" pitchFamily="34" charset="-122"/>
              </a:rPr>
              <a:t>这些知识都源自于大一上学期必修的线性代数</a:t>
            </a:r>
            <a:endParaRPr lang="en-US" altLang="zh-CN" sz="2000" dirty="0">
              <a:latin typeface="Microsoft YaHei UI" panose="020B0503020204020204" pitchFamily="34" charset="-122"/>
              <a:ea typeface="Microsoft YaHei UI" panose="020B0503020204020204" pitchFamily="34" charset="-122"/>
            </a:endParaRPr>
          </a:p>
          <a:p>
            <a:pPr>
              <a:lnSpc>
                <a:spcPct val="130000"/>
              </a:lnSpc>
            </a:pPr>
            <a:r>
              <a:rPr lang="zh-CN" altLang="en-US" sz="2000" dirty="0">
                <a:latin typeface="Microsoft YaHei UI" panose="020B0503020204020204" pitchFamily="34" charset="-122"/>
                <a:ea typeface="Microsoft YaHei UI" panose="020B0503020204020204" pitchFamily="34" charset="-122"/>
              </a:rPr>
              <a:t>（这门课很重要）</a:t>
            </a:r>
            <a:endParaRPr lang="en-US" altLang="zh-CN" sz="2000" dirty="0">
              <a:latin typeface="Microsoft YaHei UI" panose="020B0503020204020204" pitchFamily="34" charset="-122"/>
              <a:ea typeface="Microsoft YaHei UI" panose="020B0503020204020204" pitchFamily="34" charset="-122"/>
            </a:endParaRPr>
          </a:p>
          <a:p>
            <a:pPr>
              <a:lnSpc>
                <a:spcPct val="130000"/>
              </a:lnSpc>
            </a:pPr>
            <a:r>
              <a:rPr lang="zh-CN" altLang="en-US" sz="2000" dirty="0">
                <a:latin typeface="Microsoft YaHei UI" panose="020B0503020204020204" pitchFamily="34" charset="-122"/>
                <a:ea typeface="Microsoft YaHei UI" panose="020B0503020204020204" pitchFamily="34" charset="-122"/>
              </a:rPr>
              <a:t>（上一小节底盘解算那里不一定需要线性代数相关知识就可以理解核心思想）</a:t>
            </a:r>
            <a:endParaRPr lang="en-US" altLang="zh-CN" sz="2000" dirty="0">
              <a:latin typeface="Microsoft YaHei UI" panose="020B0503020204020204" pitchFamily="34" charset="-122"/>
              <a:ea typeface="Microsoft YaHei UI" panose="020B0503020204020204" pitchFamily="34" charset="-122"/>
            </a:endParaRPr>
          </a:p>
          <a:p>
            <a:pPr>
              <a:lnSpc>
                <a:spcPct val="130000"/>
              </a:lnSpc>
            </a:pPr>
            <a:r>
              <a:rPr lang="zh-CN" altLang="en-US" sz="2000" dirty="0">
                <a:latin typeface="Microsoft YaHei UI" panose="020B0503020204020204" pitchFamily="34" charset="-122"/>
                <a:ea typeface="Microsoft YaHei UI" panose="020B0503020204020204" pitchFamily="34" charset="-122"/>
              </a:rPr>
              <a:t>（但是！这一节绕不出线性代数了）</a:t>
            </a:r>
            <a:endParaRPr lang="en-US" altLang="zh-CN" sz="20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815624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1 </a:t>
            </a:r>
            <a:r>
              <a:rPr lang="zh-CN" altLang="en-US" sz="4000" cap="none" dirty="0"/>
              <a:t>回顾</a:t>
            </a:r>
          </a:p>
        </p:txBody>
      </p:sp>
      <p:sp>
        <p:nvSpPr>
          <p:cNvPr id="4" name="文本框 3">
            <a:extLst>
              <a:ext uri="{FF2B5EF4-FFF2-40B4-BE49-F238E27FC236}">
                <a16:creationId xmlns:a16="http://schemas.microsoft.com/office/drawing/2014/main" id="{92BC1E25-88DA-4FF7-A201-F73488E04C3F}"/>
              </a:ext>
            </a:extLst>
          </p:cNvPr>
          <p:cNvSpPr txBox="1"/>
          <p:nvPr/>
        </p:nvSpPr>
        <p:spPr>
          <a:xfrm>
            <a:off x="581192" y="1550046"/>
            <a:ext cx="11029616" cy="1654427"/>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本章节所有的</a:t>
            </a:r>
            <a:r>
              <a:rPr lang="zh-CN" altLang="en-US" sz="2000" dirty="0">
                <a:highlight>
                  <a:srgbClr val="FFFF00"/>
                </a:highlight>
                <a:latin typeface="Microsoft YaHei UI" panose="020B0503020204020204" pitchFamily="34" charset="-122"/>
                <a:ea typeface="Microsoft YaHei UI" panose="020B0503020204020204" pitchFamily="34" charset="-122"/>
              </a:rPr>
              <a:t>推导过程详见代码那个文件夹</a:t>
            </a:r>
            <a:r>
              <a:rPr lang="zh-CN" altLang="en-US" sz="2000" dirty="0">
                <a:latin typeface="Microsoft YaHei UI" panose="020B0503020204020204" pitchFamily="34" charset="-122"/>
                <a:ea typeface="Microsoft YaHei UI" panose="020B0503020204020204" pitchFamily="34" charset="-122"/>
              </a:rPr>
              <a:t>，</a:t>
            </a:r>
            <a:r>
              <a:rPr lang="en-US" altLang="zh-CN" sz="2000" dirty="0">
                <a:latin typeface="Microsoft YaHei UI" panose="020B0503020204020204" pitchFamily="34" charset="-122"/>
                <a:ea typeface="Microsoft YaHei UI" panose="020B0503020204020204" pitchFamily="34" charset="-122"/>
              </a:rPr>
              <a:t>PPT</a:t>
            </a:r>
            <a:r>
              <a:rPr lang="zh-CN" altLang="en-US" sz="2000" dirty="0">
                <a:latin typeface="Microsoft YaHei UI" panose="020B0503020204020204" pitchFamily="34" charset="-122"/>
                <a:ea typeface="Microsoft YaHei UI" panose="020B0503020204020204" pitchFamily="34" charset="-122"/>
              </a:rPr>
              <a:t>中直接摆结论</a:t>
            </a:r>
            <a:endParaRPr lang="en-US" altLang="zh-CN" sz="20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endParaRPr lang="en-US" altLang="zh-CN" sz="20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本小节沿用上小节底盘解算相关的坐标定义，</a:t>
            </a:r>
            <a:r>
              <a:rPr lang="zh-CN" altLang="en-US" sz="2000" dirty="0">
                <a:highlight>
                  <a:srgbClr val="FFFF00"/>
                </a:highlight>
                <a:latin typeface="Microsoft YaHei UI" panose="020B0503020204020204" pitchFamily="34" charset="-122"/>
                <a:ea typeface="Microsoft YaHei UI" panose="020B0503020204020204" pitchFamily="34" charset="-122"/>
              </a:rPr>
              <a:t>前</a:t>
            </a:r>
            <a:r>
              <a:rPr lang="en-US" altLang="zh-CN" sz="2000" dirty="0">
                <a:highlight>
                  <a:srgbClr val="FFFF00"/>
                </a:highlight>
                <a:latin typeface="Microsoft YaHei UI" panose="020B0503020204020204" pitchFamily="34" charset="-122"/>
                <a:ea typeface="Microsoft YaHei UI" panose="020B0503020204020204" pitchFamily="34" charset="-122"/>
              </a:rPr>
              <a:t>x</a:t>
            </a:r>
            <a:r>
              <a:rPr lang="zh-CN" altLang="en-US" sz="2000" dirty="0">
                <a:highlight>
                  <a:srgbClr val="FFFF00"/>
                </a:highlight>
                <a:latin typeface="Microsoft YaHei UI" panose="020B0503020204020204" pitchFamily="34" charset="-122"/>
                <a:ea typeface="Microsoft YaHei UI" panose="020B0503020204020204" pitchFamily="34" charset="-122"/>
              </a:rPr>
              <a:t>左</a:t>
            </a:r>
            <a:r>
              <a:rPr lang="en-US" altLang="zh-CN" sz="2000" dirty="0">
                <a:highlight>
                  <a:srgbClr val="FFFF00"/>
                </a:highlight>
                <a:latin typeface="Microsoft YaHei UI" panose="020B0503020204020204" pitchFamily="34" charset="-122"/>
                <a:ea typeface="Microsoft YaHei UI" panose="020B0503020204020204" pitchFamily="34" charset="-122"/>
              </a:rPr>
              <a:t>y</a:t>
            </a:r>
            <a:r>
              <a:rPr lang="zh-CN" altLang="en-US" sz="2000" dirty="0">
                <a:highlight>
                  <a:srgbClr val="FFFF00"/>
                </a:highlight>
                <a:latin typeface="Microsoft YaHei UI" panose="020B0503020204020204" pitchFamily="34" charset="-122"/>
                <a:ea typeface="Microsoft YaHei UI" panose="020B0503020204020204" pitchFamily="34" charset="-122"/>
              </a:rPr>
              <a:t>上</a:t>
            </a:r>
            <a:r>
              <a:rPr lang="en-US" altLang="zh-CN" sz="2000" dirty="0">
                <a:highlight>
                  <a:srgbClr val="FFFF00"/>
                </a:highlight>
                <a:latin typeface="Microsoft YaHei UI" panose="020B0503020204020204" pitchFamily="34" charset="-122"/>
                <a:ea typeface="Microsoft YaHei UI" panose="020B0503020204020204" pitchFamily="34" charset="-122"/>
              </a:rPr>
              <a:t>z</a:t>
            </a:r>
            <a:r>
              <a:rPr lang="zh-CN" altLang="en-US" sz="2000" dirty="0">
                <a:highlight>
                  <a:srgbClr val="FFFF00"/>
                </a:highlight>
                <a:latin typeface="Microsoft YaHei UI" panose="020B0503020204020204" pitchFamily="34" charset="-122"/>
                <a:ea typeface="Microsoft YaHei UI" panose="020B0503020204020204" pitchFamily="34" charset="-122"/>
              </a:rPr>
              <a:t>的右手系，逆时针右手螺旋定则确定角度</a:t>
            </a:r>
            <a:r>
              <a:rPr lang="en-US" altLang="zh-CN" sz="2000" dirty="0">
                <a:highlight>
                  <a:srgbClr val="FFFF00"/>
                </a:highlight>
                <a:latin typeface="Microsoft YaHei UI" panose="020B0503020204020204" pitchFamily="34" charset="-122"/>
                <a:ea typeface="Microsoft YaHei UI" panose="020B0503020204020204" pitchFamily="34" charset="-122"/>
              </a:rPr>
              <a:t>/</a:t>
            </a:r>
            <a:r>
              <a:rPr lang="zh-CN" altLang="en-US" sz="2000" dirty="0">
                <a:highlight>
                  <a:srgbClr val="FFFF00"/>
                </a:highlight>
                <a:latin typeface="Microsoft YaHei UI" panose="020B0503020204020204" pitchFamily="34" charset="-122"/>
                <a:ea typeface="Microsoft YaHei UI" panose="020B0503020204020204" pitchFamily="34" charset="-122"/>
              </a:rPr>
              <a:t>旋转的正方向</a:t>
            </a:r>
            <a:endParaRPr lang="en-US" altLang="zh-CN" sz="2000" dirty="0">
              <a:highlight>
                <a:srgbClr val="FFFF00"/>
              </a:highlight>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707548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1 </a:t>
            </a:r>
            <a:r>
              <a:rPr lang="zh-CN" altLang="en-US" sz="4000" cap="none" dirty="0"/>
              <a:t>回顾</a:t>
            </a:r>
          </a:p>
        </p:txBody>
      </p:sp>
      <p:pic>
        <p:nvPicPr>
          <p:cNvPr id="5" name="图片 4">
            <a:extLst>
              <a:ext uri="{FF2B5EF4-FFF2-40B4-BE49-F238E27FC236}">
                <a16:creationId xmlns:a16="http://schemas.microsoft.com/office/drawing/2014/main" id="{97338BF7-4459-4AA0-8E0E-8A4C70289BC3}"/>
              </a:ext>
            </a:extLst>
          </p:cNvPr>
          <p:cNvPicPr>
            <a:picLocks noChangeAspect="1"/>
          </p:cNvPicPr>
          <p:nvPr/>
        </p:nvPicPr>
        <p:blipFill>
          <a:blip r:embed="rId3"/>
          <a:stretch>
            <a:fillRect/>
          </a:stretch>
        </p:blipFill>
        <p:spPr>
          <a:xfrm>
            <a:off x="2131581" y="1547942"/>
            <a:ext cx="7925655" cy="5310058"/>
          </a:xfrm>
          <a:prstGeom prst="rect">
            <a:avLst/>
          </a:prstGeom>
        </p:spPr>
      </p:pic>
    </p:spTree>
    <p:extLst>
      <p:ext uri="{BB962C8B-B14F-4D97-AF65-F5344CB8AC3E}">
        <p14:creationId xmlns:p14="http://schemas.microsoft.com/office/powerpoint/2010/main" val="1637230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1 </a:t>
            </a:r>
            <a:r>
              <a:rPr lang="zh-CN" altLang="en-US" sz="4000" cap="none" dirty="0"/>
              <a:t>回顾</a:t>
            </a:r>
          </a:p>
        </p:txBody>
      </p:sp>
      <p:sp>
        <p:nvSpPr>
          <p:cNvPr id="5" name="文本框 4">
            <a:extLst>
              <a:ext uri="{FF2B5EF4-FFF2-40B4-BE49-F238E27FC236}">
                <a16:creationId xmlns:a16="http://schemas.microsoft.com/office/drawing/2014/main" id="{F400C07E-6E90-4C4E-BDA0-7425CCB4C49E}"/>
              </a:ext>
            </a:extLst>
          </p:cNvPr>
          <p:cNvSpPr txBox="1"/>
          <p:nvPr/>
        </p:nvSpPr>
        <p:spPr>
          <a:xfrm>
            <a:off x="581192" y="1718026"/>
            <a:ext cx="4681152" cy="3582584"/>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世界坐标系</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我们在二维直角坐标系下，可以以</a:t>
            </a:r>
            <a:r>
              <a:rPr lang="en-US" altLang="zh-CN" sz="1600" dirty="0">
                <a:solidFill>
                  <a:srgbClr val="FF0000"/>
                </a:solidFill>
                <a:latin typeface="Microsoft YaHei UI" panose="020B0503020204020204" pitchFamily="34" charset="-122"/>
                <a:ea typeface="Microsoft YaHei UI" panose="020B0503020204020204" pitchFamily="34" charset="-122"/>
              </a:rPr>
              <a:t>(1, 0)</a:t>
            </a:r>
            <a:r>
              <a:rPr lang="zh-CN" altLang="en-US" sz="1600" dirty="0">
                <a:solidFill>
                  <a:srgbClr val="FF0000"/>
                </a:solidFill>
                <a:latin typeface="Microsoft YaHei UI" panose="020B0503020204020204" pitchFamily="34" charset="-122"/>
                <a:ea typeface="Microsoft YaHei UI" panose="020B0503020204020204" pitchFamily="34" charset="-122"/>
              </a:rPr>
              <a:t>和</a:t>
            </a:r>
            <a:r>
              <a:rPr lang="en-US" altLang="zh-CN" sz="1600" dirty="0">
                <a:solidFill>
                  <a:srgbClr val="FF0000"/>
                </a:solidFill>
                <a:latin typeface="Microsoft YaHei UI" panose="020B0503020204020204" pitchFamily="34" charset="-122"/>
                <a:ea typeface="Microsoft YaHei UI" panose="020B0503020204020204" pitchFamily="34" charset="-122"/>
              </a:rPr>
              <a:t>(0, 1)</a:t>
            </a:r>
            <a:r>
              <a:rPr lang="zh-CN" altLang="en-US" sz="1600" dirty="0">
                <a:latin typeface="Microsoft YaHei UI" panose="020B0503020204020204" pitchFamily="34" charset="-122"/>
                <a:ea typeface="Microsoft YaHei UI" panose="020B0503020204020204" pitchFamily="34" charset="-122"/>
              </a:rPr>
              <a:t>作为一组标准正交基张成线性空间，也可以以</a:t>
            </a:r>
            <a:r>
              <a:rPr lang="en-US" altLang="zh-CN" sz="1600" dirty="0">
                <a:solidFill>
                  <a:srgbClr val="FF0000"/>
                </a:solidFill>
                <a:latin typeface="Microsoft YaHei UI" panose="020B0503020204020204" pitchFamily="34" charset="-122"/>
                <a:ea typeface="Microsoft YaHei UI" panose="020B0503020204020204" pitchFamily="34" charset="-122"/>
              </a:rPr>
              <a:t>(-1, 0)</a:t>
            </a:r>
            <a:r>
              <a:rPr lang="zh-CN" altLang="en-US" sz="1600" dirty="0">
                <a:solidFill>
                  <a:srgbClr val="FF0000"/>
                </a:solidFill>
                <a:latin typeface="Microsoft YaHei UI" panose="020B0503020204020204" pitchFamily="34" charset="-122"/>
                <a:ea typeface="Microsoft YaHei UI" panose="020B0503020204020204" pitchFamily="34" charset="-122"/>
              </a:rPr>
              <a:t>和</a:t>
            </a:r>
            <a:r>
              <a:rPr lang="en-US" altLang="zh-CN" sz="1600" dirty="0">
                <a:solidFill>
                  <a:srgbClr val="FF0000"/>
                </a:solidFill>
                <a:latin typeface="Microsoft YaHei UI" panose="020B0503020204020204" pitchFamily="34" charset="-122"/>
                <a:ea typeface="Microsoft YaHei UI" panose="020B0503020204020204" pitchFamily="34" charset="-122"/>
              </a:rPr>
              <a:t>(0, -1)</a:t>
            </a:r>
            <a:r>
              <a:rPr lang="zh-CN" altLang="en-US" sz="1600" dirty="0">
                <a:latin typeface="Microsoft YaHei UI" panose="020B0503020204020204" pitchFamily="34" charset="-122"/>
                <a:ea typeface="Microsoft YaHei UI" panose="020B0503020204020204" pitchFamily="34" charset="-122"/>
              </a:rPr>
              <a:t>作为一组标准正交基，甚至还可以以</a:t>
            </a:r>
            <a:r>
              <a:rPr lang="en-US" altLang="zh-CN" sz="1600" dirty="0">
                <a:solidFill>
                  <a:srgbClr val="FF0000"/>
                </a:solidFill>
                <a:latin typeface="Microsoft YaHei UI" panose="020B0503020204020204" pitchFamily="34" charset="-122"/>
                <a:ea typeface="Microsoft YaHei UI" panose="020B0503020204020204" pitchFamily="34" charset="-122"/>
              </a:rPr>
              <a:t>(</a:t>
            </a:r>
            <a:r>
              <a:rPr lang="zh-CN" altLang="en-US" sz="1600" dirty="0">
                <a:solidFill>
                  <a:srgbClr val="FF0000"/>
                </a:solidFill>
                <a:latin typeface="Microsoft YaHei UI" panose="020B0503020204020204" pitchFamily="34" charset="-122"/>
                <a:ea typeface="Microsoft YaHei UI" panose="020B0503020204020204" pitchFamily="34" charset="-122"/>
              </a:rPr>
              <a:t>√</a:t>
            </a:r>
            <a:r>
              <a:rPr lang="en-US" altLang="zh-CN" sz="1600" dirty="0">
                <a:solidFill>
                  <a:srgbClr val="FF0000"/>
                </a:solidFill>
                <a:latin typeface="Microsoft YaHei UI" panose="020B0503020204020204" pitchFamily="34" charset="-122"/>
                <a:ea typeface="Microsoft YaHei UI" panose="020B0503020204020204" pitchFamily="34" charset="-122"/>
              </a:rPr>
              <a:t>2/2, </a:t>
            </a:r>
            <a:r>
              <a:rPr lang="zh-CN" altLang="en-US" sz="1600" dirty="0">
                <a:solidFill>
                  <a:srgbClr val="FF0000"/>
                </a:solidFill>
                <a:latin typeface="Microsoft YaHei UI" panose="020B0503020204020204" pitchFamily="34" charset="-122"/>
                <a:ea typeface="Microsoft YaHei UI" panose="020B0503020204020204" pitchFamily="34" charset="-122"/>
              </a:rPr>
              <a:t>√</a:t>
            </a:r>
            <a:r>
              <a:rPr lang="en-US" altLang="zh-CN" sz="1600" dirty="0">
                <a:solidFill>
                  <a:srgbClr val="FF0000"/>
                </a:solidFill>
                <a:latin typeface="Microsoft YaHei UI" panose="020B0503020204020204" pitchFamily="34" charset="-122"/>
                <a:ea typeface="Microsoft YaHei UI" panose="020B0503020204020204" pitchFamily="34" charset="-122"/>
              </a:rPr>
              <a:t>2/2)</a:t>
            </a:r>
            <a:r>
              <a:rPr lang="zh-CN" altLang="en-US" sz="1600" dirty="0">
                <a:solidFill>
                  <a:srgbClr val="FF0000"/>
                </a:solidFill>
                <a:latin typeface="Microsoft YaHei UI" panose="020B0503020204020204" pitchFamily="34" charset="-122"/>
                <a:ea typeface="Microsoft YaHei UI" panose="020B0503020204020204" pitchFamily="34" charset="-122"/>
              </a:rPr>
              <a:t>和</a:t>
            </a:r>
            <a:r>
              <a:rPr lang="en-US" altLang="zh-CN" sz="1600" dirty="0">
                <a:solidFill>
                  <a:srgbClr val="FF0000"/>
                </a:solidFill>
                <a:latin typeface="Microsoft YaHei UI" panose="020B0503020204020204" pitchFamily="34" charset="-122"/>
                <a:ea typeface="Microsoft YaHei UI" panose="020B0503020204020204" pitchFamily="34" charset="-122"/>
              </a:rPr>
              <a:t>(</a:t>
            </a:r>
            <a:r>
              <a:rPr lang="zh-CN" altLang="en-US" sz="1600" dirty="0">
                <a:solidFill>
                  <a:srgbClr val="FF0000"/>
                </a:solidFill>
                <a:latin typeface="Microsoft YaHei UI" panose="020B0503020204020204" pitchFamily="34" charset="-122"/>
                <a:ea typeface="Microsoft YaHei UI" panose="020B0503020204020204" pitchFamily="34" charset="-122"/>
              </a:rPr>
              <a:t>√</a:t>
            </a:r>
            <a:r>
              <a:rPr lang="en-US" altLang="zh-CN" sz="1600" dirty="0">
                <a:solidFill>
                  <a:srgbClr val="FF0000"/>
                </a:solidFill>
                <a:latin typeface="Microsoft YaHei UI" panose="020B0503020204020204" pitchFamily="34" charset="-122"/>
                <a:ea typeface="Microsoft YaHei UI" panose="020B0503020204020204" pitchFamily="34" charset="-122"/>
              </a:rPr>
              <a:t>2/2, -</a:t>
            </a:r>
            <a:r>
              <a:rPr lang="zh-CN" altLang="en-US" sz="1600" dirty="0">
                <a:solidFill>
                  <a:srgbClr val="FF0000"/>
                </a:solidFill>
                <a:latin typeface="Microsoft YaHei UI" panose="020B0503020204020204" pitchFamily="34" charset="-122"/>
                <a:ea typeface="Microsoft YaHei UI" panose="020B0503020204020204" pitchFamily="34" charset="-122"/>
              </a:rPr>
              <a:t>√</a:t>
            </a:r>
            <a:r>
              <a:rPr lang="en-US" altLang="zh-CN" sz="1600" dirty="0">
                <a:solidFill>
                  <a:srgbClr val="FF0000"/>
                </a:solidFill>
                <a:latin typeface="Microsoft YaHei UI" panose="020B0503020204020204" pitchFamily="34" charset="-122"/>
                <a:ea typeface="Microsoft YaHei UI" panose="020B0503020204020204" pitchFamily="34" charset="-122"/>
              </a:rPr>
              <a:t>2/2)</a:t>
            </a:r>
            <a:r>
              <a:rPr lang="zh-CN" altLang="en-US" sz="1600" dirty="0">
                <a:latin typeface="Microsoft YaHei UI" panose="020B0503020204020204" pitchFamily="34" charset="-122"/>
                <a:ea typeface="Microsoft YaHei UI" panose="020B0503020204020204" pitchFamily="34" charset="-122"/>
              </a:rPr>
              <a:t>作为一组标准正交基张成线性空间</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其中，第一组基有些特别，基中的每个元素与坐标轴对应方向的方向向量相等</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以类似于第一个基作为坐标轴正方向的直角坐标系，叫做</a:t>
            </a:r>
            <a:r>
              <a:rPr lang="zh-CN" altLang="en-US" sz="1600" dirty="0">
                <a:highlight>
                  <a:srgbClr val="FFFF00"/>
                </a:highlight>
                <a:latin typeface="Microsoft YaHei UI" panose="020B0503020204020204" pitchFamily="34" charset="-122"/>
                <a:ea typeface="Microsoft YaHei UI" panose="020B0503020204020204" pitchFamily="34" charset="-122"/>
              </a:rPr>
              <a:t>世界坐标系</a:t>
            </a:r>
            <a:endParaRPr lang="en-US" altLang="zh-CN" sz="1600" dirty="0">
              <a:highlight>
                <a:srgbClr val="FFFF00"/>
              </a:highlight>
              <a:latin typeface="Microsoft YaHei UI" panose="020B0503020204020204" pitchFamily="34" charset="-122"/>
              <a:ea typeface="Microsoft YaHei UI" panose="020B0503020204020204" pitchFamily="34" charset="-122"/>
            </a:endParaRPr>
          </a:p>
        </p:txBody>
      </p:sp>
      <p:sp>
        <p:nvSpPr>
          <p:cNvPr id="6" name="文本框 5">
            <a:extLst>
              <a:ext uri="{FF2B5EF4-FFF2-40B4-BE49-F238E27FC236}">
                <a16:creationId xmlns:a16="http://schemas.microsoft.com/office/drawing/2014/main" id="{DD4A2E00-B791-4103-A061-948296ED7B24}"/>
              </a:ext>
            </a:extLst>
          </p:cNvPr>
          <p:cNvSpPr txBox="1"/>
          <p:nvPr/>
        </p:nvSpPr>
        <p:spPr>
          <a:xfrm>
            <a:off x="6096000" y="1718026"/>
            <a:ext cx="4681152" cy="2622321"/>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物体坐标系</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我们在给定一个物体的时候，会规定这个物体的</a:t>
            </a:r>
            <a:r>
              <a:rPr lang="zh-CN" altLang="en-US" sz="1600" dirty="0">
                <a:solidFill>
                  <a:srgbClr val="FF0000"/>
                </a:solidFill>
                <a:latin typeface="Microsoft YaHei UI" panose="020B0503020204020204" pitchFamily="34" charset="-122"/>
                <a:ea typeface="Microsoft YaHei UI" panose="020B0503020204020204" pitchFamily="34" charset="-122"/>
              </a:rPr>
              <a:t>前后左右上下面</a:t>
            </a:r>
            <a:r>
              <a:rPr lang="zh-CN" altLang="en-US" sz="1600" dirty="0">
                <a:latin typeface="Microsoft YaHei UI" panose="020B0503020204020204" pitchFamily="34" charset="-122"/>
                <a:ea typeface="Microsoft YaHei UI" panose="020B0503020204020204" pitchFamily="34" charset="-122"/>
              </a:rPr>
              <a:t>，这样才能描述物体的</a:t>
            </a:r>
            <a:r>
              <a:rPr lang="zh-CN" altLang="en-US" sz="1600" dirty="0">
                <a:solidFill>
                  <a:srgbClr val="FF0000"/>
                </a:solidFill>
                <a:latin typeface="Microsoft YaHei UI" panose="020B0503020204020204" pitchFamily="34" charset="-122"/>
                <a:ea typeface="Microsoft YaHei UI" panose="020B0503020204020204" pitchFamily="34" charset="-122"/>
              </a:rPr>
              <a:t>姿态</a:t>
            </a:r>
            <a:endParaRPr lang="en-US" altLang="zh-CN" sz="1600" dirty="0">
              <a:solidFill>
                <a:srgbClr val="FF0000"/>
              </a:solidFill>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随着物体旋转，物体的坐标系也在实时旋转</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绑定在物体上，跟随物体旋转的坐标系，叫做</a:t>
            </a:r>
            <a:r>
              <a:rPr lang="zh-CN" altLang="en-US" sz="1600" dirty="0">
                <a:highlight>
                  <a:srgbClr val="FFFF00"/>
                </a:highlight>
                <a:latin typeface="Microsoft YaHei UI" panose="020B0503020204020204" pitchFamily="34" charset="-122"/>
                <a:ea typeface="Microsoft YaHei UI" panose="020B0503020204020204" pitchFamily="34" charset="-122"/>
              </a:rPr>
              <a:t>物体坐标系</a:t>
            </a:r>
            <a:endParaRPr lang="en-US" altLang="zh-CN" sz="1600" dirty="0">
              <a:highlight>
                <a:srgbClr val="FFFF00"/>
              </a:highlight>
              <a:latin typeface="Microsoft YaHei UI" panose="020B0503020204020204" pitchFamily="34" charset="-122"/>
              <a:ea typeface="Microsoft YaHei UI" panose="020B0503020204020204" pitchFamily="34" charset="-122"/>
            </a:endParaRPr>
          </a:p>
        </p:txBody>
      </p:sp>
      <p:sp>
        <p:nvSpPr>
          <p:cNvPr id="7" name="文本框 6">
            <a:extLst>
              <a:ext uri="{FF2B5EF4-FFF2-40B4-BE49-F238E27FC236}">
                <a16:creationId xmlns:a16="http://schemas.microsoft.com/office/drawing/2014/main" id="{4D6028FD-D243-4409-9551-BE2D930A121D}"/>
              </a:ext>
            </a:extLst>
          </p:cNvPr>
          <p:cNvSpPr txBox="1"/>
          <p:nvPr/>
        </p:nvSpPr>
        <p:spPr>
          <a:xfrm>
            <a:off x="1484563" y="5468590"/>
            <a:ext cx="9222874" cy="1138132"/>
          </a:xfrm>
          <a:prstGeom prst="rect">
            <a:avLst/>
          </a:prstGeom>
          <a:noFill/>
        </p:spPr>
        <p:txBody>
          <a:bodyPr wrap="square" rtlCol="0">
            <a:spAutoFit/>
          </a:bodyPr>
          <a:lstStyle/>
          <a:p>
            <a:pPr>
              <a:lnSpc>
                <a:spcPct val="130000"/>
              </a:lnSpc>
            </a:pPr>
            <a:r>
              <a:rPr lang="zh-CN" altLang="en-US" dirty="0">
                <a:solidFill>
                  <a:srgbClr val="FF0000"/>
                </a:solidFill>
                <a:latin typeface="Microsoft YaHei UI" panose="020B0503020204020204" pitchFamily="34" charset="-122"/>
                <a:ea typeface="Microsoft YaHei UI" panose="020B0503020204020204" pitchFamily="34" charset="-122"/>
              </a:rPr>
              <a:t>规定！</a:t>
            </a:r>
            <a:endParaRPr lang="en-US" altLang="zh-CN" dirty="0">
              <a:solidFill>
                <a:srgbClr val="FF0000"/>
              </a:solidFill>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绕世界坐标系的</a:t>
            </a:r>
            <a:r>
              <a:rPr lang="en-US" altLang="zh-CN" dirty="0">
                <a:latin typeface="Microsoft YaHei UI" panose="020B0503020204020204" pitchFamily="34" charset="-122"/>
                <a:ea typeface="Microsoft YaHei UI" panose="020B0503020204020204" pitchFamily="34" charset="-122"/>
              </a:rPr>
              <a:t>x</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y</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z</a:t>
            </a:r>
            <a:r>
              <a:rPr lang="zh-CN" altLang="en-US" dirty="0">
                <a:latin typeface="Microsoft YaHei UI" panose="020B0503020204020204" pitchFamily="34" charset="-122"/>
                <a:ea typeface="Microsoft YaHei UI" panose="020B0503020204020204" pitchFamily="34" charset="-122"/>
              </a:rPr>
              <a:t>坐标轴（固定坐标轴），叫做</a:t>
            </a:r>
            <a:r>
              <a:rPr lang="zh-CN" altLang="en-US" dirty="0">
                <a:highlight>
                  <a:srgbClr val="FFFF00"/>
                </a:highlight>
                <a:latin typeface="Microsoft YaHei UI" panose="020B0503020204020204" pitchFamily="34" charset="-122"/>
                <a:ea typeface="Microsoft YaHei UI" panose="020B0503020204020204" pitchFamily="34" charset="-122"/>
              </a:rPr>
              <a:t>外旋</a:t>
            </a:r>
            <a:endParaRPr lang="en-US" altLang="zh-CN" dirty="0">
              <a:highlight>
                <a:srgbClr val="FFFF00"/>
              </a:highlight>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绕物体坐标系的</a:t>
            </a:r>
            <a:r>
              <a:rPr lang="en-US" altLang="zh-CN" dirty="0">
                <a:latin typeface="Microsoft YaHei UI" panose="020B0503020204020204" pitchFamily="34" charset="-122"/>
                <a:ea typeface="Microsoft YaHei UI" panose="020B0503020204020204" pitchFamily="34" charset="-122"/>
              </a:rPr>
              <a:t>x</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y</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z</a:t>
            </a:r>
            <a:r>
              <a:rPr lang="zh-CN" altLang="en-US" dirty="0">
                <a:latin typeface="Microsoft YaHei UI" panose="020B0503020204020204" pitchFamily="34" charset="-122"/>
                <a:ea typeface="Microsoft YaHei UI" panose="020B0503020204020204" pitchFamily="34" charset="-122"/>
              </a:rPr>
              <a:t>坐标轴（每转一次更新一次），叫做</a:t>
            </a:r>
            <a:r>
              <a:rPr lang="zh-CN" altLang="en-US" dirty="0">
                <a:highlight>
                  <a:srgbClr val="FFFF00"/>
                </a:highlight>
                <a:latin typeface="Microsoft YaHei UI" panose="020B0503020204020204" pitchFamily="34" charset="-122"/>
                <a:ea typeface="Microsoft YaHei UI" panose="020B0503020204020204" pitchFamily="34" charset="-122"/>
              </a:rPr>
              <a:t>内旋</a:t>
            </a:r>
            <a:endParaRPr lang="en-US" altLang="zh-CN" dirty="0">
              <a:highlight>
                <a:srgbClr val="FFFF00"/>
              </a:highlight>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482431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2.1 </a:t>
            </a:r>
            <a:r>
              <a:rPr lang="zh-CN" altLang="en-US" sz="4000" cap="none" dirty="0"/>
              <a:t>二维坐标系</a:t>
            </a:r>
            <a:r>
              <a:rPr lang="en-US" altLang="zh-CN" sz="4000" cap="none" dirty="0"/>
              <a:t>——</a:t>
            </a:r>
            <a:r>
              <a:rPr lang="zh-CN" altLang="en-US" sz="4000" cap="none" dirty="0"/>
              <a:t>向量的旋转</a:t>
            </a:r>
          </a:p>
        </p:txBody>
      </p:sp>
      <p:sp>
        <p:nvSpPr>
          <p:cNvPr id="12" name="文本框 11">
            <a:extLst>
              <a:ext uri="{FF2B5EF4-FFF2-40B4-BE49-F238E27FC236}">
                <a16:creationId xmlns:a16="http://schemas.microsoft.com/office/drawing/2014/main" id="{3F04A015-8470-4A1B-97C8-0F0FEE1452AB}"/>
              </a:ext>
            </a:extLst>
          </p:cNvPr>
          <p:cNvSpPr txBox="1"/>
          <p:nvPr/>
        </p:nvSpPr>
        <p:spPr>
          <a:xfrm>
            <a:off x="581192" y="5115384"/>
            <a:ext cx="11029616" cy="1158907"/>
          </a:xfrm>
          <a:prstGeom prst="rect">
            <a:avLst/>
          </a:prstGeom>
          <a:noFill/>
        </p:spPr>
        <p:txBody>
          <a:bodyPr wrap="square" rtlCol="0">
            <a:spAutoFit/>
          </a:bodyPr>
          <a:lstStyle/>
          <a:p>
            <a:pPr>
              <a:lnSpc>
                <a:spcPct val="130000"/>
              </a:lnSpc>
            </a:pPr>
            <a:r>
              <a:rPr lang="zh-CN" altLang="en-US" sz="2800" dirty="0">
                <a:latin typeface="Microsoft YaHei UI" panose="020B0503020204020204" pitchFamily="34" charset="-122"/>
                <a:ea typeface="Microsoft YaHei UI" panose="020B0503020204020204" pitchFamily="34" charset="-122"/>
              </a:rPr>
              <a:t>意义：</a:t>
            </a:r>
            <a:endParaRPr lang="en-US" altLang="zh-CN" sz="2800" dirty="0">
              <a:latin typeface="Microsoft YaHei UI" panose="020B0503020204020204" pitchFamily="34" charset="-122"/>
              <a:ea typeface="Microsoft YaHei UI" panose="020B0503020204020204" pitchFamily="34" charset="-122"/>
            </a:endParaRPr>
          </a:p>
          <a:p>
            <a:pPr>
              <a:lnSpc>
                <a:spcPct val="130000"/>
              </a:lnSpc>
            </a:pPr>
            <a:r>
              <a:rPr lang="zh-CN" altLang="en-US" sz="2800" dirty="0">
                <a:latin typeface="Microsoft YaHei UI" panose="020B0503020204020204" pitchFamily="34" charset="-122"/>
                <a:ea typeface="Microsoft YaHei UI" panose="020B0503020204020204" pitchFamily="34" charset="-122"/>
              </a:rPr>
              <a:t>建立了</a:t>
            </a:r>
            <a:r>
              <a:rPr lang="zh-CN" altLang="en-US" sz="2800" dirty="0">
                <a:solidFill>
                  <a:srgbClr val="FF0000"/>
                </a:solidFill>
                <a:latin typeface="Microsoft YaHei UI" panose="020B0503020204020204" pitchFamily="34" charset="-122"/>
                <a:ea typeface="Microsoft YaHei UI" panose="020B0503020204020204" pitchFamily="34" charset="-122"/>
              </a:rPr>
              <a:t>旋转操作</a:t>
            </a:r>
            <a:r>
              <a:rPr lang="zh-CN" altLang="en-US" sz="2800" dirty="0">
                <a:latin typeface="Microsoft YaHei UI" panose="020B0503020204020204" pitchFamily="34" charset="-122"/>
                <a:ea typeface="Microsoft YaHei UI" panose="020B0503020204020204" pitchFamily="34" charset="-122"/>
              </a:rPr>
              <a:t>与</a:t>
            </a:r>
            <a:r>
              <a:rPr lang="zh-CN" altLang="en-US" sz="2800" dirty="0">
                <a:solidFill>
                  <a:srgbClr val="FF0000"/>
                </a:solidFill>
                <a:latin typeface="Microsoft YaHei UI" panose="020B0503020204020204" pitchFamily="34" charset="-122"/>
                <a:ea typeface="Microsoft YaHei UI" panose="020B0503020204020204" pitchFamily="34" charset="-122"/>
              </a:rPr>
              <a:t>旋转矩阵</a:t>
            </a:r>
            <a:r>
              <a:rPr lang="zh-CN" altLang="en-US" sz="2800" dirty="0">
                <a:latin typeface="Microsoft YaHei UI" panose="020B0503020204020204" pitchFamily="34" charset="-122"/>
                <a:ea typeface="Microsoft YaHei UI" panose="020B0503020204020204" pitchFamily="34" charset="-122"/>
              </a:rPr>
              <a:t>之间的对应关系</a:t>
            </a:r>
            <a:endParaRPr lang="en-US" altLang="zh-CN" sz="2800" dirty="0">
              <a:latin typeface="Microsoft YaHei UI" panose="020B0503020204020204" pitchFamily="34" charset="-122"/>
              <a:ea typeface="Microsoft YaHei UI" panose="020B0503020204020204" pitchFamily="34" charset="-122"/>
            </a:endParaRPr>
          </a:p>
        </p:txBody>
      </p:sp>
      <p:pic>
        <p:nvPicPr>
          <p:cNvPr id="6" name="图片 5">
            <a:extLst>
              <a:ext uri="{FF2B5EF4-FFF2-40B4-BE49-F238E27FC236}">
                <a16:creationId xmlns:a16="http://schemas.microsoft.com/office/drawing/2014/main" id="{9B649A06-0DC9-49AE-89E4-76201110CB28}"/>
              </a:ext>
            </a:extLst>
          </p:cNvPr>
          <p:cNvPicPr>
            <a:picLocks noChangeAspect="1"/>
          </p:cNvPicPr>
          <p:nvPr/>
        </p:nvPicPr>
        <p:blipFill>
          <a:blip r:embed="rId3"/>
          <a:stretch>
            <a:fillRect/>
          </a:stretch>
        </p:blipFill>
        <p:spPr>
          <a:xfrm>
            <a:off x="595312" y="2286000"/>
            <a:ext cx="11001375" cy="2286000"/>
          </a:xfrm>
          <a:prstGeom prst="rect">
            <a:avLst/>
          </a:prstGeom>
        </p:spPr>
      </p:pic>
      <p:sp>
        <p:nvSpPr>
          <p:cNvPr id="5" name="文本框 4">
            <a:extLst>
              <a:ext uri="{FF2B5EF4-FFF2-40B4-BE49-F238E27FC236}">
                <a16:creationId xmlns:a16="http://schemas.microsoft.com/office/drawing/2014/main" id="{7FB776A7-BE3F-4BCD-818F-07189F84A981}"/>
              </a:ext>
            </a:extLst>
          </p:cNvPr>
          <p:cNvSpPr txBox="1"/>
          <p:nvPr/>
        </p:nvSpPr>
        <p:spPr>
          <a:xfrm>
            <a:off x="581192" y="1550046"/>
            <a:ext cx="11029616" cy="417935"/>
          </a:xfrm>
          <a:prstGeom prst="rect">
            <a:avLst/>
          </a:prstGeom>
          <a:noFill/>
        </p:spPr>
        <p:txBody>
          <a:bodyPr wrap="square" rtlCol="0">
            <a:spAutoFit/>
          </a:bodyPr>
          <a:lstStyle/>
          <a:p>
            <a:pPr>
              <a:lnSpc>
                <a:spcPct val="130000"/>
              </a:lnSpc>
            </a:pPr>
            <a:r>
              <a:rPr lang="zh-CN" altLang="en-US" dirty="0">
                <a:latin typeface="Microsoft YaHei UI" panose="020B0503020204020204" pitchFamily="34" charset="-122"/>
                <a:ea typeface="Microsoft YaHei UI" panose="020B0503020204020204" pitchFamily="34" charset="-122"/>
              </a:rPr>
              <a:t>先考虑我们三维生物在二维电脑屏幕上比较容易脑补的东西，那就是二维坐标系</a:t>
            </a:r>
          </a:p>
        </p:txBody>
      </p:sp>
    </p:spTree>
    <p:extLst>
      <p:ext uri="{BB962C8B-B14F-4D97-AF65-F5344CB8AC3E}">
        <p14:creationId xmlns:p14="http://schemas.microsoft.com/office/powerpoint/2010/main" val="2402668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2.1 </a:t>
            </a:r>
            <a:r>
              <a:rPr lang="zh-CN" altLang="en-US" sz="4000" cap="none" dirty="0"/>
              <a:t>二维坐标系</a:t>
            </a:r>
            <a:r>
              <a:rPr lang="en-US" altLang="zh-CN" sz="4000" cap="none" dirty="0"/>
              <a:t>——</a:t>
            </a:r>
            <a:r>
              <a:rPr lang="zh-CN" altLang="en-US" sz="4000" cap="none" dirty="0"/>
              <a:t>向量的旋转</a:t>
            </a:r>
          </a:p>
        </p:txBody>
      </p:sp>
      <p:sp>
        <p:nvSpPr>
          <p:cNvPr id="5" name="文本框 4">
            <a:extLst>
              <a:ext uri="{FF2B5EF4-FFF2-40B4-BE49-F238E27FC236}">
                <a16:creationId xmlns:a16="http://schemas.microsoft.com/office/drawing/2014/main" id="{7DB5E7DE-7A3E-4739-9296-7D423C9BD75D}"/>
              </a:ext>
            </a:extLst>
          </p:cNvPr>
          <p:cNvSpPr txBox="1"/>
          <p:nvPr/>
        </p:nvSpPr>
        <p:spPr>
          <a:xfrm>
            <a:off x="581192" y="1550046"/>
            <a:ext cx="11029616" cy="3654975"/>
          </a:xfrm>
          <a:prstGeom prst="rect">
            <a:avLst/>
          </a:prstGeom>
          <a:noFill/>
        </p:spPr>
        <p:txBody>
          <a:bodyPr wrap="square" rtlCol="0">
            <a:spAutoFit/>
          </a:bodyPr>
          <a:lstStyle/>
          <a:p>
            <a:pPr>
              <a:lnSpc>
                <a:spcPct val="130000"/>
              </a:lnSpc>
            </a:pPr>
            <a:r>
              <a:rPr lang="zh-CN" altLang="en-US" sz="2000" dirty="0">
                <a:latin typeface="Microsoft YaHei UI" panose="020B0503020204020204" pitchFamily="34" charset="-122"/>
                <a:ea typeface="Microsoft YaHei UI" panose="020B0503020204020204" pitchFamily="34" charset="-122"/>
              </a:rPr>
              <a:t>练习</a:t>
            </a:r>
            <a:r>
              <a:rPr lang="en-US" altLang="zh-CN" sz="2000" dirty="0">
                <a:latin typeface="Microsoft YaHei UI" panose="020B0503020204020204" pitchFamily="34" charset="-122"/>
                <a:ea typeface="Microsoft YaHei UI" panose="020B0503020204020204" pitchFamily="34" charset="-122"/>
              </a:rPr>
              <a:t>1</a:t>
            </a:r>
            <a:r>
              <a:rPr lang="zh-CN" altLang="en-US" sz="2000" dirty="0">
                <a:latin typeface="Microsoft YaHei UI" panose="020B0503020204020204" pitchFamily="34" charset="-122"/>
                <a:ea typeface="Microsoft YaHei UI" panose="020B0503020204020204" pitchFamily="34" charset="-122"/>
              </a:rPr>
              <a:t>：将</a:t>
            </a:r>
            <a:r>
              <a:rPr lang="en-US" altLang="zh-CN" sz="2000" dirty="0">
                <a:latin typeface="Microsoft YaHei UI" panose="020B0503020204020204" pitchFamily="34" charset="-122"/>
                <a:ea typeface="Microsoft YaHei UI" panose="020B0503020204020204" pitchFamily="34" charset="-122"/>
              </a:rPr>
              <a:t>(1, 5)</a:t>
            </a:r>
            <a:r>
              <a:rPr lang="zh-CN" altLang="en-US" sz="2000" dirty="0">
                <a:latin typeface="Microsoft YaHei UI" panose="020B0503020204020204" pitchFamily="34" charset="-122"/>
                <a:ea typeface="Microsoft YaHei UI" panose="020B0503020204020204" pitchFamily="34" charset="-122"/>
              </a:rPr>
              <a:t>绕原点旋转</a:t>
            </a:r>
            <a:r>
              <a:rPr lang="en-US" altLang="zh-CN" sz="2000" dirty="0">
                <a:latin typeface="Microsoft YaHei UI" panose="020B0503020204020204" pitchFamily="34" charset="-122"/>
                <a:ea typeface="Microsoft YaHei UI" panose="020B0503020204020204" pitchFamily="34" charset="-122"/>
              </a:rPr>
              <a:t>45°</a:t>
            </a:r>
            <a:r>
              <a:rPr lang="zh-CN" altLang="en-US" sz="2000" dirty="0">
                <a:latin typeface="Microsoft YaHei UI" panose="020B0503020204020204" pitchFamily="34" charset="-122"/>
                <a:ea typeface="Microsoft YaHei UI" panose="020B0503020204020204" pitchFamily="34" charset="-122"/>
              </a:rPr>
              <a:t>得到新向量，求这个新向量</a:t>
            </a:r>
            <a:endParaRPr lang="en-US" altLang="zh-CN" sz="2000" dirty="0">
              <a:latin typeface="Microsoft YaHei UI" panose="020B0503020204020204" pitchFamily="34" charset="-122"/>
              <a:ea typeface="Microsoft YaHei UI" panose="020B0503020204020204" pitchFamily="34" charset="-122"/>
            </a:endParaRPr>
          </a:p>
          <a:p>
            <a:pPr>
              <a:lnSpc>
                <a:spcPct val="130000"/>
              </a:lnSpc>
            </a:pPr>
            <a:r>
              <a:rPr lang="zh-CN" altLang="en-US" sz="2000" dirty="0">
                <a:latin typeface="Microsoft YaHei UI" panose="020B0503020204020204" pitchFamily="34" charset="-122"/>
                <a:ea typeface="Microsoft YaHei UI" panose="020B0503020204020204" pitchFamily="34" charset="-122"/>
              </a:rPr>
              <a:t>练习</a:t>
            </a:r>
            <a:r>
              <a:rPr lang="en-US" altLang="zh-CN" sz="2000" dirty="0">
                <a:latin typeface="Microsoft YaHei UI" panose="020B0503020204020204" pitchFamily="34" charset="-122"/>
                <a:ea typeface="Microsoft YaHei UI" panose="020B0503020204020204" pitchFamily="34" charset="-122"/>
              </a:rPr>
              <a:t>2</a:t>
            </a:r>
            <a:r>
              <a:rPr lang="zh-CN" altLang="en-US" sz="2000" dirty="0">
                <a:latin typeface="Microsoft YaHei UI" panose="020B0503020204020204" pitchFamily="34" charset="-122"/>
                <a:ea typeface="Microsoft YaHei UI" panose="020B0503020204020204" pitchFamily="34" charset="-122"/>
              </a:rPr>
              <a:t>：在练习</a:t>
            </a:r>
            <a:r>
              <a:rPr lang="en-US" altLang="zh-CN" sz="2000" dirty="0">
                <a:latin typeface="Microsoft YaHei UI" panose="020B0503020204020204" pitchFamily="34" charset="-122"/>
                <a:ea typeface="Microsoft YaHei UI" panose="020B0503020204020204" pitchFamily="34" charset="-122"/>
              </a:rPr>
              <a:t>1</a:t>
            </a:r>
            <a:r>
              <a:rPr lang="zh-CN" altLang="en-US" sz="2000" dirty="0">
                <a:latin typeface="Microsoft YaHei UI" panose="020B0503020204020204" pitchFamily="34" charset="-122"/>
                <a:ea typeface="Microsoft YaHei UI" panose="020B0503020204020204" pitchFamily="34" charset="-122"/>
              </a:rPr>
              <a:t>的基础上，将新向量继续转</a:t>
            </a:r>
            <a:r>
              <a:rPr lang="en-US" altLang="zh-CN" sz="2000" dirty="0">
                <a:latin typeface="Microsoft YaHei UI" panose="020B0503020204020204" pitchFamily="34" charset="-122"/>
                <a:ea typeface="Microsoft YaHei UI" panose="020B0503020204020204" pitchFamily="34" charset="-122"/>
              </a:rPr>
              <a:t>90°</a:t>
            </a:r>
            <a:r>
              <a:rPr lang="zh-CN" altLang="en-US" sz="2000" dirty="0">
                <a:latin typeface="Microsoft YaHei UI" panose="020B0503020204020204" pitchFamily="34" charset="-122"/>
                <a:ea typeface="Microsoft YaHei UI" panose="020B0503020204020204" pitchFamily="34" charset="-122"/>
              </a:rPr>
              <a:t>，求旋转后的向量</a:t>
            </a:r>
            <a:endParaRPr lang="en-US" altLang="zh-CN" sz="2000" dirty="0">
              <a:latin typeface="Microsoft YaHei UI" panose="020B0503020204020204" pitchFamily="34" charset="-122"/>
              <a:ea typeface="Microsoft YaHei UI" panose="020B0503020204020204" pitchFamily="34" charset="-122"/>
            </a:endParaRPr>
          </a:p>
          <a:p>
            <a:pPr>
              <a:lnSpc>
                <a:spcPct val="130000"/>
              </a:lnSpc>
            </a:pPr>
            <a:r>
              <a:rPr lang="zh-CN" altLang="en-US" sz="2000" dirty="0">
                <a:latin typeface="Microsoft YaHei UI" panose="020B0503020204020204" pitchFamily="34" charset="-122"/>
                <a:ea typeface="Microsoft YaHei UI" panose="020B0503020204020204" pitchFamily="34" charset="-122"/>
              </a:rPr>
              <a:t>练习</a:t>
            </a:r>
            <a:r>
              <a:rPr lang="en-US" altLang="zh-CN" sz="2000" dirty="0">
                <a:latin typeface="Microsoft YaHei UI" panose="020B0503020204020204" pitchFamily="34" charset="-122"/>
                <a:ea typeface="Microsoft YaHei UI" panose="020B0503020204020204" pitchFamily="34" charset="-122"/>
              </a:rPr>
              <a:t>3</a:t>
            </a:r>
            <a:r>
              <a:rPr lang="zh-CN" altLang="en-US" sz="2000" dirty="0">
                <a:latin typeface="Microsoft YaHei UI" panose="020B0503020204020204" pitchFamily="34" charset="-122"/>
                <a:ea typeface="Microsoft YaHei UI" panose="020B0503020204020204" pitchFamily="34" charset="-122"/>
              </a:rPr>
              <a:t>：直接将向量</a:t>
            </a:r>
            <a:r>
              <a:rPr lang="en-US" altLang="zh-CN" sz="2000" dirty="0">
                <a:latin typeface="Microsoft YaHei UI" panose="020B0503020204020204" pitchFamily="34" charset="-122"/>
                <a:ea typeface="Microsoft YaHei UI" panose="020B0503020204020204" pitchFamily="34" charset="-122"/>
              </a:rPr>
              <a:t>(1, 5)</a:t>
            </a:r>
            <a:r>
              <a:rPr lang="zh-CN" altLang="en-US" sz="2000" dirty="0">
                <a:latin typeface="Microsoft YaHei UI" panose="020B0503020204020204" pitchFamily="34" charset="-122"/>
                <a:ea typeface="Microsoft YaHei UI" panose="020B0503020204020204" pitchFamily="34" charset="-122"/>
              </a:rPr>
              <a:t>绕原点旋转</a:t>
            </a:r>
            <a:r>
              <a:rPr lang="en-US" altLang="zh-CN" sz="2000" dirty="0">
                <a:latin typeface="Microsoft YaHei UI" panose="020B0503020204020204" pitchFamily="34" charset="-122"/>
                <a:ea typeface="Microsoft YaHei UI" panose="020B0503020204020204" pitchFamily="34" charset="-122"/>
              </a:rPr>
              <a:t>135°</a:t>
            </a:r>
            <a:r>
              <a:rPr lang="zh-CN" altLang="en-US" sz="2000" dirty="0">
                <a:latin typeface="Microsoft YaHei UI" panose="020B0503020204020204" pitchFamily="34" charset="-122"/>
                <a:ea typeface="Microsoft YaHei UI" panose="020B0503020204020204" pitchFamily="34" charset="-122"/>
              </a:rPr>
              <a:t>，求旋转后的向量</a:t>
            </a:r>
            <a:endParaRPr lang="en-US" altLang="zh-CN" sz="20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endParaRPr lang="en-US" altLang="zh-CN" sz="20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endParaRPr lang="en-US" altLang="zh-CN" sz="20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endParaRPr lang="en-US" altLang="zh-CN" sz="2000" dirty="0">
              <a:latin typeface="Microsoft YaHei UI" panose="020B0503020204020204" pitchFamily="34" charset="-122"/>
              <a:ea typeface="Microsoft YaHei UI" panose="020B0503020204020204" pitchFamily="34" charset="-122"/>
            </a:endParaRPr>
          </a:p>
          <a:p>
            <a:pPr>
              <a:lnSpc>
                <a:spcPct val="130000"/>
              </a:lnSpc>
            </a:pPr>
            <a:r>
              <a:rPr lang="zh-CN" altLang="en-US" sz="2000" dirty="0">
                <a:latin typeface="Microsoft YaHei UI" panose="020B0503020204020204" pitchFamily="34" charset="-122"/>
                <a:ea typeface="Microsoft YaHei UI" panose="020B0503020204020204" pitchFamily="34" charset="-122"/>
              </a:rPr>
              <a:t>思考：练习</a:t>
            </a:r>
            <a:r>
              <a:rPr lang="en-US" altLang="zh-CN" sz="2000" dirty="0">
                <a:latin typeface="Microsoft YaHei UI" panose="020B0503020204020204" pitchFamily="34" charset="-122"/>
                <a:ea typeface="Microsoft YaHei UI" panose="020B0503020204020204" pitchFamily="34" charset="-122"/>
              </a:rPr>
              <a:t>3</a:t>
            </a:r>
            <a:r>
              <a:rPr lang="zh-CN" altLang="en-US" sz="2000" dirty="0">
                <a:latin typeface="Microsoft YaHei UI" panose="020B0503020204020204" pitchFamily="34" charset="-122"/>
                <a:ea typeface="Microsoft YaHei UI" panose="020B0503020204020204" pitchFamily="34" charset="-122"/>
              </a:rPr>
              <a:t>是否可以由练习</a:t>
            </a:r>
            <a:r>
              <a:rPr lang="en-US" altLang="zh-CN" sz="2000" dirty="0">
                <a:latin typeface="Microsoft YaHei UI" panose="020B0503020204020204" pitchFamily="34" charset="-122"/>
                <a:ea typeface="Microsoft YaHei UI" panose="020B0503020204020204" pitchFamily="34" charset="-122"/>
              </a:rPr>
              <a:t>1</a:t>
            </a:r>
            <a:r>
              <a:rPr lang="zh-CN" altLang="en-US" sz="2000" dirty="0">
                <a:latin typeface="Microsoft YaHei UI" panose="020B0503020204020204" pitchFamily="34" charset="-122"/>
                <a:ea typeface="Microsoft YaHei UI" panose="020B0503020204020204" pitchFamily="34" charset="-122"/>
              </a:rPr>
              <a:t>和</a:t>
            </a:r>
            <a:r>
              <a:rPr lang="en-US" altLang="zh-CN" sz="2000" dirty="0">
                <a:latin typeface="Microsoft YaHei UI" panose="020B0503020204020204" pitchFamily="34" charset="-122"/>
                <a:ea typeface="Microsoft YaHei UI" panose="020B0503020204020204" pitchFamily="34" charset="-122"/>
              </a:rPr>
              <a:t>2</a:t>
            </a:r>
            <a:r>
              <a:rPr lang="zh-CN" altLang="en-US" sz="2000" dirty="0">
                <a:latin typeface="Microsoft YaHei UI" panose="020B0503020204020204" pitchFamily="34" charset="-122"/>
                <a:ea typeface="Microsoft YaHei UI" panose="020B0503020204020204" pitchFamily="34" charset="-122"/>
              </a:rPr>
              <a:t>两步操作叠加而来？</a:t>
            </a:r>
            <a:endParaRPr lang="en-US" altLang="zh-CN" sz="2000" dirty="0">
              <a:latin typeface="Microsoft YaHei UI" panose="020B0503020204020204" pitchFamily="34" charset="-122"/>
              <a:ea typeface="Microsoft YaHei UI" panose="020B0503020204020204" pitchFamily="34" charset="-122"/>
            </a:endParaRPr>
          </a:p>
          <a:p>
            <a:pPr marL="457200" indent="-457200">
              <a:lnSpc>
                <a:spcPct val="130000"/>
              </a:lnSpc>
              <a:buFont typeface="+mj-lt"/>
              <a:buAutoNum type="arabicPeriod"/>
            </a:pPr>
            <a:r>
              <a:rPr lang="zh-CN" altLang="en-US" sz="2000" dirty="0">
                <a:latin typeface="Microsoft YaHei UI" panose="020B0503020204020204" pitchFamily="34" charset="-122"/>
                <a:ea typeface="Microsoft YaHei UI" panose="020B0503020204020204" pitchFamily="34" charset="-122"/>
              </a:rPr>
              <a:t>旋转变换和矩阵乘法均</a:t>
            </a:r>
            <a:r>
              <a:rPr lang="zh-CN" altLang="en-US" sz="2000" dirty="0">
                <a:highlight>
                  <a:srgbClr val="FFFF00"/>
                </a:highlight>
                <a:latin typeface="Microsoft YaHei UI" panose="020B0503020204020204" pitchFamily="34" charset="-122"/>
                <a:ea typeface="Microsoft YaHei UI" panose="020B0503020204020204" pitchFamily="34" charset="-122"/>
              </a:rPr>
              <a:t>遵循结合律</a:t>
            </a:r>
            <a:endParaRPr lang="en-US" altLang="zh-CN" sz="2000" dirty="0">
              <a:highlight>
                <a:srgbClr val="FFFF00"/>
              </a:highlight>
              <a:latin typeface="Microsoft YaHei UI" panose="020B0503020204020204" pitchFamily="34" charset="-122"/>
              <a:ea typeface="Microsoft YaHei UI" panose="020B0503020204020204" pitchFamily="34" charset="-122"/>
            </a:endParaRPr>
          </a:p>
          <a:p>
            <a:pPr marL="457200" indent="-457200">
              <a:lnSpc>
                <a:spcPct val="130000"/>
              </a:lnSpc>
              <a:buFont typeface="+mj-lt"/>
              <a:buAutoNum type="arabicPeriod"/>
            </a:pPr>
            <a:r>
              <a:rPr lang="zh-CN" altLang="en-US" sz="2000" dirty="0">
                <a:latin typeface="Microsoft YaHei UI" panose="020B0503020204020204" pitchFamily="34" charset="-122"/>
                <a:ea typeface="Microsoft YaHei UI" panose="020B0503020204020204" pitchFamily="34" charset="-122"/>
              </a:rPr>
              <a:t>旋转变换的逐次叠加，相当于对应的旋转矩阵左乘被旋转的向量</a:t>
            </a:r>
            <a:endParaRPr lang="en-US" altLang="zh-CN" sz="20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688965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cap="none" dirty="0"/>
              <a:t>2.2 </a:t>
            </a:r>
            <a:r>
              <a:rPr lang="zh-CN" altLang="en-US" cap="none" dirty="0"/>
              <a:t>二维坐标系</a:t>
            </a:r>
            <a:r>
              <a:rPr lang="en-US" altLang="zh-CN" cap="none" dirty="0"/>
              <a:t>——</a:t>
            </a:r>
            <a:r>
              <a:rPr lang="zh-CN" altLang="en-US" cap="none" dirty="0"/>
              <a:t>旋转后新基下的坐标表示</a:t>
            </a:r>
          </a:p>
        </p:txBody>
      </p:sp>
      <p:sp>
        <p:nvSpPr>
          <p:cNvPr id="5" name="文本框 4">
            <a:extLst>
              <a:ext uri="{FF2B5EF4-FFF2-40B4-BE49-F238E27FC236}">
                <a16:creationId xmlns:a16="http://schemas.microsoft.com/office/drawing/2014/main" id="{7DB5E7DE-7A3E-4739-9296-7D423C9BD75D}"/>
              </a:ext>
            </a:extLst>
          </p:cNvPr>
          <p:cNvSpPr txBox="1"/>
          <p:nvPr/>
        </p:nvSpPr>
        <p:spPr>
          <a:xfrm>
            <a:off x="581192" y="3910313"/>
            <a:ext cx="11029616" cy="1006558"/>
          </a:xfrm>
          <a:prstGeom prst="rect">
            <a:avLst/>
          </a:prstGeom>
          <a:noFill/>
        </p:spPr>
        <p:txBody>
          <a:bodyPr wrap="square" rtlCol="0">
            <a:spAutoFit/>
          </a:bodyPr>
          <a:lstStyle/>
          <a:p>
            <a:pPr>
              <a:lnSpc>
                <a:spcPct val="130000"/>
              </a:lnSpc>
            </a:pPr>
            <a:r>
              <a:rPr lang="zh-CN" altLang="en-US" sz="2400" dirty="0">
                <a:latin typeface="Microsoft YaHei UI" panose="020B0503020204020204" pitchFamily="34" charset="-122"/>
                <a:ea typeface="Microsoft YaHei UI" panose="020B0503020204020204" pitchFamily="34" charset="-122"/>
              </a:rPr>
              <a:t>意义：</a:t>
            </a:r>
            <a:endParaRPr lang="en-US" altLang="zh-CN" sz="2400" dirty="0">
              <a:latin typeface="Microsoft YaHei UI" panose="020B0503020204020204" pitchFamily="34" charset="-122"/>
              <a:ea typeface="Microsoft YaHei UI" panose="020B0503020204020204" pitchFamily="34" charset="-122"/>
            </a:endParaRPr>
          </a:p>
          <a:p>
            <a:pPr>
              <a:lnSpc>
                <a:spcPct val="130000"/>
              </a:lnSpc>
            </a:pPr>
            <a:r>
              <a:rPr lang="zh-CN" altLang="en-US" sz="2400" dirty="0">
                <a:latin typeface="Microsoft YaHei UI" panose="020B0503020204020204" pitchFamily="34" charset="-122"/>
                <a:ea typeface="Microsoft YaHei UI" panose="020B0503020204020204" pitchFamily="34" charset="-122"/>
              </a:rPr>
              <a:t>某坐标系</a:t>
            </a:r>
            <a:r>
              <a:rPr lang="en-US" altLang="zh-CN" sz="2400" dirty="0">
                <a:latin typeface="Microsoft YaHei UI" panose="020B0503020204020204" pitchFamily="34" charset="-122"/>
                <a:ea typeface="Microsoft YaHei UI" panose="020B0503020204020204" pitchFamily="34" charset="-122"/>
              </a:rPr>
              <a:t>A</a:t>
            </a:r>
            <a:r>
              <a:rPr lang="zh-CN" altLang="en-US" sz="2400" dirty="0">
                <a:latin typeface="Microsoft YaHei UI" panose="020B0503020204020204" pitchFamily="34" charset="-122"/>
                <a:ea typeface="Microsoft YaHei UI" panose="020B0503020204020204" pitchFamily="34" charset="-122"/>
              </a:rPr>
              <a:t>对应的旋转矩阵</a:t>
            </a:r>
            <a:r>
              <a:rPr lang="zh-CN" altLang="en-US" sz="2400" dirty="0">
                <a:solidFill>
                  <a:srgbClr val="FF0000"/>
                </a:solidFill>
                <a:latin typeface="Microsoft YaHei UI" panose="020B0503020204020204" pitchFamily="34" charset="-122"/>
                <a:ea typeface="Microsoft YaHei UI" panose="020B0503020204020204" pitchFamily="34" charset="-122"/>
              </a:rPr>
              <a:t>左乘</a:t>
            </a:r>
            <a:r>
              <a:rPr lang="zh-CN" altLang="en-US" sz="2400" dirty="0">
                <a:latin typeface="Microsoft YaHei UI" panose="020B0503020204020204" pitchFamily="34" charset="-122"/>
                <a:ea typeface="Microsoft YaHei UI" panose="020B0503020204020204" pitchFamily="34" charset="-122"/>
              </a:rPr>
              <a:t>该坐标系下的</a:t>
            </a:r>
            <a:r>
              <a:rPr lang="zh-CN" altLang="en-US" sz="2400" dirty="0">
                <a:solidFill>
                  <a:srgbClr val="FF0000"/>
                </a:solidFill>
                <a:latin typeface="Microsoft YaHei UI" panose="020B0503020204020204" pitchFamily="34" charset="-122"/>
                <a:ea typeface="Microsoft YaHei UI" panose="020B0503020204020204" pitchFamily="34" charset="-122"/>
              </a:rPr>
              <a:t>坐标</a:t>
            </a:r>
            <a:r>
              <a:rPr lang="zh-CN" altLang="en-US" sz="2400" dirty="0">
                <a:latin typeface="Microsoft YaHei UI" panose="020B0503020204020204" pitchFamily="34" charset="-122"/>
                <a:ea typeface="Microsoft YaHei UI" panose="020B0503020204020204" pitchFamily="34" charset="-122"/>
              </a:rPr>
              <a:t>，就是世界坐标系下的坐标</a:t>
            </a:r>
            <a:endParaRPr lang="en-US" altLang="zh-CN" sz="2400" dirty="0">
              <a:latin typeface="Microsoft YaHei UI" panose="020B0503020204020204" pitchFamily="34" charset="-122"/>
              <a:ea typeface="Microsoft YaHei UI" panose="020B0503020204020204" pitchFamily="34" charset="-122"/>
            </a:endParaRPr>
          </a:p>
        </p:txBody>
      </p:sp>
      <p:pic>
        <p:nvPicPr>
          <p:cNvPr id="8" name="图片 7">
            <a:extLst>
              <a:ext uri="{FF2B5EF4-FFF2-40B4-BE49-F238E27FC236}">
                <a16:creationId xmlns:a16="http://schemas.microsoft.com/office/drawing/2014/main" id="{6871390D-CA06-45EE-A276-AE4D4A9202AE}"/>
              </a:ext>
            </a:extLst>
          </p:cNvPr>
          <p:cNvPicPr>
            <a:picLocks noChangeAspect="1"/>
          </p:cNvPicPr>
          <p:nvPr/>
        </p:nvPicPr>
        <p:blipFill>
          <a:blip r:embed="rId3"/>
          <a:stretch>
            <a:fillRect/>
          </a:stretch>
        </p:blipFill>
        <p:spPr>
          <a:xfrm>
            <a:off x="523875" y="1882454"/>
            <a:ext cx="11144250" cy="1695450"/>
          </a:xfrm>
          <a:prstGeom prst="rect">
            <a:avLst/>
          </a:prstGeom>
        </p:spPr>
      </p:pic>
    </p:spTree>
    <p:extLst>
      <p:ext uri="{BB962C8B-B14F-4D97-AF65-F5344CB8AC3E}">
        <p14:creationId xmlns:p14="http://schemas.microsoft.com/office/powerpoint/2010/main" val="2991297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cap="none" dirty="0"/>
              <a:t>2.2 </a:t>
            </a:r>
            <a:r>
              <a:rPr lang="zh-CN" altLang="en-US" cap="none" dirty="0"/>
              <a:t>二维坐标系</a:t>
            </a:r>
            <a:r>
              <a:rPr lang="en-US" altLang="zh-CN" cap="none" dirty="0"/>
              <a:t>——</a:t>
            </a:r>
            <a:r>
              <a:rPr lang="zh-CN" altLang="en-US" cap="none" dirty="0"/>
              <a:t>旋转后新基下的坐标表示</a:t>
            </a:r>
          </a:p>
        </p:txBody>
      </p:sp>
      <p:sp>
        <p:nvSpPr>
          <p:cNvPr id="5" name="文本框 4">
            <a:extLst>
              <a:ext uri="{FF2B5EF4-FFF2-40B4-BE49-F238E27FC236}">
                <a16:creationId xmlns:a16="http://schemas.microsoft.com/office/drawing/2014/main" id="{7DB5E7DE-7A3E-4739-9296-7D423C9BD75D}"/>
              </a:ext>
            </a:extLst>
          </p:cNvPr>
          <p:cNvSpPr txBox="1"/>
          <p:nvPr/>
        </p:nvSpPr>
        <p:spPr>
          <a:xfrm>
            <a:off x="581192" y="3910313"/>
            <a:ext cx="11029616" cy="2446952"/>
          </a:xfrm>
          <a:prstGeom prst="rect">
            <a:avLst/>
          </a:prstGeom>
          <a:noFill/>
        </p:spPr>
        <p:txBody>
          <a:bodyPr wrap="square" rtlCol="0">
            <a:spAutoFit/>
          </a:bodyPr>
          <a:lstStyle/>
          <a:p>
            <a:pPr>
              <a:lnSpc>
                <a:spcPct val="130000"/>
              </a:lnSpc>
            </a:pPr>
            <a:r>
              <a:rPr lang="zh-CN" altLang="en-US" sz="2400" dirty="0">
                <a:latin typeface="Microsoft YaHei UI" panose="020B0503020204020204" pitchFamily="34" charset="-122"/>
                <a:ea typeface="Microsoft YaHei UI" panose="020B0503020204020204" pitchFamily="34" charset="-122"/>
              </a:rPr>
              <a:t>意义：</a:t>
            </a:r>
            <a:endParaRPr lang="en-US" altLang="zh-CN" sz="2400" dirty="0">
              <a:latin typeface="Microsoft YaHei UI" panose="020B0503020204020204" pitchFamily="34" charset="-122"/>
              <a:ea typeface="Microsoft YaHei UI" panose="020B0503020204020204" pitchFamily="34" charset="-122"/>
            </a:endParaRPr>
          </a:p>
          <a:p>
            <a:pPr marL="457200" indent="-457200">
              <a:lnSpc>
                <a:spcPct val="130000"/>
              </a:lnSpc>
              <a:buFont typeface="+mj-lt"/>
              <a:buAutoNum type="arabicPeriod"/>
            </a:pPr>
            <a:r>
              <a:rPr lang="zh-CN" altLang="en-US" sz="2400" dirty="0">
                <a:latin typeface="Microsoft YaHei UI" panose="020B0503020204020204" pitchFamily="34" charset="-122"/>
                <a:ea typeface="Microsoft YaHei UI" panose="020B0503020204020204" pitchFamily="34" charset="-122"/>
              </a:rPr>
              <a:t>建立了</a:t>
            </a:r>
            <a:r>
              <a:rPr lang="zh-CN" altLang="en-US" sz="2400" dirty="0">
                <a:solidFill>
                  <a:srgbClr val="FF0000"/>
                </a:solidFill>
                <a:latin typeface="Microsoft YaHei UI" panose="020B0503020204020204" pitchFamily="34" charset="-122"/>
                <a:ea typeface="Microsoft YaHei UI" panose="020B0503020204020204" pitchFamily="34" charset="-122"/>
              </a:rPr>
              <a:t>旋转矩阵</a:t>
            </a:r>
            <a:r>
              <a:rPr lang="zh-CN" altLang="en-US" sz="2400" dirty="0">
                <a:latin typeface="Microsoft YaHei UI" panose="020B0503020204020204" pitchFamily="34" charset="-122"/>
                <a:ea typeface="Microsoft YaHei UI" panose="020B0503020204020204" pitchFamily="34" charset="-122"/>
              </a:rPr>
              <a:t>与</a:t>
            </a:r>
            <a:r>
              <a:rPr lang="zh-CN" altLang="en-US" sz="2400" dirty="0">
                <a:solidFill>
                  <a:srgbClr val="FF0000"/>
                </a:solidFill>
                <a:latin typeface="Microsoft YaHei UI" panose="020B0503020204020204" pitchFamily="34" charset="-122"/>
                <a:ea typeface="Microsoft YaHei UI" panose="020B0503020204020204" pitchFamily="34" charset="-122"/>
              </a:rPr>
              <a:t>基</a:t>
            </a:r>
            <a:r>
              <a:rPr lang="zh-CN" altLang="en-US" sz="2400" dirty="0">
                <a:latin typeface="Microsoft YaHei UI" panose="020B0503020204020204" pitchFamily="34" charset="-122"/>
                <a:ea typeface="Microsoft YaHei UI" panose="020B0503020204020204" pitchFamily="34" charset="-122"/>
              </a:rPr>
              <a:t>之间的对应关系</a:t>
            </a:r>
            <a:endParaRPr lang="en-US" altLang="zh-CN" sz="2400" dirty="0">
              <a:latin typeface="Microsoft YaHei UI" panose="020B0503020204020204" pitchFamily="34" charset="-122"/>
              <a:ea typeface="Microsoft YaHei UI" panose="020B0503020204020204" pitchFamily="34" charset="-122"/>
            </a:endParaRPr>
          </a:p>
          <a:p>
            <a:pPr marL="457200" indent="-457200">
              <a:lnSpc>
                <a:spcPct val="130000"/>
              </a:lnSpc>
              <a:buFont typeface="+mj-lt"/>
              <a:buAutoNum type="arabicPeriod"/>
            </a:pPr>
            <a:r>
              <a:rPr lang="zh-CN" altLang="en-US" sz="2400" dirty="0">
                <a:latin typeface="Microsoft YaHei UI" panose="020B0503020204020204" pitchFamily="34" charset="-122"/>
                <a:ea typeface="Microsoft YaHei UI" panose="020B0503020204020204" pitchFamily="34" charset="-122"/>
              </a:rPr>
              <a:t>而我们之前又建立了旋转操作与旋转矩阵的对应关系，这就意味着旋转操作与基也对应了起来</a:t>
            </a:r>
            <a:endParaRPr lang="en-US" altLang="zh-CN" sz="2400" dirty="0">
              <a:latin typeface="Microsoft YaHei UI" panose="020B0503020204020204" pitchFamily="34" charset="-122"/>
              <a:ea typeface="Microsoft YaHei UI" panose="020B0503020204020204" pitchFamily="34" charset="-122"/>
            </a:endParaRPr>
          </a:p>
          <a:p>
            <a:pPr marL="457200" indent="-457200">
              <a:lnSpc>
                <a:spcPct val="130000"/>
              </a:lnSpc>
              <a:buFont typeface="+mj-lt"/>
              <a:buAutoNum type="arabicPeriod"/>
            </a:pPr>
            <a:r>
              <a:rPr lang="zh-CN" altLang="en-US" sz="2400" dirty="0">
                <a:latin typeface="Microsoft YaHei UI" panose="020B0503020204020204" pitchFamily="34" charset="-122"/>
                <a:ea typeface="Microsoft YaHei UI" panose="020B0503020204020204" pitchFamily="34" charset="-122"/>
              </a:rPr>
              <a:t>旋转操作、旋转矩阵、基之间知一推二</a:t>
            </a:r>
            <a:endParaRPr lang="en-US" altLang="zh-CN" sz="2400" dirty="0">
              <a:latin typeface="Microsoft YaHei UI" panose="020B0503020204020204" pitchFamily="34" charset="-122"/>
              <a:ea typeface="Microsoft YaHei UI" panose="020B0503020204020204" pitchFamily="34" charset="-122"/>
            </a:endParaRPr>
          </a:p>
        </p:txBody>
      </p:sp>
      <p:pic>
        <p:nvPicPr>
          <p:cNvPr id="7" name="图片 6">
            <a:extLst>
              <a:ext uri="{FF2B5EF4-FFF2-40B4-BE49-F238E27FC236}">
                <a16:creationId xmlns:a16="http://schemas.microsoft.com/office/drawing/2014/main" id="{6D17AEBF-B594-40DB-9E5C-160C80A5588A}"/>
              </a:ext>
            </a:extLst>
          </p:cNvPr>
          <p:cNvPicPr>
            <a:picLocks noChangeAspect="1"/>
          </p:cNvPicPr>
          <p:nvPr/>
        </p:nvPicPr>
        <p:blipFill>
          <a:blip r:embed="rId3"/>
          <a:stretch>
            <a:fillRect/>
          </a:stretch>
        </p:blipFill>
        <p:spPr>
          <a:xfrm>
            <a:off x="490537" y="1872929"/>
            <a:ext cx="11210925" cy="1714500"/>
          </a:xfrm>
          <a:prstGeom prst="rect">
            <a:avLst/>
          </a:prstGeom>
        </p:spPr>
      </p:pic>
    </p:spTree>
    <p:extLst>
      <p:ext uri="{BB962C8B-B14F-4D97-AF65-F5344CB8AC3E}">
        <p14:creationId xmlns:p14="http://schemas.microsoft.com/office/powerpoint/2010/main" val="1400123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cap="none" dirty="0"/>
              <a:t>2.2 </a:t>
            </a:r>
            <a:r>
              <a:rPr lang="zh-CN" altLang="en-US" cap="none" dirty="0"/>
              <a:t>二维坐标系</a:t>
            </a:r>
            <a:r>
              <a:rPr lang="en-US" altLang="zh-CN" cap="none" dirty="0"/>
              <a:t>——</a:t>
            </a:r>
            <a:r>
              <a:rPr lang="zh-CN" altLang="en-US" cap="none" dirty="0"/>
              <a:t>旋转后新基下的坐标表示</a:t>
            </a:r>
          </a:p>
        </p:txBody>
      </p:sp>
      <p:sp>
        <p:nvSpPr>
          <p:cNvPr id="6" name="文本框 5">
            <a:extLst>
              <a:ext uri="{FF2B5EF4-FFF2-40B4-BE49-F238E27FC236}">
                <a16:creationId xmlns:a16="http://schemas.microsoft.com/office/drawing/2014/main" id="{38610BB1-2D6B-4172-963A-D36537AC5DCD}"/>
              </a:ext>
            </a:extLst>
          </p:cNvPr>
          <p:cNvSpPr txBox="1"/>
          <p:nvPr/>
        </p:nvSpPr>
        <p:spPr>
          <a:xfrm>
            <a:off x="581192" y="1550046"/>
            <a:ext cx="11029616" cy="4855304"/>
          </a:xfrm>
          <a:prstGeom prst="rect">
            <a:avLst/>
          </a:prstGeom>
          <a:noFill/>
        </p:spPr>
        <p:txBody>
          <a:bodyPr wrap="square" rtlCol="0">
            <a:spAutoFit/>
          </a:bodyPr>
          <a:lstStyle/>
          <a:p>
            <a:pPr>
              <a:lnSpc>
                <a:spcPct val="130000"/>
              </a:lnSpc>
            </a:pPr>
            <a:r>
              <a:rPr lang="zh-CN" altLang="en-US" sz="2000" dirty="0">
                <a:latin typeface="Microsoft YaHei UI" panose="020B0503020204020204" pitchFamily="34" charset="-122"/>
                <a:ea typeface="Microsoft YaHei UI" panose="020B0503020204020204" pitchFamily="34" charset="-122"/>
              </a:rPr>
              <a:t>练习</a:t>
            </a:r>
            <a:r>
              <a:rPr lang="en-US" altLang="zh-CN" sz="2000" dirty="0">
                <a:latin typeface="Microsoft YaHei UI" panose="020B0503020204020204" pitchFamily="34" charset="-122"/>
                <a:ea typeface="Microsoft YaHei UI" panose="020B0503020204020204" pitchFamily="34" charset="-122"/>
              </a:rPr>
              <a:t>4</a:t>
            </a:r>
            <a:r>
              <a:rPr lang="zh-CN" altLang="en-US" sz="2000" dirty="0">
                <a:latin typeface="Microsoft YaHei UI" panose="020B0503020204020204" pitchFamily="34" charset="-122"/>
                <a:ea typeface="Microsoft YaHei UI" panose="020B0503020204020204" pitchFamily="34" charset="-122"/>
              </a:rPr>
              <a:t>：写出世界坐标系旋转</a:t>
            </a:r>
            <a:r>
              <a:rPr lang="en-US" altLang="zh-CN" sz="2000" dirty="0">
                <a:latin typeface="Microsoft YaHei UI" panose="020B0503020204020204" pitchFamily="34" charset="-122"/>
                <a:ea typeface="Microsoft YaHei UI" panose="020B0503020204020204" pitchFamily="34" charset="-122"/>
              </a:rPr>
              <a:t>30°</a:t>
            </a:r>
            <a:r>
              <a:rPr lang="zh-CN" altLang="en-US" sz="2000" dirty="0">
                <a:latin typeface="Microsoft YaHei UI" panose="020B0503020204020204" pitchFamily="34" charset="-122"/>
                <a:ea typeface="Microsoft YaHei UI" panose="020B0503020204020204" pitchFamily="34" charset="-122"/>
              </a:rPr>
              <a:t>对应的旋转矩阵以及对应的基向量</a:t>
            </a:r>
            <a:endParaRPr lang="en-US" altLang="zh-CN" sz="2000" dirty="0">
              <a:latin typeface="Microsoft YaHei UI" panose="020B0503020204020204" pitchFamily="34" charset="-122"/>
              <a:ea typeface="Microsoft YaHei UI" panose="020B0503020204020204" pitchFamily="34" charset="-122"/>
            </a:endParaRPr>
          </a:p>
          <a:p>
            <a:pPr>
              <a:lnSpc>
                <a:spcPct val="130000"/>
              </a:lnSpc>
            </a:pPr>
            <a:r>
              <a:rPr lang="zh-CN" altLang="en-US" sz="2000" dirty="0">
                <a:latin typeface="Microsoft YaHei UI" panose="020B0503020204020204" pitchFamily="34" charset="-122"/>
                <a:ea typeface="Microsoft YaHei UI" panose="020B0503020204020204" pitchFamily="34" charset="-122"/>
              </a:rPr>
              <a:t>练习</a:t>
            </a:r>
            <a:r>
              <a:rPr lang="en-US" altLang="zh-CN" sz="2000" dirty="0">
                <a:latin typeface="Microsoft YaHei UI" panose="020B0503020204020204" pitchFamily="34" charset="-122"/>
                <a:ea typeface="Microsoft YaHei UI" panose="020B0503020204020204" pitchFamily="34" charset="-122"/>
              </a:rPr>
              <a:t>5</a:t>
            </a:r>
            <a:r>
              <a:rPr lang="zh-CN" altLang="en-US" sz="2000" dirty="0">
                <a:latin typeface="Microsoft YaHei UI" panose="020B0503020204020204" pitchFamily="34" charset="-122"/>
                <a:ea typeface="Microsoft YaHei UI" panose="020B0503020204020204" pitchFamily="34" charset="-122"/>
              </a:rPr>
              <a:t>：写出负单位矩阵对应的旋转操作以及对应的基向量</a:t>
            </a:r>
            <a:endParaRPr lang="en-US" altLang="zh-CN" sz="2000" dirty="0">
              <a:latin typeface="Microsoft YaHei UI" panose="020B0503020204020204" pitchFamily="34" charset="-122"/>
              <a:ea typeface="Microsoft YaHei UI" panose="020B0503020204020204" pitchFamily="34" charset="-122"/>
            </a:endParaRPr>
          </a:p>
          <a:p>
            <a:pPr>
              <a:lnSpc>
                <a:spcPct val="130000"/>
              </a:lnSpc>
            </a:pPr>
            <a:r>
              <a:rPr lang="zh-CN" altLang="en-US" sz="2000" dirty="0">
                <a:latin typeface="Microsoft YaHei UI" panose="020B0503020204020204" pitchFamily="34" charset="-122"/>
                <a:ea typeface="Microsoft YaHei UI" panose="020B0503020204020204" pitchFamily="34" charset="-122"/>
              </a:rPr>
              <a:t>练习</a:t>
            </a:r>
            <a:r>
              <a:rPr lang="en-US" altLang="zh-CN" sz="2000" dirty="0">
                <a:latin typeface="Microsoft YaHei UI" panose="020B0503020204020204" pitchFamily="34" charset="-122"/>
                <a:ea typeface="Microsoft YaHei UI" panose="020B0503020204020204" pitchFamily="34" charset="-122"/>
              </a:rPr>
              <a:t>6</a:t>
            </a:r>
            <a:r>
              <a:rPr lang="zh-CN" altLang="en-US" sz="2000" dirty="0">
                <a:latin typeface="Microsoft YaHei UI" panose="020B0503020204020204" pitchFamily="34" charset="-122"/>
                <a:ea typeface="Microsoft YaHei UI" panose="020B0503020204020204" pitchFamily="34" charset="-122"/>
              </a:rPr>
              <a:t>：写出以</a:t>
            </a:r>
            <a:r>
              <a:rPr lang="en-US" altLang="zh-CN" sz="2000" dirty="0">
                <a:latin typeface="Microsoft YaHei UI" panose="020B0503020204020204" pitchFamily="34" charset="-122"/>
                <a:ea typeface="Microsoft YaHei UI" panose="020B0503020204020204" pitchFamily="34" charset="-122"/>
              </a:rPr>
              <a:t>(-</a:t>
            </a:r>
            <a:r>
              <a:rPr lang="zh-CN" altLang="en-US" sz="2000" dirty="0">
                <a:latin typeface="Microsoft YaHei UI" panose="020B0503020204020204" pitchFamily="34" charset="-122"/>
                <a:ea typeface="Microsoft YaHei UI" panose="020B0503020204020204" pitchFamily="34" charset="-122"/>
              </a:rPr>
              <a:t>√</a:t>
            </a:r>
            <a:r>
              <a:rPr lang="en-US" altLang="zh-CN" sz="2000" dirty="0">
                <a:latin typeface="Microsoft YaHei UI" panose="020B0503020204020204" pitchFamily="34" charset="-122"/>
                <a:ea typeface="Microsoft YaHei UI" panose="020B0503020204020204" pitchFamily="34" charset="-122"/>
              </a:rPr>
              <a:t>2/2, </a:t>
            </a:r>
            <a:r>
              <a:rPr lang="zh-CN" altLang="en-US" sz="2000" dirty="0">
                <a:latin typeface="Microsoft YaHei UI" panose="020B0503020204020204" pitchFamily="34" charset="-122"/>
                <a:ea typeface="Microsoft YaHei UI" panose="020B0503020204020204" pitchFamily="34" charset="-122"/>
              </a:rPr>
              <a:t>√</a:t>
            </a:r>
            <a:r>
              <a:rPr lang="en-US" altLang="zh-CN" sz="2000" dirty="0">
                <a:latin typeface="Microsoft YaHei UI" panose="020B0503020204020204" pitchFamily="34" charset="-122"/>
                <a:ea typeface="Microsoft YaHei UI" panose="020B0503020204020204" pitchFamily="34" charset="-122"/>
              </a:rPr>
              <a:t>2/2)</a:t>
            </a:r>
            <a:r>
              <a:rPr lang="zh-CN" altLang="en-US" sz="2000" dirty="0">
                <a:latin typeface="Microsoft YaHei UI" panose="020B0503020204020204" pitchFamily="34" charset="-122"/>
                <a:ea typeface="Microsoft YaHei UI" panose="020B0503020204020204" pitchFamily="34" charset="-122"/>
              </a:rPr>
              <a:t>和</a:t>
            </a:r>
            <a:r>
              <a:rPr lang="en-US" altLang="zh-CN" sz="2000" dirty="0">
                <a:latin typeface="Microsoft YaHei UI" panose="020B0503020204020204" pitchFamily="34" charset="-122"/>
                <a:ea typeface="Microsoft YaHei UI" panose="020B0503020204020204" pitchFamily="34" charset="-122"/>
              </a:rPr>
              <a:t>(</a:t>
            </a:r>
            <a:r>
              <a:rPr lang="zh-CN" altLang="en-US" sz="2000" dirty="0">
                <a:latin typeface="Microsoft YaHei UI" panose="020B0503020204020204" pitchFamily="34" charset="-122"/>
                <a:ea typeface="Microsoft YaHei UI" panose="020B0503020204020204" pitchFamily="34" charset="-122"/>
              </a:rPr>
              <a:t>√</a:t>
            </a:r>
            <a:r>
              <a:rPr lang="en-US" altLang="zh-CN" sz="2000" dirty="0">
                <a:latin typeface="Microsoft YaHei UI" panose="020B0503020204020204" pitchFamily="34" charset="-122"/>
                <a:ea typeface="Microsoft YaHei UI" panose="020B0503020204020204" pitchFamily="34" charset="-122"/>
              </a:rPr>
              <a:t>2/2, </a:t>
            </a:r>
            <a:r>
              <a:rPr lang="zh-CN" altLang="en-US" sz="2000" dirty="0">
                <a:latin typeface="Microsoft YaHei UI" panose="020B0503020204020204" pitchFamily="34" charset="-122"/>
                <a:ea typeface="Microsoft YaHei UI" panose="020B0503020204020204" pitchFamily="34" charset="-122"/>
              </a:rPr>
              <a:t>√</a:t>
            </a:r>
            <a:r>
              <a:rPr lang="en-US" altLang="zh-CN" sz="2000" dirty="0">
                <a:latin typeface="Microsoft YaHei UI" panose="020B0503020204020204" pitchFamily="34" charset="-122"/>
                <a:ea typeface="Microsoft YaHei UI" panose="020B0503020204020204" pitchFamily="34" charset="-122"/>
              </a:rPr>
              <a:t>2/2)</a:t>
            </a:r>
            <a:r>
              <a:rPr lang="zh-CN" altLang="en-US" sz="2000" dirty="0">
                <a:latin typeface="Microsoft YaHei UI" panose="020B0503020204020204" pitchFamily="34" charset="-122"/>
                <a:ea typeface="Microsoft YaHei UI" panose="020B0503020204020204" pitchFamily="34" charset="-122"/>
              </a:rPr>
              <a:t>为基向量，对应的旋转操作以及旋转矩阵</a:t>
            </a:r>
            <a:endParaRPr lang="en-US" altLang="zh-CN" sz="20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endParaRPr lang="en-US" altLang="zh-CN" sz="20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endParaRPr lang="en-US" altLang="zh-CN" sz="20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endParaRPr lang="en-US" altLang="zh-CN" sz="2000" dirty="0">
              <a:latin typeface="Microsoft YaHei UI" panose="020B0503020204020204" pitchFamily="34" charset="-122"/>
              <a:ea typeface="Microsoft YaHei UI" panose="020B0503020204020204" pitchFamily="34" charset="-122"/>
            </a:endParaRPr>
          </a:p>
          <a:p>
            <a:pPr>
              <a:lnSpc>
                <a:spcPct val="130000"/>
              </a:lnSpc>
            </a:pPr>
            <a:r>
              <a:rPr lang="zh-CN" altLang="en-US" sz="2000" dirty="0">
                <a:latin typeface="Microsoft YaHei UI" panose="020B0503020204020204" pitchFamily="34" charset="-122"/>
                <a:ea typeface="Microsoft YaHei UI" panose="020B0503020204020204" pitchFamily="34" charset="-122"/>
              </a:rPr>
              <a:t>思考：练习</a:t>
            </a:r>
            <a:r>
              <a:rPr lang="en-US" altLang="zh-CN" sz="2000" dirty="0">
                <a:latin typeface="Microsoft YaHei UI" panose="020B0503020204020204" pitchFamily="34" charset="-122"/>
                <a:ea typeface="Microsoft YaHei UI" panose="020B0503020204020204" pitchFamily="34" charset="-122"/>
              </a:rPr>
              <a:t>6</a:t>
            </a:r>
            <a:r>
              <a:rPr lang="zh-CN" altLang="en-US" sz="2000" dirty="0">
                <a:latin typeface="Microsoft YaHei UI" panose="020B0503020204020204" pitchFamily="34" charset="-122"/>
                <a:ea typeface="Microsoft YaHei UI" panose="020B0503020204020204" pitchFamily="34" charset="-122"/>
              </a:rPr>
              <a:t>什么情况？</a:t>
            </a:r>
            <a:endParaRPr lang="en-US" altLang="zh-CN" sz="2000" dirty="0">
              <a:latin typeface="Microsoft YaHei UI" panose="020B0503020204020204" pitchFamily="34" charset="-122"/>
              <a:ea typeface="Microsoft YaHei UI" panose="020B0503020204020204" pitchFamily="34" charset="-122"/>
            </a:endParaRPr>
          </a:p>
          <a:p>
            <a:pPr marL="457200" indent="-457200">
              <a:lnSpc>
                <a:spcPct val="130000"/>
              </a:lnSpc>
              <a:buFont typeface="+mj-lt"/>
              <a:buAutoNum type="arabicPeriod"/>
            </a:pPr>
            <a:r>
              <a:rPr lang="zh-CN" altLang="en-US" sz="2000" dirty="0">
                <a:latin typeface="Microsoft YaHei UI" panose="020B0503020204020204" pitchFamily="34" charset="-122"/>
                <a:ea typeface="Microsoft YaHei UI" panose="020B0503020204020204" pitchFamily="34" charset="-122"/>
              </a:rPr>
              <a:t>旋转操作与旋转矩阵</a:t>
            </a:r>
            <a:r>
              <a:rPr lang="zh-CN" altLang="en-US" sz="2000" dirty="0">
                <a:highlight>
                  <a:srgbClr val="FFFF00"/>
                </a:highlight>
                <a:latin typeface="Microsoft YaHei UI" panose="020B0503020204020204" pitchFamily="34" charset="-122"/>
                <a:ea typeface="Microsoft YaHei UI" panose="020B0503020204020204" pitchFamily="34" charset="-122"/>
              </a:rPr>
              <a:t>只有一个自由度</a:t>
            </a:r>
            <a:r>
              <a:rPr lang="en-US" altLang="zh-CN" sz="2000" dirty="0">
                <a:highlight>
                  <a:srgbClr val="FFFF00"/>
                </a:highlight>
                <a:latin typeface="Microsoft YaHei UI" panose="020B0503020204020204" pitchFamily="34" charset="-122"/>
                <a:ea typeface="Microsoft YaHei UI" panose="020B0503020204020204" pitchFamily="34" charset="-122"/>
              </a:rPr>
              <a:t>α</a:t>
            </a:r>
          </a:p>
          <a:p>
            <a:pPr marL="457200" indent="-457200">
              <a:lnSpc>
                <a:spcPct val="130000"/>
              </a:lnSpc>
              <a:buFont typeface="+mj-lt"/>
              <a:buAutoNum type="arabicPeriod"/>
            </a:pPr>
            <a:r>
              <a:rPr lang="zh-CN" altLang="en-US" sz="2000" dirty="0">
                <a:latin typeface="Microsoft YaHei UI" panose="020B0503020204020204" pitchFamily="34" charset="-122"/>
                <a:ea typeface="Microsoft YaHei UI" panose="020B0503020204020204" pitchFamily="34" charset="-122"/>
              </a:rPr>
              <a:t>基有两个自由度，自由度</a:t>
            </a:r>
            <a:r>
              <a:rPr lang="en-US" altLang="zh-CN" sz="2000" dirty="0">
                <a:latin typeface="Microsoft YaHei UI" panose="020B0503020204020204" pitchFamily="34" charset="-122"/>
                <a:ea typeface="Microsoft YaHei UI" panose="020B0503020204020204" pitchFamily="34" charset="-122"/>
              </a:rPr>
              <a:t>1</a:t>
            </a:r>
            <a:r>
              <a:rPr lang="zh-CN" altLang="en-US" sz="2000" dirty="0">
                <a:latin typeface="Microsoft YaHei UI" panose="020B0503020204020204" pitchFamily="34" charset="-122"/>
                <a:ea typeface="Microsoft YaHei UI" panose="020B0503020204020204" pitchFamily="34" charset="-122"/>
              </a:rPr>
              <a:t>确定了第一个基向量的方向，自由度</a:t>
            </a:r>
            <a:r>
              <a:rPr lang="en-US" altLang="zh-CN" sz="2000" dirty="0">
                <a:latin typeface="Microsoft YaHei UI" panose="020B0503020204020204" pitchFamily="34" charset="-122"/>
                <a:ea typeface="Microsoft YaHei UI" panose="020B0503020204020204" pitchFamily="34" charset="-122"/>
              </a:rPr>
              <a:t>2</a:t>
            </a:r>
            <a:r>
              <a:rPr lang="zh-CN" altLang="en-US" sz="2000" dirty="0">
                <a:latin typeface="Microsoft YaHei UI" panose="020B0503020204020204" pitchFamily="34" charset="-122"/>
                <a:ea typeface="Microsoft YaHei UI" panose="020B0503020204020204" pitchFamily="34" charset="-122"/>
              </a:rPr>
              <a:t>确定了第二个基向量是由第一个基向量顺时针还是逆时针旋转</a:t>
            </a:r>
            <a:r>
              <a:rPr lang="en-US" altLang="zh-CN" sz="2000" dirty="0">
                <a:latin typeface="Microsoft YaHei UI" panose="020B0503020204020204" pitchFamily="34" charset="-122"/>
                <a:ea typeface="Microsoft YaHei UI" panose="020B0503020204020204" pitchFamily="34" charset="-122"/>
              </a:rPr>
              <a:t>90°</a:t>
            </a:r>
            <a:r>
              <a:rPr lang="zh-CN" altLang="en-US" sz="2000" dirty="0">
                <a:latin typeface="Microsoft YaHei UI" panose="020B0503020204020204" pitchFamily="34" charset="-122"/>
                <a:ea typeface="Microsoft YaHei UI" panose="020B0503020204020204" pitchFamily="34" charset="-122"/>
              </a:rPr>
              <a:t>得到</a:t>
            </a:r>
            <a:endParaRPr lang="en-US" altLang="zh-CN" sz="2000" dirty="0">
              <a:latin typeface="Microsoft YaHei UI" panose="020B0503020204020204" pitchFamily="34" charset="-122"/>
              <a:ea typeface="Microsoft YaHei UI" panose="020B0503020204020204" pitchFamily="34" charset="-122"/>
            </a:endParaRPr>
          </a:p>
          <a:p>
            <a:pPr marL="457200" indent="-457200">
              <a:lnSpc>
                <a:spcPct val="130000"/>
              </a:lnSpc>
              <a:buFont typeface="+mj-lt"/>
              <a:buAutoNum type="arabicPeriod"/>
            </a:pPr>
            <a:r>
              <a:rPr lang="zh-CN" altLang="en-US" sz="2000" dirty="0">
                <a:latin typeface="Microsoft YaHei UI" panose="020B0503020204020204" pitchFamily="34" charset="-122"/>
                <a:ea typeface="Microsoft YaHei UI" panose="020B0503020204020204" pitchFamily="34" charset="-122"/>
              </a:rPr>
              <a:t>基对应的那个正交矩阵，实际上是由旋转操作</a:t>
            </a:r>
            <a:r>
              <a:rPr lang="en-US" altLang="zh-CN" sz="2000" dirty="0">
                <a:latin typeface="Microsoft YaHei UI" panose="020B0503020204020204" pitchFamily="34" charset="-122"/>
                <a:ea typeface="Microsoft YaHei UI" panose="020B0503020204020204" pitchFamily="34" charset="-122"/>
              </a:rPr>
              <a:t>+</a:t>
            </a:r>
            <a:r>
              <a:rPr lang="zh-CN" altLang="en-US" sz="2000" dirty="0">
                <a:latin typeface="Microsoft YaHei UI" panose="020B0503020204020204" pitchFamily="34" charset="-122"/>
                <a:ea typeface="Microsoft YaHei UI" panose="020B0503020204020204" pitchFamily="34" charset="-122"/>
              </a:rPr>
              <a:t>翻转操作共同作用得到的一个正交矩阵</a:t>
            </a:r>
            <a:endParaRPr lang="en-US" altLang="zh-CN" sz="2000" dirty="0">
              <a:latin typeface="Microsoft YaHei UI" panose="020B0503020204020204" pitchFamily="34" charset="-122"/>
              <a:ea typeface="Microsoft YaHei UI" panose="020B0503020204020204" pitchFamily="34" charset="-122"/>
            </a:endParaRPr>
          </a:p>
          <a:p>
            <a:pPr>
              <a:lnSpc>
                <a:spcPct val="130000"/>
              </a:lnSpc>
            </a:pPr>
            <a:r>
              <a:rPr lang="zh-CN" altLang="en-US" sz="2000" dirty="0">
                <a:latin typeface="Microsoft YaHei UI" panose="020B0503020204020204" pitchFamily="34" charset="-122"/>
                <a:ea typeface="Microsoft YaHei UI" panose="020B0503020204020204" pitchFamily="34" charset="-122"/>
              </a:rPr>
              <a:t>（类比：高中化学里的手性分子）</a:t>
            </a:r>
            <a:endParaRPr lang="en-US" altLang="zh-CN" sz="20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704982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3 </a:t>
            </a:r>
            <a:r>
              <a:rPr lang="zh-CN" altLang="en-US" sz="4000" cap="none" dirty="0"/>
              <a:t>欧拉角</a:t>
            </a:r>
          </a:p>
        </p:txBody>
      </p:sp>
      <p:sp>
        <p:nvSpPr>
          <p:cNvPr id="6" name="文本框 5">
            <a:extLst>
              <a:ext uri="{FF2B5EF4-FFF2-40B4-BE49-F238E27FC236}">
                <a16:creationId xmlns:a16="http://schemas.microsoft.com/office/drawing/2014/main" id="{38610BB1-2D6B-4172-963A-D36537AC5DCD}"/>
              </a:ext>
            </a:extLst>
          </p:cNvPr>
          <p:cNvSpPr txBox="1"/>
          <p:nvPr/>
        </p:nvSpPr>
        <p:spPr>
          <a:xfrm>
            <a:off x="581192" y="1550046"/>
            <a:ext cx="11029616" cy="5339282"/>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欧拉角</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由欧拉提出，用于描述三维世界物体的姿态</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欧拉角采用的转轴为当前物体坐标系的轴进行旋转，而非世界坐标系的旋转</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偏航角，</a:t>
            </a:r>
            <a:r>
              <a:rPr lang="en-US" altLang="zh-CN" sz="1600" dirty="0">
                <a:highlight>
                  <a:srgbClr val="FFFF00"/>
                </a:highlight>
                <a:latin typeface="Microsoft YaHei UI" panose="020B0503020204020204" pitchFamily="34" charset="-122"/>
                <a:ea typeface="Microsoft YaHei UI" panose="020B0503020204020204" pitchFamily="34" charset="-122"/>
              </a:rPr>
              <a:t>Yaw</a:t>
            </a:r>
            <a:r>
              <a:rPr lang="zh-CN" altLang="en-US" sz="1600" dirty="0">
                <a:latin typeface="Microsoft YaHei UI" panose="020B0503020204020204" pitchFamily="34" charset="-122"/>
                <a:ea typeface="Microsoft YaHei UI" panose="020B0503020204020204" pitchFamily="34" charset="-122"/>
              </a:rPr>
              <a:t>，左右摇头，绕物体坐标系</a:t>
            </a:r>
            <a:r>
              <a:rPr lang="en-US" altLang="zh-CN" sz="1600" dirty="0">
                <a:latin typeface="Microsoft YaHei UI" panose="020B0503020204020204" pitchFamily="34" charset="-122"/>
                <a:ea typeface="Microsoft YaHei UI" panose="020B0503020204020204" pitchFamily="34" charset="-122"/>
              </a:rPr>
              <a:t>z</a:t>
            </a:r>
            <a:r>
              <a:rPr lang="zh-CN" altLang="en-US" sz="1600" dirty="0">
                <a:latin typeface="Microsoft YaHei UI" panose="020B0503020204020204" pitchFamily="34" charset="-122"/>
                <a:ea typeface="Microsoft YaHei UI" panose="020B0503020204020204" pitchFamily="34" charset="-122"/>
              </a:rPr>
              <a:t>转动</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俯仰角，</a:t>
            </a:r>
            <a:r>
              <a:rPr lang="en-US" altLang="zh-CN" sz="1600" dirty="0">
                <a:highlight>
                  <a:srgbClr val="FFFF00"/>
                </a:highlight>
                <a:latin typeface="Microsoft YaHei UI" panose="020B0503020204020204" pitchFamily="34" charset="-122"/>
                <a:ea typeface="Microsoft YaHei UI" panose="020B0503020204020204" pitchFamily="34" charset="-122"/>
              </a:rPr>
              <a:t>Pitch</a:t>
            </a:r>
            <a:r>
              <a:rPr lang="zh-CN" altLang="en-US" sz="1600" dirty="0">
                <a:latin typeface="Microsoft YaHei UI" panose="020B0503020204020204" pitchFamily="34" charset="-122"/>
                <a:ea typeface="Microsoft YaHei UI" panose="020B0503020204020204" pitchFamily="34" charset="-122"/>
              </a:rPr>
              <a:t>，低头抬头，绕物体坐标系</a:t>
            </a:r>
            <a:r>
              <a:rPr lang="en-US" altLang="zh-CN" sz="1600" dirty="0">
                <a:latin typeface="Microsoft YaHei UI" panose="020B0503020204020204" pitchFamily="34" charset="-122"/>
                <a:ea typeface="Microsoft YaHei UI" panose="020B0503020204020204" pitchFamily="34" charset="-122"/>
              </a:rPr>
              <a:t>y</a:t>
            </a:r>
            <a:r>
              <a:rPr lang="zh-CN" altLang="en-US" sz="1600" dirty="0">
                <a:latin typeface="Microsoft YaHei UI" panose="020B0503020204020204" pitchFamily="34" charset="-122"/>
                <a:ea typeface="Microsoft YaHei UI" panose="020B0503020204020204" pitchFamily="34" charset="-122"/>
              </a:rPr>
              <a:t>转动</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横滚角，</a:t>
            </a:r>
            <a:r>
              <a:rPr lang="en-US" altLang="zh-CN" sz="1600" dirty="0">
                <a:highlight>
                  <a:srgbClr val="FFFF00"/>
                </a:highlight>
                <a:latin typeface="Microsoft YaHei UI" panose="020B0503020204020204" pitchFamily="34" charset="-122"/>
                <a:ea typeface="Microsoft YaHei UI" panose="020B0503020204020204" pitchFamily="34" charset="-122"/>
              </a:rPr>
              <a:t>Roll</a:t>
            </a:r>
            <a:r>
              <a:rPr lang="zh-CN" altLang="en-US" sz="1600" dirty="0">
                <a:latin typeface="Microsoft YaHei UI" panose="020B0503020204020204" pitchFamily="34" charset="-122"/>
                <a:ea typeface="Microsoft YaHei UI" panose="020B0503020204020204" pitchFamily="34" charset="-122"/>
              </a:rPr>
              <a:t>，逆时针顺时针晃头，绕物体坐标系</a:t>
            </a:r>
            <a:r>
              <a:rPr lang="en-US" altLang="zh-CN" sz="1600" dirty="0">
                <a:latin typeface="Microsoft YaHei UI" panose="020B0503020204020204" pitchFamily="34" charset="-122"/>
                <a:ea typeface="Microsoft YaHei UI" panose="020B0503020204020204" pitchFamily="34" charset="-122"/>
              </a:rPr>
              <a:t>x</a:t>
            </a:r>
            <a:r>
              <a:rPr lang="zh-CN" altLang="en-US" sz="1600" dirty="0">
                <a:latin typeface="Microsoft YaHei UI" panose="020B0503020204020204" pitchFamily="34" charset="-122"/>
                <a:ea typeface="Microsoft YaHei UI" panose="020B0503020204020204" pitchFamily="34" charset="-122"/>
              </a:rPr>
              <a:t>转动</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（展示</a:t>
            </a:r>
            <a:r>
              <a:rPr lang="en-US" altLang="zh-CN" sz="1600" dirty="0">
                <a:latin typeface="Microsoft YaHei UI" panose="020B0503020204020204" pitchFamily="34" charset="-122"/>
                <a:ea typeface="Microsoft YaHei UI" panose="020B0503020204020204" pitchFamily="34" charset="-122"/>
              </a:rPr>
              <a:t>SolidWorks</a:t>
            </a:r>
            <a:r>
              <a:rPr lang="zh-CN" altLang="en-US" sz="1600" dirty="0">
                <a:latin typeface="Microsoft YaHei UI" panose="020B0503020204020204" pitchFamily="34" charset="-122"/>
                <a:ea typeface="Microsoft YaHei UI" panose="020B0503020204020204" pitchFamily="34" charset="-122"/>
              </a:rPr>
              <a:t>小教具）</a:t>
            </a:r>
            <a:endParaRPr lang="en-US" altLang="zh-CN" sz="1600" dirty="0">
              <a:latin typeface="Microsoft YaHei UI" panose="020B0503020204020204" pitchFamily="34" charset="-122"/>
              <a:ea typeface="Microsoft YaHei UI" panose="020B0503020204020204" pitchFamily="34" charset="-122"/>
            </a:endParaRPr>
          </a:p>
        </p:txBody>
      </p:sp>
      <p:pic>
        <p:nvPicPr>
          <p:cNvPr id="8" name="QQ20241010-225744-HD">
            <a:hlinkClick r:id="" action="ppaction://media"/>
            <a:extLst>
              <a:ext uri="{FF2B5EF4-FFF2-40B4-BE49-F238E27FC236}">
                <a16:creationId xmlns:a16="http://schemas.microsoft.com/office/drawing/2014/main" id="{EAE32CA9-E948-4B4E-A8BE-F69101B7221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246794" y="2647950"/>
            <a:ext cx="1105366" cy="3807374"/>
          </a:xfrm>
          <a:prstGeom prst="rect">
            <a:avLst/>
          </a:prstGeom>
        </p:spPr>
      </p:pic>
    </p:spTree>
    <p:extLst>
      <p:ext uri="{BB962C8B-B14F-4D97-AF65-F5344CB8AC3E}">
        <p14:creationId xmlns:p14="http://schemas.microsoft.com/office/powerpoint/2010/main" val="2816924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29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3 </a:t>
            </a:r>
            <a:r>
              <a:rPr lang="zh-CN" altLang="en-US" sz="4000" cap="none" dirty="0"/>
              <a:t>欧拉角</a:t>
            </a:r>
          </a:p>
        </p:txBody>
      </p:sp>
      <p:sp>
        <p:nvSpPr>
          <p:cNvPr id="6" name="文本框 5">
            <a:extLst>
              <a:ext uri="{FF2B5EF4-FFF2-40B4-BE49-F238E27FC236}">
                <a16:creationId xmlns:a16="http://schemas.microsoft.com/office/drawing/2014/main" id="{38610BB1-2D6B-4172-963A-D36537AC5DCD}"/>
              </a:ext>
            </a:extLst>
          </p:cNvPr>
          <p:cNvSpPr txBox="1"/>
          <p:nvPr/>
        </p:nvSpPr>
        <p:spPr>
          <a:xfrm>
            <a:off x="581192" y="1550046"/>
            <a:ext cx="11029616" cy="4862934"/>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对于一个三维空间物体的姿态，或者通俗一些说是朝向，将由</a:t>
            </a:r>
            <a:r>
              <a:rPr lang="zh-CN" altLang="en-US" sz="1600" dirty="0">
                <a:solidFill>
                  <a:srgbClr val="FF0000"/>
                </a:solidFill>
                <a:latin typeface="Microsoft YaHei UI" panose="020B0503020204020204" pitchFamily="34" charset="-122"/>
                <a:ea typeface="Microsoft YaHei UI" panose="020B0503020204020204" pitchFamily="34" charset="-122"/>
              </a:rPr>
              <a:t>三个自由度</a:t>
            </a:r>
            <a:r>
              <a:rPr lang="zh-CN" altLang="en-US" sz="1600" dirty="0">
                <a:latin typeface="Microsoft YaHei UI" panose="020B0503020204020204" pitchFamily="34" charset="-122"/>
                <a:ea typeface="Microsoft YaHei UI" panose="020B0503020204020204" pitchFamily="34" charset="-122"/>
              </a:rPr>
              <a:t>决定</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它可以由一个</a:t>
            </a:r>
            <a:r>
              <a:rPr lang="zh-CN" altLang="en-US" sz="1600" dirty="0">
                <a:solidFill>
                  <a:srgbClr val="FF0000"/>
                </a:solidFill>
                <a:latin typeface="Microsoft YaHei UI" panose="020B0503020204020204" pitchFamily="34" charset="-122"/>
                <a:ea typeface="Microsoft YaHei UI" panose="020B0503020204020204" pitchFamily="34" charset="-122"/>
              </a:rPr>
              <a:t>三维矢量</a:t>
            </a:r>
            <a:r>
              <a:rPr lang="zh-CN" altLang="en-US" sz="1600" dirty="0">
                <a:latin typeface="Microsoft YaHei UI" panose="020B0503020204020204" pitchFamily="34" charset="-122"/>
                <a:ea typeface="Microsoft YaHei UI" panose="020B0503020204020204" pitchFamily="34" charset="-122"/>
              </a:rPr>
              <a:t>直接刻画这三个自由度，该矢量作为转轴，而我们的物体从初始位置，绕着这个转轴，直接旋转到当前位置（涉及了四元数，后面再讲）</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也可以绕三个轴依次旋转</a:t>
            </a:r>
            <a:r>
              <a:rPr lang="zh-CN" altLang="en-US" sz="1600" dirty="0">
                <a:solidFill>
                  <a:srgbClr val="FF0000"/>
                </a:solidFill>
                <a:latin typeface="Microsoft YaHei UI" panose="020B0503020204020204" pitchFamily="34" charset="-122"/>
                <a:ea typeface="Microsoft YaHei UI" panose="020B0503020204020204" pitchFamily="34" charset="-122"/>
              </a:rPr>
              <a:t>三个角度</a:t>
            </a:r>
            <a:r>
              <a:rPr lang="zh-CN" altLang="en-US" sz="1600" dirty="0">
                <a:latin typeface="Microsoft YaHei UI" panose="020B0503020204020204" pitchFamily="34" charset="-122"/>
                <a:ea typeface="Microsoft YaHei UI" panose="020B0503020204020204" pitchFamily="34" charset="-122"/>
              </a:rPr>
              <a:t>，依次叠加而到达当前位置</a:t>
            </a:r>
            <a:endParaRPr lang="en-US" altLang="zh-CN" sz="1600" dirty="0">
              <a:latin typeface="Microsoft YaHei UI" panose="020B0503020204020204" pitchFamily="34" charset="-122"/>
              <a:ea typeface="Microsoft YaHei UI" panose="020B0503020204020204" pitchFamily="34" charset="-122"/>
            </a:endParaRPr>
          </a:p>
          <a:p>
            <a:pPr marL="1257300" lvl="2"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绕物体坐标系的</a:t>
            </a:r>
            <a:r>
              <a:rPr lang="en-US" altLang="zh-CN" sz="1600" dirty="0">
                <a:latin typeface="Microsoft YaHei UI" panose="020B0503020204020204" pitchFamily="34" charset="-122"/>
                <a:ea typeface="Microsoft YaHei UI" panose="020B0503020204020204" pitchFamily="34" charset="-122"/>
              </a:rPr>
              <a:t>x</a:t>
            </a:r>
            <a:r>
              <a:rPr lang="zh-CN" altLang="en-US" sz="1600" dirty="0">
                <a:latin typeface="Microsoft YaHei UI" panose="020B0503020204020204" pitchFamily="34" charset="-122"/>
                <a:ea typeface="Microsoft YaHei UI" panose="020B0503020204020204" pitchFamily="34" charset="-122"/>
              </a:rPr>
              <a:t>，</a:t>
            </a:r>
            <a:r>
              <a:rPr lang="en-US" altLang="zh-CN" sz="1600" dirty="0">
                <a:latin typeface="Microsoft YaHei UI" panose="020B0503020204020204" pitchFamily="34" charset="-122"/>
                <a:ea typeface="Microsoft YaHei UI" panose="020B0503020204020204" pitchFamily="34" charset="-122"/>
              </a:rPr>
              <a:t>y</a:t>
            </a:r>
            <a:r>
              <a:rPr lang="zh-CN" altLang="en-US" sz="1600" dirty="0">
                <a:latin typeface="Microsoft YaHei UI" panose="020B0503020204020204" pitchFamily="34" charset="-122"/>
                <a:ea typeface="Microsoft YaHei UI" panose="020B0503020204020204" pitchFamily="34" charset="-122"/>
              </a:rPr>
              <a:t>，</a:t>
            </a:r>
            <a:r>
              <a:rPr lang="en-US" altLang="zh-CN" sz="1600" dirty="0">
                <a:latin typeface="Microsoft YaHei UI" panose="020B0503020204020204" pitchFamily="34" charset="-122"/>
                <a:ea typeface="Microsoft YaHei UI" panose="020B0503020204020204" pitchFamily="34" charset="-122"/>
              </a:rPr>
              <a:t>z</a:t>
            </a:r>
            <a:r>
              <a:rPr lang="zh-CN" altLang="en-US" sz="1600" dirty="0">
                <a:latin typeface="Microsoft YaHei UI" panose="020B0503020204020204" pitchFamily="34" charset="-122"/>
                <a:ea typeface="Microsoft YaHei UI" panose="020B0503020204020204" pitchFamily="34" charset="-122"/>
              </a:rPr>
              <a:t>坐标轴（每转一次更新一次），也叫做</a:t>
            </a:r>
            <a:r>
              <a:rPr lang="zh-CN" altLang="en-US" sz="1600" dirty="0">
                <a:highlight>
                  <a:srgbClr val="FFFF00"/>
                </a:highlight>
                <a:latin typeface="Microsoft YaHei UI" panose="020B0503020204020204" pitchFamily="34" charset="-122"/>
                <a:ea typeface="Microsoft YaHei UI" panose="020B0503020204020204" pitchFamily="34" charset="-122"/>
              </a:rPr>
              <a:t>内旋</a:t>
            </a:r>
            <a:endParaRPr lang="en-US" altLang="zh-CN" sz="1600" dirty="0">
              <a:highlight>
                <a:srgbClr val="FFFF00"/>
              </a:highlight>
              <a:latin typeface="Microsoft YaHei UI" panose="020B0503020204020204" pitchFamily="34" charset="-122"/>
              <a:ea typeface="Microsoft YaHei UI" panose="020B0503020204020204" pitchFamily="34" charset="-122"/>
            </a:endParaRPr>
          </a:p>
          <a:p>
            <a:pPr marL="1257300" lvl="2"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绕世界坐标系的</a:t>
            </a:r>
            <a:r>
              <a:rPr lang="en-US" altLang="zh-CN" sz="1600" dirty="0">
                <a:latin typeface="Microsoft YaHei UI" panose="020B0503020204020204" pitchFamily="34" charset="-122"/>
                <a:ea typeface="Microsoft YaHei UI" panose="020B0503020204020204" pitchFamily="34" charset="-122"/>
              </a:rPr>
              <a:t>x</a:t>
            </a:r>
            <a:r>
              <a:rPr lang="zh-CN" altLang="en-US" sz="1600" dirty="0">
                <a:latin typeface="Microsoft YaHei UI" panose="020B0503020204020204" pitchFamily="34" charset="-122"/>
                <a:ea typeface="Microsoft YaHei UI" panose="020B0503020204020204" pitchFamily="34" charset="-122"/>
              </a:rPr>
              <a:t>，</a:t>
            </a:r>
            <a:r>
              <a:rPr lang="en-US" altLang="zh-CN" sz="1600" dirty="0">
                <a:latin typeface="Microsoft YaHei UI" panose="020B0503020204020204" pitchFamily="34" charset="-122"/>
                <a:ea typeface="Microsoft YaHei UI" panose="020B0503020204020204" pitchFamily="34" charset="-122"/>
              </a:rPr>
              <a:t>y</a:t>
            </a:r>
            <a:r>
              <a:rPr lang="zh-CN" altLang="en-US" sz="1600" dirty="0">
                <a:latin typeface="Microsoft YaHei UI" panose="020B0503020204020204" pitchFamily="34" charset="-122"/>
                <a:ea typeface="Microsoft YaHei UI" panose="020B0503020204020204" pitchFamily="34" charset="-122"/>
              </a:rPr>
              <a:t>，</a:t>
            </a:r>
            <a:r>
              <a:rPr lang="en-US" altLang="zh-CN" sz="1600" dirty="0">
                <a:latin typeface="Microsoft YaHei UI" panose="020B0503020204020204" pitchFamily="34" charset="-122"/>
                <a:ea typeface="Microsoft YaHei UI" panose="020B0503020204020204" pitchFamily="34" charset="-122"/>
              </a:rPr>
              <a:t>z</a:t>
            </a:r>
            <a:r>
              <a:rPr lang="zh-CN" altLang="en-US" sz="1600" dirty="0">
                <a:latin typeface="Microsoft YaHei UI" panose="020B0503020204020204" pitchFamily="34" charset="-122"/>
                <a:ea typeface="Microsoft YaHei UI" panose="020B0503020204020204" pitchFamily="34" charset="-122"/>
              </a:rPr>
              <a:t>坐标轴（固定坐标轴），也叫做</a:t>
            </a:r>
            <a:r>
              <a:rPr lang="zh-CN" altLang="en-US" sz="1600" dirty="0">
                <a:highlight>
                  <a:srgbClr val="FFFF00"/>
                </a:highlight>
                <a:latin typeface="Microsoft YaHei UI" panose="020B0503020204020204" pitchFamily="34" charset="-122"/>
                <a:ea typeface="Microsoft YaHei UI" panose="020B0503020204020204" pitchFamily="34" charset="-122"/>
              </a:rPr>
              <a:t>外旋</a:t>
            </a:r>
            <a:endParaRPr lang="en-US" altLang="zh-CN" sz="1600" dirty="0">
              <a:highlight>
                <a:srgbClr val="FFFF00"/>
              </a:highlight>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在本章节中，无论外旋还是内旋，都将采用</a:t>
            </a:r>
            <a:r>
              <a:rPr lang="en-US" altLang="zh-CN" sz="1600" dirty="0">
                <a:highlight>
                  <a:srgbClr val="FFFF00"/>
                </a:highlight>
                <a:latin typeface="Microsoft YaHei UI" panose="020B0503020204020204" pitchFamily="34" charset="-122"/>
                <a:ea typeface="Microsoft YaHei UI" panose="020B0503020204020204" pitchFamily="34" charset="-122"/>
              </a:rPr>
              <a:t>Yaw</a:t>
            </a:r>
            <a:r>
              <a:rPr lang="zh-CN" altLang="en-US" sz="1600" dirty="0">
                <a:highlight>
                  <a:srgbClr val="FFFF00"/>
                </a:highlight>
                <a:latin typeface="Microsoft YaHei UI" panose="020B0503020204020204" pitchFamily="34" charset="-122"/>
                <a:ea typeface="Microsoft YaHei UI" panose="020B0503020204020204" pitchFamily="34" charset="-122"/>
              </a:rPr>
              <a:t>（</a:t>
            </a:r>
            <a:r>
              <a:rPr lang="en-US" altLang="zh-CN" sz="1600" dirty="0">
                <a:highlight>
                  <a:srgbClr val="FFFF00"/>
                </a:highlight>
                <a:latin typeface="Microsoft YaHei UI" panose="020B0503020204020204" pitchFamily="34" charset="-122"/>
                <a:ea typeface="Microsoft YaHei UI" panose="020B0503020204020204" pitchFamily="34" charset="-122"/>
              </a:rPr>
              <a:t>z</a:t>
            </a:r>
            <a:r>
              <a:rPr lang="zh-CN" altLang="en-US" sz="1600" dirty="0">
                <a:highlight>
                  <a:srgbClr val="FFFF00"/>
                </a:highlight>
                <a:latin typeface="Microsoft YaHei UI" panose="020B0503020204020204" pitchFamily="34" charset="-122"/>
                <a:ea typeface="Microsoft YaHei UI" panose="020B0503020204020204" pitchFamily="34" charset="-122"/>
              </a:rPr>
              <a:t>）、</a:t>
            </a:r>
            <a:r>
              <a:rPr lang="en-US" altLang="zh-CN" sz="1600" dirty="0">
                <a:highlight>
                  <a:srgbClr val="FFFF00"/>
                </a:highlight>
                <a:latin typeface="Microsoft YaHei UI" panose="020B0503020204020204" pitchFamily="34" charset="-122"/>
                <a:ea typeface="Microsoft YaHei UI" panose="020B0503020204020204" pitchFamily="34" charset="-122"/>
              </a:rPr>
              <a:t>Pitch</a:t>
            </a:r>
            <a:r>
              <a:rPr lang="zh-CN" altLang="en-US" sz="1600" dirty="0">
                <a:highlight>
                  <a:srgbClr val="FFFF00"/>
                </a:highlight>
                <a:latin typeface="Microsoft YaHei UI" panose="020B0503020204020204" pitchFamily="34" charset="-122"/>
                <a:ea typeface="Microsoft YaHei UI" panose="020B0503020204020204" pitchFamily="34" charset="-122"/>
              </a:rPr>
              <a:t>（</a:t>
            </a:r>
            <a:r>
              <a:rPr lang="en-US" altLang="zh-CN" sz="1600" dirty="0">
                <a:highlight>
                  <a:srgbClr val="FFFF00"/>
                </a:highlight>
                <a:latin typeface="Microsoft YaHei UI" panose="020B0503020204020204" pitchFamily="34" charset="-122"/>
                <a:ea typeface="Microsoft YaHei UI" panose="020B0503020204020204" pitchFamily="34" charset="-122"/>
              </a:rPr>
              <a:t>y</a:t>
            </a:r>
            <a:r>
              <a:rPr lang="zh-CN" altLang="en-US" sz="1600" dirty="0">
                <a:highlight>
                  <a:srgbClr val="FFFF00"/>
                </a:highlight>
                <a:latin typeface="Microsoft YaHei UI" panose="020B0503020204020204" pitchFamily="34" charset="-122"/>
                <a:ea typeface="Microsoft YaHei UI" panose="020B0503020204020204" pitchFamily="34" charset="-122"/>
              </a:rPr>
              <a:t>）、</a:t>
            </a:r>
            <a:r>
              <a:rPr lang="en-US" altLang="zh-CN" sz="1600" dirty="0">
                <a:highlight>
                  <a:srgbClr val="FFFF00"/>
                </a:highlight>
                <a:latin typeface="Microsoft YaHei UI" panose="020B0503020204020204" pitchFamily="34" charset="-122"/>
                <a:ea typeface="Microsoft YaHei UI" panose="020B0503020204020204" pitchFamily="34" charset="-122"/>
              </a:rPr>
              <a:t>Roll</a:t>
            </a:r>
            <a:r>
              <a:rPr lang="zh-CN" altLang="en-US" sz="1600" dirty="0">
                <a:highlight>
                  <a:srgbClr val="FFFF00"/>
                </a:highlight>
                <a:latin typeface="Microsoft YaHei UI" panose="020B0503020204020204" pitchFamily="34" charset="-122"/>
                <a:ea typeface="Microsoft YaHei UI" panose="020B0503020204020204" pitchFamily="34" charset="-122"/>
              </a:rPr>
              <a:t>（</a:t>
            </a:r>
            <a:r>
              <a:rPr lang="en-US" altLang="zh-CN" sz="1600" dirty="0">
                <a:highlight>
                  <a:srgbClr val="FFFF00"/>
                </a:highlight>
                <a:latin typeface="Microsoft YaHei UI" panose="020B0503020204020204" pitchFamily="34" charset="-122"/>
                <a:ea typeface="Microsoft YaHei UI" panose="020B0503020204020204" pitchFamily="34" charset="-122"/>
              </a:rPr>
              <a:t>x</a:t>
            </a:r>
            <a:r>
              <a:rPr lang="zh-CN" altLang="en-US" sz="1600" dirty="0">
                <a:highlight>
                  <a:srgbClr val="FFFF00"/>
                </a:highlight>
                <a:latin typeface="Microsoft YaHei UI" panose="020B0503020204020204" pitchFamily="34" charset="-122"/>
                <a:ea typeface="Microsoft YaHei UI" panose="020B0503020204020204" pitchFamily="34" charset="-122"/>
              </a:rPr>
              <a:t>）</a:t>
            </a:r>
            <a:r>
              <a:rPr lang="zh-CN" altLang="en-US" sz="1600" dirty="0">
                <a:latin typeface="Microsoft YaHei UI" panose="020B0503020204020204" pitchFamily="34" charset="-122"/>
                <a:ea typeface="Microsoft YaHei UI" panose="020B0503020204020204" pitchFamily="34" charset="-122"/>
              </a:rPr>
              <a:t>的旋转顺序，从而唯一确定旋转情况</a:t>
            </a: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实际上，旋转顺序多样，我只是用了</a:t>
            </a:r>
            <a:r>
              <a:rPr lang="en-US" altLang="zh-CN" sz="1600" dirty="0">
                <a:latin typeface="Microsoft YaHei UI" panose="020B0503020204020204" pitchFamily="34" charset="-122"/>
                <a:ea typeface="Microsoft YaHei UI" panose="020B0503020204020204" pitchFamily="34" charset="-122"/>
              </a:rPr>
              <a:t>RM</a:t>
            </a:r>
            <a:r>
              <a:rPr lang="zh-CN" altLang="en-US" sz="1600" dirty="0">
                <a:latin typeface="Microsoft YaHei UI" panose="020B0503020204020204" pitchFamily="34" charset="-122"/>
                <a:ea typeface="Microsoft YaHei UI" panose="020B0503020204020204" pitchFamily="34" charset="-122"/>
              </a:rPr>
              <a:t>最常见的一种。有些游戏以及模拟器里可能用的是其他的旋转情况</a:t>
            </a: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solidFill>
                  <a:srgbClr val="FF0000"/>
                </a:solidFill>
                <a:latin typeface="Microsoft YaHei UI" panose="020B0503020204020204" pitchFamily="34" charset="-122"/>
                <a:ea typeface="Microsoft YaHei UI" panose="020B0503020204020204" pitchFamily="34" charset="-122"/>
              </a:rPr>
              <a:t>内旋</a:t>
            </a:r>
            <a:r>
              <a:rPr lang="zh-CN" altLang="en-US" sz="1600" dirty="0">
                <a:latin typeface="Microsoft YaHei UI" panose="020B0503020204020204" pitchFamily="34" charset="-122"/>
                <a:ea typeface="Microsoft YaHei UI" panose="020B0503020204020204" pitchFamily="34" charset="-122"/>
              </a:rPr>
              <a:t>的转动角度，是用</a:t>
            </a:r>
            <a:r>
              <a:rPr lang="zh-CN" altLang="en-US" sz="1600" dirty="0">
                <a:solidFill>
                  <a:srgbClr val="FF0000"/>
                </a:solidFill>
                <a:latin typeface="Microsoft YaHei UI" panose="020B0503020204020204" pitchFamily="34" charset="-122"/>
                <a:ea typeface="Microsoft YaHei UI" panose="020B0503020204020204" pitchFamily="34" charset="-122"/>
              </a:rPr>
              <a:t>欧拉角</a:t>
            </a:r>
            <a:r>
              <a:rPr lang="zh-CN" altLang="en-US" sz="1600" dirty="0">
                <a:latin typeface="Microsoft YaHei UI" panose="020B0503020204020204" pitchFamily="34" charset="-122"/>
                <a:ea typeface="Microsoft YaHei UI" panose="020B0503020204020204" pitchFamily="34" charset="-122"/>
              </a:rPr>
              <a:t>描述的</a:t>
            </a: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solidFill>
                  <a:srgbClr val="FF0000"/>
                </a:solidFill>
                <a:latin typeface="Microsoft YaHei UI" panose="020B0503020204020204" pitchFamily="34" charset="-122"/>
                <a:ea typeface="Microsoft YaHei UI" panose="020B0503020204020204" pitchFamily="34" charset="-122"/>
              </a:rPr>
              <a:t>外旋</a:t>
            </a:r>
            <a:r>
              <a:rPr lang="zh-CN" altLang="en-US" sz="1600" dirty="0">
                <a:latin typeface="Microsoft YaHei UI" panose="020B0503020204020204" pitchFamily="34" charset="-122"/>
                <a:ea typeface="Microsoft YaHei UI" panose="020B0503020204020204" pitchFamily="34" charset="-122"/>
              </a:rPr>
              <a:t>的转动角度，用</a:t>
            </a:r>
            <a:r>
              <a:rPr lang="zh-CN" altLang="en-US" sz="1600" dirty="0">
                <a:solidFill>
                  <a:srgbClr val="FF0000"/>
                </a:solidFill>
                <a:latin typeface="Microsoft YaHei UI" panose="020B0503020204020204" pitchFamily="34" charset="-122"/>
                <a:ea typeface="Microsoft YaHei UI" panose="020B0503020204020204" pitchFamily="34" charset="-122"/>
              </a:rPr>
              <a:t>世界坐标系</a:t>
            </a:r>
            <a:r>
              <a:rPr lang="zh-CN" altLang="en-US" sz="1600" dirty="0">
                <a:latin typeface="Microsoft YaHei UI" panose="020B0503020204020204" pitchFamily="34" charset="-122"/>
                <a:ea typeface="Microsoft YaHei UI" panose="020B0503020204020204" pitchFamily="34" charset="-122"/>
              </a:rPr>
              <a:t>描述</a:t>
            </a: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外旋坐标轴固定，对于数学上的表达更易于理解</a:t>
            </a: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内旋跟随物体坐标系，对于实际的操作更直观</a:t>
            </a:r>
            <a:endParaRPr lang="en-US" altLang="zh-CN" sz="16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906857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3600" cap="none" dirty="0"/>
              <a:t>4.1 </a:t>
            </a:r>
            <a:r>
              <a:rPr lang="zh-CN" altLang="en-US" sz="3600" cap="none" dirty="0"/>
              <a:t>三维坐标系</a:t>
            </a:r>
            <a:r>
              <a:rPr lang="en-US" altLang="zh-CN" sz="3600" cap="none" dirty="0"/>
              <a:t>——</a:t>
            </a:r>
            <a:r>
              <a:rPr lang="zh-CN" altLang="en-US" sz="3600" cap="none" dirty="0"/>
              <a:t>绕坐标轴旋转</a:t>
            </a:r>
          </a:p>
        </p:txBody>
      </p:sp>
      <p:sp>
        <p:nvSpPr>
          <p:cNvPr id="9" name="文本框 8">
            <a:extLst>
              <a:ext uri="{FF2B5EF4-FFF2-40B4-BE49-F238E27FC236}">
                <a16:creationId xmlns:a16="http://schemas.microsoft.com/office/drawing/2014/main" id="{1F3C3401-058D-49A7-AC3B-EF45924FE694}"/>
              </a:ext>
            </a:extLst>
          </p:cNvPr>
          <p:cNvSpPr txBox="1"/>
          <p:nvPr/>
        </p:nvSpPr>
        <p:spPr>
          <a:xfrm>
            <a:off x="581192" y="5411649"/>
            <a:ext cx="11029616" cy="1138132"/>
          </a:xfrm>
          <a:prstGeom prst="rect">
            <a:avLst/>
          </a:prstGeom>
          <a:noFill/>
        </p:spPr>
        <p:txBody>
          <a:bodyPr wrap="square" rtlCol="0">
            <a:spAutoFit/>
          </a:bodyPr>
          <a:lstStyle/>
          <a:p>
            <a:pPr>
              <a:lnSpc>
                <a:spcPct val="130000"/>
              </a:lnSpc>
            </a:pPr>
            <a:r>
              <a:rPr lang="zh-CN" altLang="en-US" dirty="0">
                <a:latin typeface="Microsoft YaHei UI" panose="020B0503020204020204" pitchFamily="34" charset="-122"/>
                <a:ea typeface="Microsoft YaHei UI" panose="020B0503020204020204" pitchFamily="34" charset="-122"/>
              </a:rPr>
              <a:t>意义</a:t>
            </a:r>
            <a:endParaRPr lang="en-US" altLang="zh-CN" dirty="0">
              <a:latin typeface="Microsoft YaHei UI" panose="020B0503020204020204" pitchFamily="34" charset="-122"/>
              <a:ea typeface="Microsoft YaHei UI" panose="020B0503020204020204" pitchFamily="34" charset="-122"/>
            </a:endParaRPr>
          </a:p>
          <a:p>
            <a:pPr marL="342900" indent="-342900">
              <a:lnSpc>
                <a:spcPct val="130000"/>
              </a:lnSpc>
              <a:buFont typeface="+mj-lt"/>
              <a:buAutoNum type="arabicPeriod"/>
            </a:pPr>
            <a:r>
              <a:rPr lang="zh-CN" altLang="en-US" dirty="0">
                <a:latin typeface="Microsoft YaHei UI" panose="020B0503020204020204" pitchFamily="34" charset="-122"/>
                <a:ea typeface="Microsoft YaHei UI" panose="020B0503020204020204" pitchFamily="34" charset="-122"/>
              </a:rPr>
              <a:t>初始状态（物体坐标系和世界坐标系重合）的</a:t>
            </a:r>
            <a:r>
              <a:rPr lang="zh-CN" altLang="en-US" dirty="0">
                <a:solidFill>
                  <a:srgbClr val="FF0000"/>
                </a:solidFill>
                <a:latin typeface="Microsoft YaHei UI" panose="020B0503020204020204" pitchFamily="34" charset="-122"/>
                <a:ea typeface="Microsoft YaHei UI" panose="020B0503020204020204" pitchFamily="34" charset="-122"/>
              </a:rPr>
              <a:t>单次旋转</a:t>
            </a:r>
            <a:r>
              <a:rPr lang="zh-CN" altLang="en-US" dirty="0">
                <a:latin typeface="Microsoft YaHei UI" panose="020B0503020204020204" pitchFamily="34" charset="-122"/>
                <a:ea typeface="Microsoft YaHei UI" panose="020B0503020204020204" pitchFamily="34" charset="-122"/>
              </a:rPr>
              <a:t>，内旋和外旋可以</a:t>
            </a:r>
            <a:r>
              <a:rPr lang="zh-CN" altLang="en-US" dirty="0">
                <a:solidFill>
                  <a:srgbClr val="FF0000"/>
                </a:solidFill>
                <a:latin typeface="Microsoft YaHei UI" panose="020B0503020204020204" pitchFamily="34" charset="-122"/>
                <a:ea typeface="Microsoft YaHei UI" panose="020B0503020204020204" pitchFamily="34" charset="-122"/>
              </a:rPr>
              <a:t>等价</a:t>
            </a:r>
            <a:endParaRPr lang="en-US" altLang="zh-CN" dirty="0">
              <a:solidFill>
                <a:srgbClr val="FF0000"/>
              </a:solidFill>
              <a:latin typeface="Microsoft YaHei UI" panose="020B0503020204020204" pitchFamily="34" charset="-122"/>
              <a:ea typeface="Microsoft YaHei UI" panose="020B0503020204020204" pitchFamily="34" charset="-122"/>
            </a:endParaRPr>
          </a:p>
          <a:p>
            <a:pPr marL="342900" indent="-342900">
              <a:lnSpc>
                <a:spcPct val="130000"/>
              </a:lnSpc>
              <a:buFont typeface="+mj-lt"/>
              <a:buAutoNum type="arabicPeriod"/>
            </a:pPr>
            <a:r>
              <a:rPr lang="zh-CN" altLang="en-US" dirty="0">
                <a:latin typeface="Microsoft YaHei UI" panose="020B0503020204020204" pitchFamily="34" charset="-122"/>
                <a:ea typeface="Microsoft YaHei UI" panose="020B0503020204020204" pitchFamily="34" charset="-122"/>
              </a:rPr>
              <a:t>这是外旋和内旋的基础</a:t>
            </a:r>
            <a:endParaRPr lang="en-US" altLang="zh-CN" dirty="0">
              <a:latin typeface="Microsoft YaHei UI" panose="020B0503020204020204" pitchFamily="34" charset="-122"/>
              <a:ea typeface="Microsoft YaHei UI" panose="020B0503020204020204" pitchFamily="34" charset="-122"/>
            </a:endParaRPr>
          </a:p>
        </p:txBody>
      </p:sp>
      <p:pic>
        <p:nvPicPr>
          <p:cNvPr id="4" name="图片 3">
            <a:extLst>
              <a:ext uri="{FF2B5EF4-FFF2-40B4-BE49-F238E27FC236}">
                <a16:creationId xmlns:a16="http://schemas.microsoft.com/office/drawing/2014/main" id="{C00C2DB8-7441-4F28-9CF6-818F0CD14AB9}"/>
              </a:ext>
            </a:extLst>
          </p:cNvPr>
          <p:cNvPicPr>
            <a:picLocks noChangeAspect="1"/>
          </p:cNvPicPr>
          <p:nvPr/>
        </p:nvPicPr>
        <p:blipFill>
          <a:blip r:embed="rId3"/>
          <a:stretch>
            <a:fillRect/>
          </a:stretch>
        </p:blipFill>
        <p:spPr>
          <a:xfrm>
            <a:off x="1393694" y="1550046"/>
            <a:ext cx="9404612" cy="3861603"/>
          </a:xfrm>
          <a:prstGeom prst="rect">
            <a:avLst/>
          </a:prstGeom>
        </p:spPr>
      </p:pic>
    </p:spTree>
    <p:extLst>
      <p:ext uri="{BB962C8B-B14F-4D97-AF65-F5344CB8AC3E}">
        <p14:creationId xmlns:p14="http://schemas.microsoft.com/office/powerpoint/2010/main" val="1205203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4.2 </a:t>
            </a:r>
            <a:r>
              <a:rPr lang="zh-CN" altLang="en-US" sz="4000" cap="none" dirty="0"/>
              <a:t>三维坐标系</a:t>
            </a:r>
            <a:r>
              <a:rPr lang="en-US" altLang="zh-CN" sz="4000" cap="none" dirty="0"/>
              <a:t>——</a:t>
            </a:r>
            <a:r>
              <a:rPr lang="zh-CN" altLang="en-US" sz="4000" cap="none" dirty="0"/>
              <a:t>外旋</a:t>
            </a:r>
          </a:p>
        </p:txBody>
      </p:sp>
      <p:pic>
        <p:nvPicPr>
          <p:cNvPr id="4" name="图片 3">
            <a:extLst>
              <a:ext uri="{FF2B5EF4-FFF2-40B4-BE49-F238E27FC236}">
                <a16:creationId xmlns:a16="http://schemas.microsoft.com/office/drawing/2014/main" id="{2CD5B3CC-2740-4486-8854-B533839705CD}"/>
              </a:ext>
            </a:extLst>
          </p:cNvPr>
          <p:cNvPicPr>
            <a:picLocks noChangeAspect="1"/>
          </p:cNvPicPr>
          <p:nvPr/>
        </p:nvPicPr>
        <p:blipFill>
          <a:blip r:embed="rId3"/>
          <a:stretch>
            <a:fillRect/>
          </a:stretch>
        </p:blipFill>
        <p:spPr>
          <a:xfrm>
            <a:off x="581025" y="2424112"/>
            <a:ext cx="11029950" cy="2009775"/>
          </a:xfrm>
          <a:prstGeom prst="rect">
            <a:avLst/>
          </a:prstGeom>
        </p:spPr>
      </p:pic>
    </p:spTree>
    <p:extLst>
      <p:ext uri="{BB962C8B-B14F-4D97-AF65-F5344CB8AC3E}">
        <p14:creationId xmlns:p14="http://schemas.microsoft.com/office/powerpoint/2010/main" val="88755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4.2 </a:t>
            </a:r>
            <a:r>
              <a:rPr lang="zh-CN" altLang="en-US" sz="4000" cap="none" dirty="0"/>
              <a:t>三维坐标系</a:t>
            </a:r>
            <a:r>
              <a:rPr lang="en-US" altLang="zh-CN" sz="4000" cap="none" dirty="0"/>
              <a:t>——</a:t>
            </a:r>
            <a:r>
              <a:rPr lang="zh-CN" altLang="en-US" sz="4000" cap="none" dirty="0"/>
              <a:t>外旋</a:t>
            </a:r>
          </a:p>
        </p:txBody>
      </p:sp>
      <p:sp>
        <p:nvSpPr>
          <p:cNvPr id="6" name="文本框 5">
            <a:extLst>
              <a:ext uri="{FF2B5EF4-FFF2-40B4-BE49-F238E27FC236}">
                <a16:creationId xmlns:a16="http://schemas.microsoft.com/office/drawing/2014/main" id="{38610BB1-2D6B-4172-963A-D36537AC5DCD}"/>
              </a:ext>
            </a:extLst>
          </p:cNvPr>
          <p:cNvSpPr txBox="1"/>
          <p:nvPr/>
        </p:nvSpPr>
        <p:spPr>
          <a:xfrm>
            <a:off x="581192" y="1550046"/>
            <a:ext cx="11029616" cy="2938625"/>
          </a:xfrm>
          <a:prstGeom prst="rect">
            <a:avLst/>
          </a:prstGeom>
          <a:noFill/>
        </p:spPr>
        <p:txBody>
          <a:bodyPr wrap="square" rtlCol="0">
            <a:spAutoFit/>
          </a:bodyPr>
          <a:lstStyle/>
          <a:p>
            <a:pPr>
              <a:lnSpc>
                <a:spcPct val="130000"/>
              </a:lnSpc>
            </a:pPr>
            <a:r>
              <a:rPr lang="zh-CN" altLang="en-US" dirty="0">
                <a:latin typeface="Microsoft YaHei UI" panose="020B0503020204020204" pitchFamily="34" charset="-122"/>
                <a:ea typeface="Microsoft YaHei UI" panose="020B0503020204020204" pitchFamily="34" charset="-122"/>
              </a:rPr>
              <a:t>练习</a:t>
            </a:r>
            <a:r>
              <a:rPr lang="en-US" altLang="zh-CN" dirty="0">
                <a:latin typeface="Microsoft YaHei UI" panose="020B0503020204020204" pitchFamily="34" charset="-122"/>
                <a:ea typeface="Microsoft YaHei UI" panose="020B0503020204020204" pitchFamily="34" charset="-122"/>
              </a:rPr>
              <a:t>7</a:t>
            </a:r>
            <a:r>
              <a:rPr lang="zh-CN" altLang="en-US" dirty="0">
                <a:latin typeface="Microsoft YaHei UI" panose="020B0503020204020204" pitchFamily="34" charset="-122"/>
                <a:ea typeface="Microsoft YaHei UI" panose="020B0503020204020204" pitchFamily="34" charset="-122"/>
              </a:rPr>
              <a:t>：求“先</a:t>
            </a:r>
            <a:r>
              <a:rPr lang="en-US" altLang="zh-CN" dirty="0">
                <a:latin typeface="Microsoft YaHei UI" panose="020B0503020204020204" pitchFamily="34" charset="-122"/>
                <a:ea typeface="Microsoft YaHei UI" panose="020B0503020204020204" pitchFamily="34" charset="-122"/>
              </a:rPr>
              <a:t>z</a:t>
            </a:r>
            <a:r>
              <a:rPr lang="zh-CN" altLang="en-US" dirty="0">
                <a:latin typeface="Microsoft YaHei UI" panose="020B0503020204020204" pitchFamily="34" charset="-122"/>
                <a:ea typeface="Microsoft YaHei UI" panose="020B0503020204020204" pitchFamily="34" charset="-122"/>
              </a:rPr>
              <a:t>轴</a:t>
            </a:r>
            <a:r>
              <a:rPr lang="en-US" altLang="zh-CN" dirty="0">
                <a:latin typeface="Microsoft YaHei UI" panose="020B0503020204020204" pitchFamily="34" charset="-122"/>
                <a:ea typeface="Microsoft YaHei UI" panose="020B0503020204020204" pitchFamily="34" charset="-122"/>
              </a:rPr>
              <a:t>90°</a:t>
            </a:r>
            <a:r>
              <a:rPr lang="zh-CN" altLang="en-US" dirty="0">
                <a:latin typeface="Microsoft YaHei UI" panose="020B0503020204020204" pitchFamily="34" charset="-122"/>
                <a:ea typeface="Microsoft YaHei UI" panose="020B0503020204020204" pitchFamily="34" charset="-122"/>
              </a:rPr>
              <a:t>，而后</a:t>
            </a:r>
            <a:r>
              <a:rPr lang="en-US" altLang="zh-CN" dirty="0">
                <a:latin typeface="Microsoft YaHei UI" panose="020B0503020204020204" pitchFamily="34" charset="-122"/>
                <a:ea typeface="Microsoft YaHei UI" panose="020B0503020204020204" pitchFamily="34" charset="-122"/>
              </a:rPr>
              <a:t>y</a:t>
            </a:r>
            <a:r>
              <a:rPr lang="zh-CN" altLang="en-US" dirty="0">
                <a:latin typeface="Microsoft YaHei UI" panose="020B0503020204020204" pitchFamily="34" charset="-122"/>
                <a:ea typeface="Microsoft YaHei UI" panose="020B0503020204020204" pitchFamily="34" charset="-122"/>
              </a:rPr>
              <a:t>轴</a:t>
            </a:r>
            <a:r>
              <a:rPr lang="en-US" altLang="zh-CN" dirty="0">
                <a:latin typeface="Microsoft YaHei UI" panose="020B0503020204020204" pitchFamily="34" charset="-122"/>
                <a:ea typeface="Microsoft YaHei UI" panose="020B0503020204020204" pitchFamily="34" charset="-122"/>
              </a:rPr>
              <a:t>45°</a:t>
            </a:r>
            <a:r>
              <a:rPr lang="zh-CN" altLang="en-US" dirty="0">
                <a:latin typeface="Microsoft YaHei UI" panose="020B0503020204020204" pitchFamily="34" charset="-122"/>
                <a:ea typeface="Microsoft YaHei UI" panose="020B0503020204020204" pitchFamily="34" charset="-122"/>
              </a:rPr>
              <a:t>”的旋转矩阵</a:t>
            </a:r>
            <a:endParaRPr lang="en-US" altLang="zh-CN" dirty="0">
              <a:latin typeface="Microsoft YaHei UI" panose="020B0503020204020204" pitchFamily="34" charset="-122"/>
              <a:ea typeface="Microsoft YaHei UI" panose="020B0503020204020204" pitchFamily="34" charset="-122"/>
            </a:endParaRPr>
          </a:p>
          <a:p>
            <a:pPr>
              <a:lnSpc>
                <a:spcPct val="130000"/>
              </a:lnSpc>
            </a:pPr>
            <a:r>
              <a:rPr lang="zh-CN" altLang="en-US" dirty="0">
                <a:latin typeface="Microsoft YaHei UI" panose="020B0503020204020204" pitchFamily="34" charset="-122"/>
                <a:ea typeface="Microsoft YaHei UI" panose="020B0503020204020204" pitchFamily="34" charset="-122"/>
              </a:rPr>
              <a:t>练习</a:t>
            </a:r>
            <a:r>
              <a:rPr lang="en-US" altLang="zh-CN" dirty="0">
                <a:latin typeface="Microsoft YaHei UI" panose="020B0503020204020204" pitchFamily="34" charset="-122"/>
                <a:ea typeface="Microsoft YaHei UI" panose="020B0503020204020204" pitchFamily="34" charset="-122"/>
              </a:rPr>
              <a:t>8</a:t>
            </a:r>
            <a:r>
              <a:rPr lang="zh-CN" altLang="en-US" dirty="0">
                <a:latin typeface="Microsoft YaHei UI" panose="020B0503020204020204" pitchFamily="34" charset="-122"/>
                <a:ea typeface="Microsoft YaHei UI" panose="020B0503020204020204" pitchFamily="34" charset="-122"/>
              </a:rPr>
              <a:t>：求“先</a:t>
            </a:r>
            <a:r>
              <a:rPr lang="en-US" altLang="zh-CN" dirty="0">
                <a:latin typeface="Microsoft YaHei UI" panose="020B0503020204020204" pitchFamily="34" charset="-122"/>
                <a:ea typeface="Microsoft YaHei UI" panose="020B0503020204020204" pitchFamily="34" charset="-122"/>
              </a:rPr>
              <a:t>y</a:t>
            </a:r>
            <a:r>
              <a:rPr lang="zh-CN" altLang="en-US" dirty="0">
                <a:latin typeface="Microsoft YaHei UI" panose="020B0503020204020204" pitchFamily="34" charset="-122"/>
                <a:ea typeface="Microsoft YaHei UI" panose="020B0503020204020204" pitchFamily="34" charset="-122"/>
              </a:rPr>
              <a:t>轴</a:t>
            </a:r>
            <a:r>
              <a:rPr lang="en-US" altLang="zh-CN" dirty="0">
                <a:latin typeface="Microsoft YaHei UI" panose="020B0503020204020204" pitchFamily="34" charset="-122"/>
                <a:ea typeface="Microsoft YaHei UI" panose="020B0503020204020204" pitchFamily="34" charset="-122"/>
              </a:rPr>
              <a:t>45°</a:t>
            </a:r>
            <a:r>
              <a:rPr lang="zh-CN" altLang="en-US" dirty="0">
                <a:latin typeface="Microsoft YaHei UI" panose="020B0503020204020204" pitchFamily="34" charset="-122"/>
                <a:ea typeface="Microsoft YaHei UI" panose="020B0503020204020204" pitchFamily="34" charset="-122"/>
              </a:rPr>
              <a:t>，而后</a:t>
            </a:r>
            <a:r>
              <a:rPr lang="en-US" altLang="zh-CN" dirty="0">
                <a:latin typeface="Microsoft YaHei UI" panose="020B0503020204020204" pitchFamily="34" charset="-122"/>
                <a:ea typeface="Microsoft YaHei UI" panose="020B0503020204020204" pitchFamily="34" charset="-122"/>
              </a:rPr>
              <a:t>z</a:t>
            </a:r>
            <a:r>
              <a:rPr lang="zh-CN" altLang="en-US" dirty="0">
                <a:latin typeface="Microsoft YaHei UI" panose="020B0503020204020204" pitchFamily="34" charset="-122"/>
                <a:ea typeface="Microsoft YaHei UI" panose="020B0503020204020204" pitchFamily="34" charset="-122"/>
              </a:rPr>
              <a:t>轴</a:t>
            </a:r>
            <a:r>
              <a:rPr lang="en-US" altLang="zh-CN" dirty="0">
                <a:latin typeface="Microsoft YaHei UI" panose="020B0503020204020204" pitchFamily="34" charset="-122"/>
                <a:ea typeface="Microsoft YaHei UI" panose="020B0503020204020204" pitchFamily="34" charset="-122"/>
              </a:rPr>
              <a:t>90°</a:t>
            </a:r>
            <a:r>
              <a:rPr lang="zh-CN" altLang="en-US" dirty="0">
                <a:latin typeface="Microsoft YaHei UI" panose="020B0503020204020204" pitchFamily="34" charset="-122"/>
                <a:ea typeface="Microsoft YaHei UI" panose="020B0503020204020204" pitchFamily="34" charset="-122"/>
              </a:rPr>
              <a:t>”的旋转矩阵</a:t>
            </a:r>
            <a:endParaRPr lang="en-US" altLang="zh-CN" dirty="0">
              <a:latin typeface="Microsoft YaHei UI" panose="020B0503020204020204" pitchFamily="34" charset="-122"/>
              <a:ea typeface="Microsoft YaHei UI" panose="020B0503020204020204" pitchFamily="34" charset="-122"/>
            </a:endParaRPr>
          </a:p>
          <a:p>
            <a:pPr>
              <a:lnSpc>
                <a:spcPct val="130000"/>
              </a:lnSpc>
            </a:pPr>
            <a:endParaRPr lang="en-US" altLang="zh-CN" dirty="0">
              <a:latin typeface="Microsoft YaHei UI" panose="020B0503020204020204" pitchFamily="34" charset="-122"/>
              <a:ea typeface="Microsoft YaHei UI" panose="020B0503020204020204" pitchFamily="34" charset="-122"/>
            </a:endParaRPr>
          </a:p>
          <a:p>
            <a:pPr>
              <a:lnSpc>
                <a:spcPct val="130000"/>
              </a:lnSpc>
            </a:pPr>
            <a:endParaRPr lang="en-US" altLang="zh-CN"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endParaRPr lang="en-US" altLang="zh-CN"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endParaRPr lang="en-US" altLang="zh-CN" dirty="0">
              <a:latin typeface="Microsoft YaHei UI" panose="020B0503020204020204" pitchFamily="34" charset="-122"/>
              <a:ea typeface="Microsoft YaHei UI" panose="020B0503020204020204" pitchFamily="34" charset="-122"/>
            </a:endParaRPr>
          </a:p>
          <a:p>
            <a:pPr>
              <a:lnSpc>
                <a:spcPct val="130000"/>
              </a:lnSpc>
            </a:pPr>
            <a:r>
              <a:rPr lang="zh-CN" altLang="en-US" dirty="0">
                <a:latin typeface="Microsoft YaHei UI" panose="020B0503020204020204" pitchFamily="34" charset="-122"/>
                <a:ea typeface="Microsoft YaHei UI" panose="020B0503020204020204" pitchFamily="34" charset="-122"/>
              </a:rPr>
              <a:t>思考：不同旋转次序对应的旋转矩阵是否不一样</a:t>
            </a:r>
            <a:endParaRPr lang="en-US" altLang="zh-CN" dirty="0">
              <a:latin typeface="Microsoft YaHei UI" panose="020B0503020204020204" pitchFamily="34" charset="-122"/>
              <a:ea typeface="Microsoft YaHei UI" panose="020B0503020204020204" pitchFamily="34" charset="-122"/>
            </a:endParaRPr>
          </a:p>
          <a:p>
            <a:pPr>
              <a:lnSpc>
                <a:spcPct val="130000"/>
              </a:lnSpc>
            </a:pPr>
            <a:r>
              <a:rPr lang="zh-CN" altLang="en-US" dirty="0">
                <a:latin typeface="Microsoft YaHei UI" panose="020B0503020204020204" pitchFamily="34" charset="-122"/>
                <a:ea typeface="Microsoft YaHei UI" panose="020B0503020204020204" pitchFamily="34" charset="-122"/>
              </a:rPr>
              <a:t>旋转变换和矩阵乘法均</a:t>
            </a:r>
            <a:r>
              <a:rPr lang="zh-CN" altLang="en-US" dirty="0">
                <a:highlight>
                  <a:srgbClr val="FFFF00"/>
                </a:highlight>
                <a:latin typeface="Microsoft YaHei UI" panose="020B0503020204020204" pitchFamily="34" charset="-122"/>
                <a:ea typeface="Microsoft YaHei UI" panose="020B0503020204020204" pitchFamily="34" charset="-122"/>
              </a:rPr>
              <a:t>没有交换律</a:t>
            </a:r>
            <a:endParaRPr lang="en-US" altLang="zh-CN" dirty="0">
              <a:highlight>
                <a:srgbClr val="FFFF00"/>
              </a:highlight>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132327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4.3 </a:t>
            </a:r>
            <a:r>
              <a:rPr lang="zh-CN" altLang="en-US" sz="4000" cap="none" dirty="0"/>
              <a:t>三维坐标系</a:t>
            </a:r>
            <a:r>
              <a:rPr lang="en-US" altLang="zh-CN" sz="4000" cap="none" dirty="0"/>
              <a:t>——</a:t>
            </a:r>
            <a:r>
              <a:rPr lang="zh-CN" altLang="en-US" sz="4000" cap="none" dirty="0"/>
              <a:t>内旋</a:t>
            </a:r>
          </a:p>
        </p:txBody>
      </p:sp>
      <p:pic>
        <p:nvPicPr>
          <p:cNvPr id="5" name="图片 4">
            <a:extLst>
              <a:ext uri="{FF2B5EF4-FFF2-40B4-BE49-F238E27FC236}">
                <a16:creationId xmlns:a16="http://schemas.microsoft.com/office/drawing/2014/main" id="{CCD13A68-9550-40DC-9856-4880FDC89F1F}"/>
              </a:ext>
            </a:extLst>
          </p:cNvPr>
          <p:cNvPicPr>
            <a:picLocks noChangeAspect="1"/>
          </p:cNvPicPr>
          <p:nvPr/>
        </p:nvPicPr>
        <p:blipFill>
          <a:blip r:embed="rId3"/>
          <a:stretch>
            <a:fillRect/>
          </a:stretch>
        </p:blipFill>
        <p:spPr>
          <a:xfrm>
            <a:off x="1176337" y="2777387"/>
            <a:ext cx="9839325" cy="1870170"/>
          </a:xfrm>
          <a:prstGeom prst="rect">
            <a:avLst/>
          </a:prstGeom>
        </p:spPr>
      </p:pic>
    </p:spTree>
    <p:extLst>
      <p:ext uri="{BB962C8B-B14F-4D97-AF65-F5344CB8AC3E}">
        <p14:creationId xmlns:p14="http://schemas.microsoft.com/office/powerpoint/2010/main" val="2045347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4.3 </a:t>
            </a:r>
            <a:r>
              <a:rPr lang="zh-CN" altLang="en-US" sz="4000" cap="none" dirty="0"/>
              <a:t>三维坐标系</a:t>
            </a:r>
            <a:r>
              <a:rPr lang="en-US" altLang="zh-CN" sz="4000" cap="none" dirty="0"/>
              <a:t>——</a:t>
            </a:r>
            <a:r>
              <a:rPr lang="zh-CN" altLang="en-US" sz="4000" cap="none" dirty="0"/>
              <a:t>内旋</a:t>
            </a:r>
          </a:p>
        </p:txBody>
      </p:sp>
      <p:sp>
        <p:nvSpPr>
          <p:cNvPr id="6" name="文本框 5">
            <a:extLst>
              <a:ext uri="{FF2B5EF4-FFF2-40B4-BE49-F238E27FC236}">
                <a16:creationId xmlns:a16="http://schemas.microsoft.com/office/drawing/2014/main" id="{38610BB1-2D6B-4172-963A-D36537AC5DCD}"/>
              </a:ext>
            </a:extLst>
          </p:cNvPr>
          <p:cNvSpPr txBox="1"/>
          <p:nvPr/>
        </p:nvSpPr>
        <p:spPr>
          <a:xfrm>
            <a:off x="581190" y="1550046"/>
            <a:ext cx="11029616" cy="4222759"/>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练习</a:t>
            </a:r>
            <a:r>
              <a:rPr lang="en-US" altLang="zh-CN" sz="1600" dirty="0">
                <a:latin typeface="Microsoft YaHei UI" panose="020B0503020204020204" pitchFamily="34" charset="-122"/>
                <a:ea typeface="Microsoft YaHei UI" panose="020B0503020204020204" pitchFamily="34" charset="-122"/>
              </a:rPr>
              <a:t>9</a:t>
            </a:r>
            <a:r>
              <a:rPr lang="zh-CN" altLang="en-US" sz="1600" dirty="0">
                <a:latin typeface="Microsoft YaHei UI" panose="020B0503020204020204" pitchFamily="34" charset="-122"/>
                <a:ea typeface="Microsoft YaHei UI" panose="020B0503020204020204" pitchFamily="34" charset="-122"/>
              </a:rPr>
              <a:t>：假设一台步兵机器人，底盘陀螺仪反馈的欧拉角为</a:t>
            </a:r>
            <a:r>
              <a:rPr lang="en-US" altLang="zh-CN" sz="1600" dirty="0">
                <a:solidFill>
                  <a:srgbClr val="FF0000"/>
                </a:solidFill>
                <a:latin typeface="Microsoft YaHei UI" panose="020B0503020204020204" pitchFamily="34" charset="-122"/>
                <a:ea typeface="Microsoft YaHei UI" panose="020B0503020204020204" pitchFamily="34" charset="-122"/>
              </a:rPr>
              <a:t>Yaw90°</a:t>
            </a:r>
            <a:r>
              <a:rPr lang="zh-CN" altLang="en-US" sz="1600" dirty="0">
                <a:solidFill>
                  <a:srgbClr val="FF0000"/>
                </a:solidFill>
                <a:latin typeface="Microsoft YaHei UI" panose="020B0503020204020204" pitchFamily="34" charset="-122"/>
                <a:ea typeface="Microsoft YaHei UI" panose="020B0503020204020204" pitchFamily="34" charset="-122"/>
              </a:rPr>
              <a:t>、</a:t>
            </a:r>
            <a:r>
              <a:rPr lang="en-US" altLang="zh-CN" sz="1600" dirty="0">
                <a:solidFill>
                  <a:srgbClr val="FF0000"/>
                </a:solidFill>
                <a:latin typeface="Microsoft YaHei UI" panose="020B0503020204020204" pitchFamily="34" charset="-122"/>
                <a:ea typeface="Microsoft YaHei UI" panose="020B0503020204020204" pitchFamily="34" charset="-122"/>
              </a:rPr>
              <a:t>Pitch-30°</a:t>
            </a:r>
            <a:r>
              <a:rPr lang="zh-CN" altLang="en-US" sz="1600" dirty="0">
                <a:solidFill>
                  <a:srgbClr val="FF0000"/>
                </a:solidFill>
                <a:latin typeface="Microsoft YaHei UI" panose="020B0503020204020204" pitchFamily="34" charset="-122"/>
                <a:ea typeface="Microsoft YaHei UI" panose="020B0503020204020204" pitchFamily="34" charset="-122"/>
              </a:rPr>
              <a:t>、</a:t>
            </a:r>
            <a:r>
              <a:rPr lang="en-US" altLang="zh-CN" sz="1600" dirty="0">
                <a:solidFill>
                  <a:srgbClr val="FF0000"/>
                </a:solidFill>
                <a:latin typeface="Microsoft YaHei UI" panose="020B0503020204020204" pitchFamily="34" charset="-122"/>
                <a:ea typeface="Microsoft YaHei UI" panose="020B0503020204020204" pitchFamily="34" charset="-122"/>
              </a:rPr>
              <a:t>Roll30°</a:t>
            </a:r>
            <a:r>
              <a:rPr lang="zh-CN" altLang="en-US" sz="1600" dirty="0">
                <a:latin typeface="Microsoft YaHei UI" panose="020B0503020204020204" pitchFamily="34" charset="-122"/>
                <a:ea typeface="Microsoft YaHei UI" panose="020B0503020204020204" pitchFamily="34" charset="-122"/>
              </a:rPr>
              <a:t>，求底盘的旋转矩阵</a:t>
            </a: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练习</a:t>
            </a:r>
            <a:r>
              <a:rPr lang="en-US" altLang="zh-CN" sz="1600" dirty="0">
                <a:latin typeface="Microsoft YaHei UI" panose="020B0503020204020204" pitchFamily="34" charset="-122"/>
                <a:ea typeface="Microsoft YaHei UI" panose="020B0503020204020204" pitchFamily="34" charset="-122"/>
              </a:rPr>
              <a:t>10</a:t>
            </a:r>
            <a:r>
              <a:rPr lang="zh-CN" altLang="en-US" sz="1600" dirty="0">
                <a:latin typeface="Microsoft YaHei UI" panose="020B0503020204020204" pitchFamily="34" charset="-122"/>
                <a:ea typeface="Microsoft YaHei UI" panose="020B0503020204020204" pitchFamily="34" charset="-122"/>
              </a:rPr>
              <a:t>：如果上一题的底盘是在斜坡上的，求斜坡的倾角，底盘在斜坡上的朝向以及斜坡的朝向</a:t>
            </a: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练习</a:t>
            </a:r>
            <a:r>
              <a:rPr lang="en-US" altLang="zh-CN" sz="1600" dirty="0">
                <a:latin typeface="Microsoft YaHei UI" panose="020B0503020204020204" pitchFamily="34" charset="-122"/>
                <a:ea typeface="Microsoft YaHei UI" panose="020B0503020204020204" pitchFamily="34" charset="-122"/>
              </a:rPr>
              <a:t>11</a:t>
            </a:r>
            <a:r>
              <a:rPr lang="zh-CN" altLang="en-US" sz="1600" dirty="0">
                <a:latin typeface="Microsoft YaHei UI" panose="020B0503020204020204" pitchFamily="34" charset="-122"/>
                <a:ea typeface="Microsoft YaHei UI" panose="020B0503020204020204" pitchFamily="34" charset="-122"/>
              </a:rPr>
              <a:t>：假设一台步兵机器人，底盘陀螺仪反馈的欧拉角为</a:t>
            </a:r>
            <a:r>
              <a:rPr lang="en-US" altLang="zh-CN" sz="1600" dirty="0">
                <a:solidFill>
                  <a:srgbClr val="FF0000"/>
                </a:solidFill>
                <a:latin typeface="Microsoft YaHei UI" panose="020B0503020204020204" pitchFamily="34" charset="-122"/>
                <a:ea typeface="Microsoft YaHei UI" panose="020B0503020204020204" pitchFamily="34" charset="-122"/>
              </a:rPr>
              <a:t>Yaw90°</a:t>
            </a:r>
            <a:r>
              <a:rPr lang="zh-CN" altLang="en-US" sz="1600" dirty="0">
                <a:solidFill>
                  <a:srgbClr val="FF0000"/>
                </a:solidFill>
                <a:latin typeface="Microsoft YaHei UI" panose="020B0503020204020204" pitchFamily="34" charset="-122"/>
                <a:ea typeface="Microsoft YaHei UI" panose="020B0503020204020204" pitchFamily="34" charset="-122"/>
              </a:rPr>
              <a:t>、</a:t>
            </a:r>
            <a:r>
              <a:rPr lang="en-US" altLang="zh-CN" sz="1600" dirty="0">
                <a:solidFill>
                  <a:srgbClr val="FF0000"/>
                </a:solidFill>
                <a:latin typeface="Microsoft YaHei UI" panose="020B0503020204020204" pitchFamily="34" charset="-122"/>
                <a:ea typeface="Microsoft YaHei UI" panose="020B0503020204020204" pitchFamily="34" charset="-122"/>
              </a:rPr>
              <a:t>Pitch0°</a:t>
            </a:r>
            <a:r>
              <a:rPr lang="zh-CN" altLang="en-US" sz="1600" dirty="0">
                <a:solidFill>
                  <a:srgbClr val="FF0000"/>
                </a:solidFill>
                <a:latin typeface="Microsoft YaHei UI" panose="020B0503020204020204" pitchFamily="34" charset="-122"/>
                <a:ea typeface="Microsoft YaHei UI" panose="020B0503020204020204" pitchFamily="34" charset="-122"/>
              </a:rPr>
              <a:t>、</a:t>
            </a:r>
            <a:r>
              <a:rPr lang="en-US" altLang="zh-CN" sz="1600" dirty="0">
                <a:solidFill>
                  <a:srgbClr val="FF0000"/>
                </a:solidFill>
                <a:latin typeface="Microsoft YaHei UI" panose="020B0503020204020204" pitchFamily="34" charset="-122"/>
                <a:ea typeface="Microsoft YaHei UI" panose="020B0503020204020204" pitchFamily="34" charset="-122"/>
              </a:rPr>
              <a:t>Roll30°</a:t>
            </a:r>
            <a:r>
              <a:rPr lang="zh-CN" altLang="en-US" sz="1600" dirty="0">
                <a:latin typeface="Microsoft YaHei UI" panose="020B0503020204020204" pitchFamily="34" charset="-122"/>
                <a:ea typeface="Microsoft YaHei UI" panose="020B0503020204020204" pitchFamily="34" charset="-122"/>
              </a:rPr>
              <a:t>，云台电机编码器角度分别为</a:t>
            </a:r>
            <a:r>
              <a:rPr lang="en-US" altLang="zh-CN" sz="1600" dirty="0">
                <a:latin typeface="Microsoft YaHei UI" panose="020B0503020204020204" pitchFamily="34" charset="-122"/>
                <a:ea typeface="Microsoft YaHei UI" panose="020B0503020204020204" pitchFamily="34" charset="-122"/>
              </a:rPr>
              <a:t>Yaw30°</a:t>
            </a:r>
            <a:r>
              <a:rPr lang="zh-CN" altLang="en-US" sz="1600" dirty="0">
                <a:latin typeface="Microsoft YaHei UI" panose="020B0503020204020204" pitchFamily="34" charset="-122"/>
                <a:ea typeface="Microsoft YaHei UI" panose="020B0503020204020204" pitchFamily="34" charset="-122"/>
              </a:rPr>
              <a:t>、</a:t>
            </a:r>
            <a:r>
              <a:rPr lang="en-US" altLang="zh-CN" sz="1600" dirty="0">
                <a:latin typeface="Microsoft YaHei UI" panose="020B0503020204020204" pitchFamily="34" charset="-122"/>
                <a:ea typeface="Microsoft YaHei UI" panose="020B0503020204020204" pitchFamily="34" charset="-122"/>
              </a:rPr>
              <a:t>Pitch-30°</a:t>
            </a:r>
            <a:r>
              <a:rPr lang="zh-CN" altLang="en-US" sz="1600" dirty="0">
                <a:latin typeface="Microsoft YaHei UI" panose="020B0503020204020204" pitchFamily="34" charset="-122"/>
                <a:ea typeface="Microsoft YaHei UI" panose="020B0503020204020204" pitchFamily="34" charset="-122"/>
              </a:rPr>
              <a:t>，求云台的旋转矩阵</a:t>
            </a: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endParaRPr lang="en-US" altLang="zh-CN" sz="1600" dirty="0">
              <a:highlight>
                <a:srgbClr val="FFFF00"/>
              </a:highlight>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这几个题目，直接面向</a:t>
            </a:r>
            <a:r>
              <a:rPr lang="en-US" altLang="zh-CN" sz="1600" dirty="0">
                <a:latin typeface="Microsoft YaHei UI" panose="020B0503020204020204" pitchFamily="34" charset="-122"/>
                <a:ea typeface="Microsoft YaHei UI" panose="020B0503020204020204" pitchFamily="34" charset="-122"/>
              </a:rPr>
              <a:t>RM</a:t>
            </a:r>
            <a:r>
              <a:rPr lang="zh-CN" altLang="en-US" sz="1600" dirty="0">
                <a:latin typeface="Microsoft YaHei UI" panose="020B0503020204020204" pitchFamily="34" charset="-122"/>
                <a:ea typeface="Microsoft YaHei UI" panose="020B0503020204020204" pitchFamily="34" charset="-122"/>
              </a:rPr>
              <a:t>应用场景！</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求斜坡倾角和朝向，有助于我们计算牵引力</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而底盘到云台的旋转矩阵映射，以及云台到底盘的旋转矩阵映射（就是前者的逆矩阵），其实就是我们为什么整车只需要一个陀螺仪的原因，因为底盘和云台的状态，我们知道一个就可以快速根据旋转矩阵推出另一个</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a:lnSpc>
                <a:spcPct val="130000"/>
              </a:lnSpc>
            </a:pPr>
            <a:r>
              <a:rPr lang="zh-CN" altLang="en-US" sz="1600" dirty="0">
                <a:latin typeface="Microsoft YaHei UI" panose="020B0503020204020204" pitchFamily="34" charset="-122"/>
                <a:ea typeface="Microsoft YaHei UI" panose="020B0503020204020204" pitchFamily="34" charset="-122"/>
              </a:rPr>
              <a:t>深入思考：</a:t>
            </a:r>
            <a:endParaRPr lang="en-US" altLang="zh-CN" sz="1600" dirty="0">
              <a:latin typeface="Microsoft YaHei UI" panose="020B0503020204020204" pitchFamily="34" charset="-122"/>
              <a:ea typeface="Microsoft YaHei UI" panose="020B0503020204020204" pitchFamily="34" charset="-122"/>
            </a:endParaRPr>
          </a:p>
          <a:p>
            <a:pPr>
              <a:lnSpc>
                <a:spcPct val="130000"/>
              </a:lnSpc>
            </a:pPr>
            <a:r>
              <a:rPr lang="zh-CN" altLang="en-US" sz="1600" dirty="0">
                <a:latin typeface="Microsoft YaHei UI" panose="020B0503020204020204" pitchFamily="34" charset="-122"/>
                <a:ea typeface="Microsoft YaHei UI" panose="020B0503020204020204" pitchFamily="34" charset="-122"/>
              </a:rPr>
              <a:t>我们这节课讲的是欧拉角到旋转矩阵，那么旋转矩阵怎么到欧拉角呢</a:t>
            </a:r>
            <a:endParaRPr lang="en-US" altLang="zh-CN" sz="1600" dirty="0">
              <a:latin typeface="Microsoft YaHei UI" panose="020B0503020204020204" pitchFamily="34" charset="-122"/>
              <a:ea typeface="Microsoft YaHei UI" panose="020B0503020204020204" pitchFamily="34" charset="-122"/>
            </a:endParaRPr>
          </a:p>
          <a:p>
            <a:pPr>
              <a:lnSpc>
                <a:spcPct val="130000"/>
              </a:lnSpc>
            </a:pPr>
            <a:r>
              <a:rPr lang="zh-CN" altLang="en-US" sz="1600" dirty="0">
                <a:latin typeface="Microsoft YaHei UI" panose="020B0503020204020204" pitchFamily="34" charset="-122"/>
                <a:ea typeface="Microsoft YaHei UI" panose="020B0503020204020204" pitchFamily="34" charset="-122"/>
              </a:rPr>
              <a:t>（留作同学们课后作业讨论）</a:t>
            </a:r>
            <a:endParaRPr lang="en-US" altLang="zh-CN" sz="16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737405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27a275ec-753e-47af-878d-7a97e07041b7"/>
  <p:tag name="COMMONDATA" val="eyJoZGlkIjoiYTBlMjBiOWE1Zjk5NDQ1M2U3NWYyMDQ3YWNmOWJjZWIifQ=="/>
</p:tagLst>
</file>

<file path=ppt/theme/theme1.xml><?xml version="1.0" encoding="utf-8"?>
<a:theme xmlns:a="http://schemas.openxmlformats.org/drawingml/2006/main" name="红利">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TM03457464[[fn=红利]]</Template>
  <TotalTime>0</TotalTime>
  <Words>1686</Words>
  <Application>Microsoft Office PowerPoint</Application>
  <PresentationFormat>宽屏</PresentationFormat>
  <Paragraphs>163</Paragraphs>
  <Slides>20</Slides>
  <Notes>20</Notes>
  <HiddenSlides>0</HiddenSlides>
  <MMClips>1</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20</vt:i4>
      </vt:variant>
    </vt:vector>
  </HeadingPairs>
  <TitlesOfParts>
    <vt:vector size="25" baseType="lpstr">
      <vt:lpstr>Microsoft YaHei UI</vt:lpstr>
      <vt:lpstr>Arial</vt:lpstr>
      <vt:lpstr>Gill Sans MT</vt:lpstr>
      <vt:lpstr>Wingdings 2</vt:lpstr>
      <vt:lpstr>红利</vt:lpstr>
      <vt:lpstr>5.4 欧拉角与旋转矩阵</vt:lpstr>
      <vt:lpstr>目录</vt:lpstr>
      <vt:lpstr>1 回顾</vt:lpstr>
      <vt:lpstr>1 回顾</vt:lpstr>
      <vt:lpstr>1 回顾</vt:lpstr>
      <vt:lpstr>1 回顾</vt:lpstr>
      <vt:lpstr>1 回顾</vt:lpstr>
      <vt:lpstr>2.1 二维坐标系——向量的旋转</vt:lpstr>
      <vt:lpstr>2.1 二维坐标系——向量的旋转</vt:lpstr>
      <vt:lpstr>2.2 二维坐标系——旋转后新基下的坐标表示</vt:lpstr>
      <vt:lpstr>2.2 二维坐标系——旋转后新基下的坐标表示</vt:lpstr>
      <vt:lpstr>2.2 二维坐标系——旋转后新基下的坐标表示</vt:lpstr>
      <vt:lpstr>3 欧拉角</vt:lpstr>
      <vt:lpstr>3 欧拉角</vt:lpstr>
      <vt:lpstr>4.1 三维坐标系——绕坐标轴旋转</vt:lpstr>
      <vt:lpstr>4.2 三维坐标系——外旋</vt:lpstr>
      <vt:lpstr>4.2 三维坐标系——外旋</vt:lpstr>
      <vt:lpstr>4.3 三维坐标系——内旋</vt:lpstr>
      <vt:lpstr>4.3 三维坐标系——内旋</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cp:revision>
  <dcterms:created xsi:type="dcterms:W3CDTF">2019-12-13T06:13:00Z</dcterms:created>
  <dcterms:modified xsi:type="dcterms:W3CDTF">2024-10-19T14:48:35Z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5F80E70E50E141FFB62F51F4FF0185D8</vt:lpwstr>
  </property>
  <property fmtid="{D5CDD505-2E9C-101B-9397-08002B2CF9AE}" pid="4" name="KSOProductBuildVer">
    <vt:lpwstr>2052-11.1.0.12980</vt:lpwstr>
  </property>
</Properties>
</file>